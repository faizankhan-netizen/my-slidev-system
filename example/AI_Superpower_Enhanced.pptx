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Before the first student even sits down, this slide is on screen. Music playing if possible (something like Avengers theme works great).
As students settle in, walk to the front WITHOUT saying anything for 10 seconds. Let the silence build. Then:
SAY: "Haath uthao — how many of you have seen a magic show?" (pause for hands)
SAY: "Good. Now keep your hand up if you think magic is REAL." (pause)
SAY: "I'm going to show you something more real than magic. It's called AI — and in the next 3 hours, YOU will have its superpower."
TIMING: Spend 60-90 seconds on this slide. Let the energy build. Don't rush. The title slide sets the entire emotional tone of the day.
TIPS: Make eye contact with the back row. Speak slowly and confidently. If students are already buzzing, that's perfect — you've already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WALKTHROUGH — Keep this very quick (60 seconds max). Students don't want to be briefed on what they'll learn; they want to start learning.
SAY: "Here's the plan for today. We have 5 chapters. Every 45 minutes we take a short break. By the end of this, you will have done something no one in this room has done before."
ESTABLISH THE CALL-AND-RESPONSE: This is CRITICAL. Do it right now, on this slide. 
SAY: "Every time I say 'Superpower activate?' — you say ACTIVATE! and pump your fist. Let's try it. Superpower activate?"
(Wait for them to shout ACTIVATE!)
SAY: "Too weak. Again. Superpower activate?"
(Louder response)
SAY: "THAT is the energy we need today."
This ritual resets attention at every module. Don't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DIVIDER — This is a pure mood-setter. Linger here for 15-20 seconds.
SAY: "Before we learn ABOUT AI... we're going to EXPERIENCE it. Right now. On this screen."
Lower your voice slightly and say:
SAY: "No explanations. No theory. Just watch."
Then advance to the next slide immediately. The silence + dramatic advance is the hook.
BODY LANGUAGE TIP: Step away from the laptop/podium. Stand in front of the screen. Arms open. You are welcoming them into something special.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LIVE IMAGE GENERATION (3 minutes)
PRE-SETUP: Bing Image Creator must be open in browser BEFORE this slide. Pre-login with a Microsoft account. Tab ready.
STEP 1: Ask a student in the front row — "Shout 3 completely random words. Anything. Don't think." Common answers: "flying elephant Eiffel Tower" / "dinosaur cricket IPL" / "Doraemon sabzi mandi"
STEP 2: Type the phrase slowly in front of the class (so they watch you type). Click Generate. 
STEP 3: SILENCE while it generates. This silence is GOLD. Don't fill it. Let the anticipation build.
STEP 4: Image appears. Pause for 5 full seconds. Let them react. Don't say anything immediately.
STEP 5: Then ask the hook question: "Did the computer draw this? Or did it think?" Don't answer it. Just plant the seed and move on.
NOTE: If Bing is slow, have a backup prompt pre-generated in another tab to show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VOICE CLONE (4 minutes)
PRE-SETUP: The voice clip MUST be saved as an MP3 locally on your laptop BEFORE class. Don't rely on generating it live (takes time and needs good internet). Ideal: record a 20-second clip of yourself saying something funny/relatable, then clone it at elevenlabs.io the night before.
STEP 1: Play the original recording first. Tell them: "This is a real recording."
STEP 2: Play the AI clone. Ask: "Is THIS real or AI? Vote — raise your hand for real." 
STEP 3: Reveal — "That was AI. It learned this voice from a 20-second sample."
STEP 4: Deliver the line slowly and clearly: "Your voice has a fingerprint. AI just learned it in 10 seconds."
PAUSE. Let it land. Then ask:
SAY: "If AI can learn your voice... what else do you think it can learn?"
Take 2-3 shouted answers. Don't evaluate them — just nod and smile. They're already thinking like scientists.
PRO TIP: If you use a teacher's or principal's voice (with permission), the reaction is electric.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INTRO — Name That AI (30 seconds on this slide)
This game serves a critical purpose: proving to students that AI is ALREADY in their everyday lives, not some distant future concept.
SAY: "I'm going to show you 6 things. For each one — shout AI or NOT AI as loud as you can. First person to shout gets a point. Ready?"
ENERGY TIP: Actually keep a mental tally on the board or in your head. At the end, announce the "winner" (or the whole class wins). The competitive framing boosts participation 10x.
Advance to the next slide when the energy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THAT AI — ITEMS (5 minutes)
Go through each item ONE BY ONE. For each one:
1. Point to the card dramatically
2. Let the class shout their answer
3. Pause one second
4. Reveal: "ALL AI! Every single one."
SPECIFIC TALKING POINTS (use 1-2 per item):
- X-Ray: "AIIMS Delhi's AI reads 500 X-rays in the time a doctor reads 1"
- WhatsApp sticker: "That 'face-ify' sticker maker? Trained on millions of faces"
- Self-driving: "It's already on some Bengaluru tech park campuses"
- Chess: "The computer that beat the world chess champion — that was AI. In 1997. When your parents were students."
- YouTube: "AI chooses what video plays next. It knows you better than your own parents."
- Weather: "100 years ago, no one could predict weather 10 days ahead. AI now does it with 90% accuracy."
CLOSING LINE (say it slowly, let it echo):
"AI is not in the future. It is already... in your breakfast."
(pause)
"The app that told your mummy which sabzi to buy today? AI. The Swiggy recommendation? AI. The autocorrect that fixed your WhatsApp message? AI."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DIVIDER — Section transition (20 seconds)
Do the call-and-response NOW before advancing:
SAY: "Superpower activate?"
CLASS: "ACTIVATE!"
SAY: "Good. Now here's the question that scientists spent DECADES trying to answer:"
SAY: "How does a computer — something with no brain, no heart, no eyes — how does it LEARN?"
Advance slowly. Let them sit with the question.
MINDSET SHIFT FOR PRESENTER: Module 1 is the hardest conceptually. But you have two great analogies (baby brain + puppy game) that will make it completely clear. Trust the process. Don't over-explain. The activities do the teaching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QUESTION — Keep this on screen for 45-60 seconds.
Read the question aloud, slowly. Let the students absorb it.
SAY: "A computer has no mummy or papa to teach it. It has no eyes to look at the world. It never went to school. It has no feelings. So... how does it learn? How is it possible that AI can recognise your face, translate your language, predict the weather?"
Let a few students guess. Common guesses:
- "Someone programs it" → "Sort of! But how? With what? That's what we're about to discover."
- "It reads the internet" → "Closer! But HOW does it learn from that reading? That's the mystery."
SAY: "The answer is going to sound very, very familiar to you."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BABY BRAIN SETUP — The hook before the reveal (90 seconds)
SAY: "Close your eyes for a second. Imagine you are a newborn baby. You have never seen ANYTHING in the world. Then one day — you see this."
(Point to the cat emoji)
SAY: "You don't know the word cat. You don't know what fur is. You don't know what a meow sounds like. You just see... shapes, colours, movement."
Let that image sit for a moment. Then:
SAY: "Now — how do you eventually LEARN what a cat is?"
Take 2-3 answers from students.
EXPECTED: "Parents tell you" / "You see more cats" / "You touch it"
SAY: "Exactly. You need examples. You need corrections. You need repetition. And THAT — is the exact same way AI learns."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BABY BRAIN STEP-BY-STEP (5 minutes)
Walk through each card one by one. For each one, pause and connect it to AI:
STEP 1 (Cat): "Baby sees a cat. No context. Just raw data — pixels of colour and shape. AI starts the same way. Raw data. No meaning yet."
STEP 2 (Dog mistake): "Baby calls a dog a cat! Parent says NO. That NO is a training signal. In AI language, we call it a correction, or a 'loss signal.' It tells the AI: you were wrong, adjust."
STEP 3 (1000 examples): "After 1000 cats, 1000 corrections — baby now gets it. AI does this with 1 million, sometimes 1 billion examples. That's why it needs so much data."
STEP 4 (AI same way): "So here's the secret. AI is not magic. AI is a learner. Just like you. Just like that baby."
Then point to the bottom bar and say it out loud:
SAY: "Write this down if you want to remember one thing from today: Data is AI's childhood. Corrections are its parents. Repetition is its school."
CHECK FOR UNDERSTANDING (Icebreaker #1):
SAY: "Raise your hand if you can explain Machine Learning to your dadi or nani using a cooking analogy. Just a cooking analogy. Go."
Pick 2 students. Their answers will be brilliant. Affirm the best one loudly.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PUPPY GAME — ACTIVITY (8 minutes)
SETUP (1 min): Pick a confident, energetic student to be "The AI Puppy." Give this student a secret verbal briefing: "Your job is to guess the secret action I've whispered to the class. Try anything. Keep going until you crack it."
Whisper to the rest of the class: "The secret action is: sit down, stand up, turn around." (A 3-step sequence works best.)
RUN THE GAME (5 min): Let the Puppy try. Class gives 👍 or 👎. Don't help. Let the Puppy struggle and iterate. This confusion IS the learning experience.
DEBRIEF (2 min): 
SAY: "What just happened? The Puppy had no instructions. Just feedback. And eventually — they cracked the pattern. THAT is Reinforcement Learning."
SAY: "When you use ChatGPT or Google Assistant, there are teams of people who did EXACTLY what you just did — gave thumbs up and thumbs down to millions of AI responses. That's how it got so good."
KEY PHRASE TO WRITE ON BOARD: "Reinforcement Learning = Learning from feedback"
This activity is the most memorable moment of Module 1. Don't rush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TEACHABLE MACHINE DEMO (5 minutes)
PRE-SETUP: Have teachablemachine.withgoogle.com open in a tab, set up as an Image Project, ready to record. Test your webcam before class.
STEP 1 — Show the class your open hand. SAY: "This is Class A — Open Hand."
Record 30-50 samples of open hand for Class A. Do it quickly and dramatically.
STEP 2 — Show your fist. SAY: "This is Class B — Fist."
Record 30-50 samples of fist for Class B.
STEP 3 — Click TRAIN. It takes 10-20 seconds. SAY: "Watch the confidence bars. Right now, AI has no idea which is which." Then: "NOW it's training. Watch the numbers."
STEP 4 — Live preview. Show open hand → bar jumps to Class A. Show fist → bar jumps to Class B. Do it a few times dramatically.
CLOSING LINE (say it and PAUSE for 3 full seconds):
"That model... was trained... in 30 seconds. You just watched a brain grow. THAT is machine learning."
See-Think-Wonder debrief:
- SEE: "We saw a computer learn to identify our gestures in 30 seconds"
- THINK: "It needed examples, corrections, repetition — just like the baby"  
- WONDER: "What if we gave it 1 million examples instead of 50?"
(Tease Module 2: "That's exactly what AI companies like Google and OpenAI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DRAW BONUS (5 minutes — do this if you have extra time in Module 1)
This demo is pure delight. The AI guesses drawings in real time which creates an immediate wow moment.
SAY: "Now let's see something that will make you question what 'learning' really means. This AI has never been to school. It has never held a pencil. But watch what happens when I try to draw something."
DEMO SEQUENCE:
1. Go to quickdraw.withgoogle.com and start a round (you control the keyboard)
2. Draw something simple — maybe a cat, a bicycle, an umbrella
3. Let the class see the AI's guesses update in real time
4. When it guesses correctly, pause: "How did it know? It's seen 50 million drawings. It recognised the PATTERN, not the specific lines."
STUDENT INTERACTION: Ask a volunteer from the front row to suggest what to draw next. The laughter and surprise when AI gets it right (or hilariously wrong) is worth its weight in gold.
TIME CHECK: If you're running late, this slide can be skipped. Move directly to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1 — 10 minutes
While students are on break, prepare for Module 2:
- Open Bing Image Creator in a new tab (you'll use it in the Bollywood slide)
- Mute your laptop microphone if you used ElevenLabs
- Have the IFFCO Kisan app ready on your phone to show if needed
OPTIONAL ENGAGEMENT: Before the break, give students a challenge:
SAY: "During the break — tell ONE person outside this room what Machine Learning is. In one sentence. Using any analogy. We'll start Module 2 by hearing what they said."
This keeps the learning alive during the break and creates a fun "teach-back" moment.
RE-ENTRY: When students return, DON'T wait for everyone to sit. Start speaking immediately to pull attention back. Do the call-and-response at full volume to signal the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DIVIDER (20 seconds)
SAY: "Superpower activate?" → CLASS: "ACTIVATE!"
SAY: "In Module 1, we learned HOW AI works. Now the question is — WHERE is it working? And my answer might surprise you."
Pause for effect, then:
SAY: "It's not just in American labs. It's not just in fancy tech companies. It's in your khet. It's in your Bollywood films. It's in your doctor's office. Let me show you."
Advance immediately after saying this. The energy from the pause and the reveal drives the next section.
PRESENTER MINDSET: Module 2 is your opportunity to make AI feel LOCAL and PERSONAL. Every example you give should connect to something the students in THAT room would recognize. Use real Hinglish, real app names, real Indian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 KHETI (5 minutes)
This slide is especially powerful for students in Fatehpur and UP because agriculture is part of their daily reality.
OPENING LINE — speak with genuine surprise:
SAY: "You know what keeps me up at night? India is the second largest food producer in the world. And we lose 15-20% of our crops every year to diseases we didn't catch in time. What if AI could change that?"
WALK THROUGH THE STATS:
- "10 days early" → "That's 10 extra days for the farmer to act. To spray. To save the harvest. That's the difference between eating and not eating."
- "22 languages" → "The IFFCO Kisan app works in Hindi, Bhojpuri, and 20 other languages. The AI doesn't just see the farm — it talks to the farmer."
- "₹0" → "Free. Because access to technology should not depend on how much money you have."
PERSONAL CONNECTION:
ASK: "How many of you have family members who do farming?"
(Hands go up)
SAY: "This technology is being built specifically for families like yours."
CHECK FOR UNDERSTANDING (Icebreaker #2):
SAY: "Name one thing in your life — at home, in school, or in your town — that might already have AI in it. 10 seconds to think."
Take 5 answers. Build a spontaneous list. Show them how long it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BOLLYWOOD AI (5 minutes)
This is the highest-energy content slide because every student in the room has seen these films.
OPENING HOOK — ASK (with full dramatic pause):
SAY: "How many of you have seen RRR?"
(Almost everyone will raise their hand)
SAY: "Remember the massive battle scene at the beginning — with thousands of horses, soldiers, water everywhere? How many horses do you think were real?"
Let them guess. Common answers: "500" / "100" / "All of them"
REVEAL: "Almost none. The AI and VFX team composited nearly every horse. Even the water in parts of those scenes."
GO THROUGH EACH CARD:
- RRR: "National Award winner. AI-made."
- Brahmastra: "Every energy beam — pure AI rendering."
- Shah Rukh: "The young SRK in Jawan? AI de-aging. His actual face was digitally rewound by 25 years."
- Bahubali: "Mahishmati never existed. You visited a world that was built entirely inside a computer."
CONNECT BACK:
SAY: "The same technology that created Mahishmati is the same technology we used 20 minutes ago to generate that picture from your 3 words. It's called a diffusion model. And now you know what it is."
This is a genuine 'wow' moment. Let it breathe.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SPEAKS YOUR LANGUAGE (4 minutes)
This slide hits differently for students in Tier-2 cities because they often assume "AI speaks only English."
OPENING:
SAY: "There is a lie that people believe about AI. The lie is: AI works only in English. AI is only for people in big cities. AI is not for Bharat."
SAY: "Let me destroy that lie right now."
WALK THROUGH THE CARDS:
- Krutrim: "An Indian startup — founded by the same person who started Ola cabs — has built an AI trained in all 22 Indian languages. It understands Bhojpuri, Maithili, Awadhi. Languages your grandparents speak."
- Google Translate Camera: If you have your phone, LIVE DEMO IT. Point your camera at any Hindi text in the room (a poster, a book cover, anything). Watch it translate in real time. This ALWAYS gets a reaction.
- Voice assistants: Say "Hey Google, aaj ka mausam kaisa hai?" out loud into your phone if possible. Let the AI respond. The class will cheer.
CLOSING LINE (say it slowly, proudly):
"Bharat ka AI. Bharat ki awaaz. Your language, your dialect, your accent — AI is learning to understand you. Not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SAVES LIVES (5 minutes)
This is the emotionally heaviest slide. Deliver it with gravity and genuine care.
CONTEXT SETTING:
SAY: "India has 1 doctor for every 1000 people. But most of those doctors are in cities. In rural areas — places like the villages around Fatehpur — there can be hundreds of kilometres between a patient and a specialist."
SAY: "This is not a future problem. This is a NOW problem. And AI is already working on it."
WADHWANI AI:
SAY: "A company called Wadhwani AI built a model that detects tuberculosis — TB — from just a cough recording on a basic smartphone. No X-ray machine. No lab. Just a phone and an algorithm trained on thousands of cough sounds."
SAY: "One health worker can screen an entire village in a morning. Not because doctors have become less important — but because AI became their remote partner."
AIIMS:
SAY: "At AIIMS Delhi, AI reads retina scans and catches diabetic blindness 3 years before a human doctor can see it. 3 years! That's the difference between treatment and permanent blindness."
DISCUSSION QUESTION — spend 2 minutes here:
SAY: "Now I want to hear from you. What health problem in YOUR area — in Fatehpur, in your village, in your family — would you want AI to solve?"
Take 3-4 answers. These answers are gold. Write them on a piece of paper. Tell them: "These are YOUR AI startup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SUPERPOWER SPECTRUM VOTE (12 minutes — the most interactive slide in Module 2)
SETUP: Explain the spectrum clearly before starting:
SAY: "On my left is 'AI will REPLACE this job.' On my right is 'AI will HELP with this job.' In the middle is 'Not sure.' For each job I read out — stand up if you think AI replaces it, stay seated if AI helps it. If you're unsure, raise one hand."
GO THROUGH EACH JOB. After each vote, reveal the thinking:
- DOCTOR: Usually split. SAY: "AI can read scans and diagnose diseases. But can it hold a patient's hand? Feel their pain? The AI diagnoses. The doctor heals."
- CRICKETER: Most say "Help." SAY: "AI already tracks ball speed, bounce prediction, player fatigue. But Virat Kohli's cover drive? That's still human."
- TEACHER: Split. This is the juicy one. Let the debate run for 30 seconds.
- DRIVER: Most say "Replace." SAY: "Actually... this is one job where AI is genuinely taking over. Self-driving trucks are already on some Indian highways."
- POET: Most say "Help." SAY: "Is a poem written by AI... still a poem? This question has no right answer. But it's worth asking."
FINAL LINE — deliver it like a mic drop:
SAY (slowly): "AI doesn't replace people." (pause)
"It replaces people who don't know how to use AI." (longer pause)
"That's why you're here today."
This line always lands hard. Let the silence run for 3 seconds after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DIVIDER (20 seconds)
SAY: "Superpower activate?" → CLASS: "ACTIVATE!"
SAY: "We've SEEN AI. We've THOUGHT about AI. Now it's time to BECOME AI."
SAY: "No computers in this module. No phones. No screens. Just you, a piece of paper, and your brain. Because the most important thing you can understand about AI... is what happens when YOU become the algorithm."
The energy shift from "watching" to "doing" is palpable here. Students should lean forward in their seats.
SETUP FOR ACTIVITIES: Ask 2-3 students to help you distribute plain A4 paper (1 sheet per group of 4). While they do this, set up groups of 4 chairs. Give students 90 seconds to form groups and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YOUR ROBOT — ACTIVITY 1 (20 minutes)
This is the most important activity in the entire seminar. It creates a visceral, unforgettable experience of what "programming" actually feels like.
ROUND 1 SETUP (1 min):
- Groups of 4. Designate one person as "The Robot." Others are "The Programmers."
- Programmers cannot speak to the Robot during execution — only hand over the written instructions.
- Robot follows instructions LITERALLY. If the instruction says "draw a line" with no direction — robot draws it horizontally. If it says "make a shape with 4 sides" — robot makes a random quadrilateral.
ROUND 1 (8 min): LET THE CHAOS HAPPEN. Walk around the room. Laugh with them. When groups look confused, that's perfect. Don't help. Say: "The confusion is the lesson."
MID-ACTIVITY OBSERVATION: Pick the most chaotic-looking drawing from any group. Hold it up (with the group's permission). SAY: "Behold. The first version of every program ever written."
ROUND 2 (5 min): Tell groups to look at their instructions and fix the specific problems. Give them exactly 5 minutes.
DEBRIEF (4 min — the most important part):
SAY: "What happened between Round 1 and Round 2?"
Students: "It got better" / "We fixed the instructions"
SAY: "That improvement — from broken chaos to something that actually worked — that is DEBUGGING. And debugging is something every programmer, every AI engineer, every data scientist does every single day."
SAY: "The algorithm didn't change. The instructions changed. That's what code is — instructions you keep improving until they work."
KEY VOCAB (write on board or say clearly):
- Algorithm = A set of step-by-step instructions
- Bug = An error in the instructions
- Debugging = Finding and fixing bugs
- Iteration = Trying, failing, improving, trying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 CLASSIFIER — ACTIVITY 2 (15 minutes)
SETUP: Pre-print the phrase cards (one set per group). They can also be copied from this slide by reading aloud if printing isn't possible — have each group write the phrases on paper slips.
INSTRUCTIONS:
SAY: "Each group has 12 phrase cards — real Hinglish phrases people actually say. Your job: sort them into 4 emotion buckets — Happy, Sad, Angry, or Neutral. No dictionaries. No discussion with other groups. Just your gut."
Give 5 minutes for sorting.
DEBRIEF (8 min — this is where the learning happens):
Ask each group their answer for 3-4 disputed phrases. DISAGREEMENTS ARE GOLD.
SAY: "Why did Group 1 say Happy and Group 2 say Neutral for the same phrase? Who's right?"
Let them argue briefly. Then:
SAY: "Nobody is 'wrong.' That's the point. Humans DISAGREE on the emotion behind language all the time. And when AI companies try to train AI on emotions, they use thousands of human votes — just like yours — and take the majority answer."
CONNECT TO REAL AI:
SAY: "This exact task — reading emotion in text — is called Sentiment Analysis. AI does this 5 billion times a day. Every YouTube comment. Every tweet. Every product review. AI reads it, classifies the emotion, and acts on it."
SAY: "Swiggy uses it to see which restaurant complaints are angry vs. just feedback. IRCTC uses it to check if travellers are frustrated. RBI uses it to monitor whether people are worried about the economy."
ICEBREAKER #3:
SAY: "Last question before our final break: If you had to explain what a 'dataset' is to someone who has never heard of computers — what would you compare it to? 30 seconds."
Best analogies: "A library of examples" / "A cricket coaching guide" / "A recipe book with 1 million recipes"
Use the best answer as your closing metaphor.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2 SETUP — 10 minutes
CRITICAL: Before students leave for break, plant the seed for the Finale:
SAY: "While you're on break, I want you to think about ONE thing: If you could build a school — your dream school — what would it have? What problem would it solve? What makes it different from any school that exists today?"
SAY: "You have 10 minutes. When you come back — we're going to build it together. With AI. On this screen."
TECHNICAL SETUP DURING BREAK:
1. Open claude.ai (or ChatGPT) in a browser tab — logged in, new conversation ready
2. Open Bing Image Creator in another tab — pre-logged in
3. Prepare a draft prompt structure: "Design a school for Class 6-7 students in rural India with [STUDENT IDEAS]. The school should [STUDENT IDEAS]. The biggest problem it solves is [STUDENT IDEAS]."
4. Clear your demo tabs so the screen looks clean when students return
When students come back, let the energy build for 30 seconds before starting. Do the final call-and-response with maximum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FINALE DIVIDER — Make it the biggest moment of the day
SAY: "Superpower activate?"
CLASS: (loudest response yet — coach it if needed)
SAY: "LOUDER! One more time. Superpower activate?"
CLASS: "ACTIVATE!!!!"
SAY: "Good. Because what we're about to do... nobody in this room has done before. We are going to use AI — right here, right now, on this screen — to build a school."
SAY: "Not just any school. YOUR school. YOUR ideas. YOUR imagination. AI is just the paintbrush."
Advance immediately. The energy should be electric.
KEY INSIGHT FOR PRESENTER: The finale is not about AI being impressive. It's about the STUDENTS being impressive. Every time you type a prompt, credit the student who gave you that idea. Point to them. Name them. "That idea came from her. Let's put it in."
This makes the final generated image feel like a collective achievement — which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DREAM SCHOOL ROUND 1 (2 minutes)
SAY: "Shout your ideas. What should the Dream School have? Anything at all. No wrong answers."
As students shout ideas, TYPE the best 4-5 into Claude in real time. Something like:
"Describe a school for Class 6 and 7 students in rural India, 2047. This school has: [student idea 1], [student idea 2], [student idea 3], [student idea 4]. Describe it in vivid, exciting detail as if you were a journalist visiting it for the first time."
READ the AI response aloud to the class. Do this dramatically — with wonder and surprise in your voice. Even if you've read it before in testing. The students' reaction to hearing their ideas AMPLIFIED by AI is the magic moment.
ATTRIBUTION IS EVERYTHING: Say "This idea — the rooftop cricket ground — that came from... what's your name? Aarav! That's Aarav's idea that went into this school." Point to the student. They will glow.
Advance to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DREAM SCHOOL ROUND 2 (2 minutes)
SAY: "Now I want ONE twist from someone in the back row. What problem does your dream school solve that no school in India solves today?"
Take the best answer. Common great answers:
- "Students with disabilities get equal treatment"
- "Free electricity from solar panels shared with the village"
- "Students learn farming AND coding equally"
- "No exams — learning through projects only"
ADD THIS TO THE CLAUDE PROMPT. Regenerate the description.
SAY: "Notice how the AI's answer got richer? More specific? More real? That's because YOUR imagination got more specific. The AI didn't get smarter — YOU got more precise. That is the skill of the future: knowing how to ask the right question."
TEACHING MOMENT:
SAY: "This skill has a name. It's called Prompt Engineering. And right now, you are all prompt engineers."
Let the students sit with that identity for a moment. Then advance to Round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DREAM SCHOOL ROUND 3 — THE MOMENT (2 minutes)
This is the crescendo of the entire seminar. EVERYTHING has built to this moment.
STEP 1: Copy the description from Claude.
STEP 2: Click the Bing Image Creator tab. Paste into the prompt field.
STEP 3: Hit Generate. 
STEP 4 — CRUCIAL: While it generates (usually 10-15 seconds), go SILENT. Step back from the laptop. Look at the class. Let the suspense build.
STEP 5: Image appears. 
DO NOT SAY ANYTHING FOR 5 FULL SECONDS.
Let them look. Let them react. Let the room fill with their response.
THEN say, softly:
"This is your school. You built this."
Wait another 2 seconds.
"Not any one of you. ALL of you. Every idea on that screen came from someone sitting in this room. AI didn't dream this up. AI drew what YOU imagined."
PHOTO MOMENT: Ask everyone to stand, look at the screen, and take a moment. If a teacher has a phone, take a group photo of the room with the image on screen. This is the seminar's memory artifact.
Print this image if possible. Put it on the school notice board. It becomes a permanent reminder of what these students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MOMENT — The most important 90 seconds of the day
Speak slowly. Make eye contact with as many students as possible.
SAY: "This image on screen?"
(pause 2 seconds)
SAY: "You all created it. Not one of you — ALL of you."
(pause)
SAY: "AI was just the paintbrush. The ideas? Those were yours."
(pause)
SAY: "And that is the most important thing I want you to remember from today."
(pause — longer this time)
SAY: "AI..."
(pause)
"...is a tool."
(pause)
"The superpower..."
(pause — look at the whole room)
"...is YOU."
Do not immediately advance. Sit with this for 10 full seconds. Let them feel it.
THEN — change your energy entirely. Smile huge. Clap your hands once.
SAY: "That was 3 hours. You just became AI literate. That's not nothing. That is something that people spend years in college learning. And you just did it in a morning."
The footer bar "Superpower: ACTIVATED" should feel like a badge they've earned. Because they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CHALLENGE — The bridge between today and tomorrow (2 minutes)
READ each mission clearly so students can write it down or remember it:
MISSION 1 — AI Sighting Log:
SAY: "Every day for the next 7 days, I want you to spot ONE thing that might use AI. It could be anywhere — on TV, in the market, at home. Write it in a notebook: What is it? Where did you see it? What does it do? 10 sightings by next week."
MISSION 2 — Human Algorithm:
SAY: "Write instructions to make your favourite food — biryani, dal chawal, maggi, anything. But the instructions must be so precise that a robot with zero common sense could follow them. No saying 'add enough salt.' Exact amounts. Exact steps. Exact times."
MISSION 3 — Dream Machine:
SAY: "Draw one AI gadget that doesn't exist yet — but should. Something that would solve a real problem in YOUR life. Name it. Write 3 sentences about what it does and how it learns to get better."
ANNOUNCE THE PRIZE:
SAY: "The best Dream Machine design from this class will be printed and put on the school notice board. It will have your name on it. It will say: 'AI Innovation by [your name], Class 6/7.' And that is the beginning of an inventor's portfolio."
HIGH-FIVE TIP: Walk to the front of each row and high-five the first student. Ask them to pass it down. This physical ritual closes the loop on the energy investment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 Keep this slide as your emergency tab
This is slide 32 — your backstage pass. Every clickable button on this slide jumps directly to the tool.
PRE-CLASS CHECKLIST (do this 30 minutes before students arrive):
1. Open Bing Image Creator tab → Log in → Test one prompt to confirm it works
2. Open ElevenLabs → Play your pre-recorded MP3 to confirm audio works
3. Open Teachable Machine → Check that webcam permission is granted
4. Open QuickDraw → Test one round to confirm it loads
5. Open Claude.ai → Log in → New conversation ready
BANDWIDTH CONTINGENCY PLAN:
- If Bing Image Creator is slow: Generate image BEFORE switching to it. Have 2 pre-generated images as backup tabs.
- If Teachable Machine won't load: Skip the live training. Use the QuickDraw demo instead — it's lower bandwidth.
- If Claude.ai is blocked on school network: Use ChatGPT or even Gemini as alternatives. The activity works with any LLM.
- If ALL internet fails: Run the activity as a pure imagination exercise — have students describe their Dream School verbally, then you narrate the "AI response" yourself, improvising. The creativity exercise still works.
You've got this. Have an incredible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bing.com/images/create" TargetMode="External"/><Relationship Id="rId2" Type="http://schemas.openxmlformats.org/officeDocument/2006/relationships/hyperlink" Target="https://www.bing.com/images/create"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levenlabs.io" TargetMode="External"/><Relationship Id="rId2" Type="http://schemas.openxmlformats.org/officeDocument/2006/relationships/hyperlink" Target="https://elevenlabs.io"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teachablemachine.withgoogle.com" TargetMode="External"/><Relationship Id="rId2" Type="http://schemas.openxmlformats.org/officeDocument/2006/relationships/hyperlink" Target="https://teachablemachine.withgoogle.com"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quickdraw.withgoogle.com" TargetMode="External"/><Relationship Id="rId2" Type="http://schemas.openxmlformats.org/officeDocument/2006/relationships/hyperlink" Target="https://quickdraw.withgoogle.com"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claude.ai" TargetMode="External"/><Relationship Id="rId2" Type="http://schemas.openxmlformats.org/officeDocument/2006/relationships/hyperlink" Target="https://claude.ai"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laude.ai" TargetMode="External"/><Relationship Id="rId2" Type="http://schemas.openxmlformats.org/officeDocument/2006/relationships/hyperlink" Target="https://claude.ai"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bing.com/images/create" TargetMode="External"/><Relationship Id="rId2" Type="http://schemas.openxmlformats.org/officeDocument/2006/relationships/hyperlink" Target="https://www.bing.com/images/create" TargetMode="External"/><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bing.com/images/create" TargetMode="External"/><Relationship Id="rId2" Type="http://schemas.openxmlformats.org/officeDocument/2006/relationships/hyperlink" Target="https://www.bing.com/images/create" TargetMode="External"/><Relationship Id="rId3" Type="http://schemas.openxmlformats.org/officeDocument/2006/relationships/hyperlink" Target="https://elevenlabs.io" TargetMode="External"/><Relationship Id="rId4" Type="http://schemas.openxmlformats.org/officeDocument/2006/relationships/hyperlink" Target="https://elevenlabs.io" TargetMode="External"/><Relationship Id="rId5" Type="http://schemas.openxmlformats.org/officeDocument/2006/relationships/hyperlink" Target="https://teachablemachine.withgoogle.com" TargetMode="External"/><Relationship Id="rId6" Type="http://schemas.openxmlformats.org/officeDocument/2006/relationships/hyperlink" Target="https://teachablemachine.withgoogle.com" TargetMode="External"/><Relationship Id="rId7" Type="http://schemas.openxmlformats.org/officeDocument/2006/relationships/hyperlink" Target="https://quickdraw.withgoogle.com" TargetMode="External"/><Relationship Id="rId8" Type="http://schemas.openxmlformats.org/officeDocument/2006/relationships/hyperlink" Target="https://quickdraw.withgoogle.com" TargetMode="External"/><Relationship Id="rId9" Type="http://schemas.openxmlformats.org/officeDocument/2006/relationships/hyperlink" Target="https://claude.ai" TargetMode="External"/><Relationship Id="rId10" Type="http://schemas.openxmlformats.org/officeDocument/2006/relationships/hyperlink" Target="https://claude.ai" TargetMode="External"/><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5E"/>
        </a:solidFill>
      </p:bgPr>
    </p:bg>
    <p:spTree>
      <p:nvGrpSpPr>
        <p:cNvPr id="1" name=""/>
        <p:cNvGrpSpPr/>
        <p:nvPr/>
      </p:nvGrpSpPr>
      <p:grpSpPr>
        <a:xfrm>
          <a:off x="0" y="0"/>
          <a:ext cx="0" cy="0"/>
          <a:chOff x="0" y="0"/>
          <a:chExt cx="0" cy="0"/>
        </a:xfrm>
      </p:grpSpPr>
      <p:sp>
        <p:nvSpPr>
          <p:cNvPr id="2" name="Shape 0"/>
          <p:cNvSpPr/>
          <p:nvPr/>
        </p:nvSpPr>
        <p:spPr>
          <a:xfrm>
            <a:off x="6217920" y="-1097280"/>
            <a:ext cx="5029200" cy="5029200"/>
          </a:xfrm>
          <a:prstGeom prst="ellipse">
            <a:avLst/>
          </a:prstGeom>
          <a:solidFill>
            <a:srgbClr val="2D3A8C"/>
          </a:solidFill>
          <a:ln w="12700">
            <a:solidFill>
              <a:srgbClr val="2D3A8C"/>
            </a:solidFill>
            <a:prstDash val="solid"/>
          </a:ln>
        </p:spPr>
      </p:sp>
      <p:sp>
        <p:nvSpPr>
          <p:cNvPr id="3" name="Shape 1"/>
          <p:cNvSpPr/>
          <p:nvPr/>
        </p:nvSpPr>
        <p:spPr>
          <a:xfrm>
            <a:off x="-914400" y="3200400"/>
            <a:ext cx="3200400" cy="3200400"/>
          </a:xfrm>
          <a:prstGeom prst="ellipse">
            <a:avLst/>
          </a:prstGeom>
          <a:solidFill>
            <a:srgbClr val="2D3A8C"/>
          </a:solidFill>
          <a:ln w="12700">
            <a:solidFill>
              <a:srgbClr val="2D3A8C"/>
            </a:solidFill>
            <a:prstDash val="solid"/>
          </a:ln>
        </p:spPr>
      </p:sp>
      <p:sp>
        <p:nvSpPr>
          <p:cNvPr id="4" name="Shape 2"/>
          <p:cNvSpPr/>
          <p:nvPr/>
        </p:nvSpPr>
        <p:spPr>
          <a:xfrm>
            <a:off x="7498080" y="3291840"/>
            <a:ext cx="2286000" cy="2286000"/>
          </a:xfrm>
          <a:prstGeom prst="ellipse">
            <a:avLst/>
          </a:prstGeom>
          <a:solidFill>
            <a:srgbClr val="FF6B35"/>
          </a:solidFill>
          <a:ln w="12700">
            <a:solidFill>
              <a:srgbClr val="FF6B35"/>
            </a:solidFill>
            <a:prstDash val="solid"/>
          </a:ln>
        </p:spPr>
      </p:sp>
      <p:sp>
        <p:nvSpPr>
          <p:cNvPr id="5" name="Shape 3"/>
          <p:cNvSpPr/>
          <p:nvPr/>
        </p:nvSpPr>
        <p:spPr>
          <a:xfrm>
            <a:off x="-182880" y="-182880"/>
            <a:ext cx="1097280" cy="1097280"/>
          </a:xfrm>
          <a:prstGeom prst="ellipse">
            <a:avLst/>
          </a:prstGeom>
          <a:solidFill>
            <a:srgbClr val="06D6A0"/>
          </a:solidFill>
          <a:ln w="12700">
            <a:solidFill>
              <a:srgbClr val="06D6A0"/>
            </a:solidFill>
            <a:prstDash val="solid"/>
          </a:ln>
        </p:spPr>
      </p:sp>
      <p:sp>
        <p:nvSpPr>
          <p:cNvPr id="6" name="Shape 4"/>
          <p:cNvSpPr/>
          <p:nvPr/>
        </p:nvSpPr>
        <p:spPr>
          <a:xfrm>
            <a:off x="5486400" y="457200"/>
            <a:ext cx="164592" cy="164592"/>
          </a:xfrm>
          <a:prstGeom prst="ellipse">
            <a:avLst/>
          </a:prstGeom>
          <a:solidFill>
            <a:srgbClr val="FFD166"/>
          </a:solidFill>
          <a:ln w="12700">
            <a:solidFill>
              <a:srgbClr val="FFD166"/>
            </a:solidFill>
            <a:prstDash val="solid"/>
          </a:ln>
        </p:spPr>
      </p:sp>
      <p:sp>
        <p:nvSpPr>
          <p:cNvPr id="7" name="Shape 5"/>
          <p:cNvSpPr/>
          <p:nvPr/>
        </p:nvSpPr>
        <p:spPr>
          <a:xfrm>
            <a:off x="6583680" y="1371600"/>
            <a:ext cx="109728" cy="109728"/>
          </a:xfrm>
          <a:prstGeom prst="ellipse">
            <a:avLst/>
          </a:prstGeom>
          <a:solidFill>
            <a:srgbClr val="06D6A0"/>
          </a:solidFill>
          <a:ln w="12700">
            <a:solidFill>
              <a:srgbClr val="06D6A0"/>
            </a:solidFill>
            <a:prstDash val="solid"/>
          </a:ln>
        </p:spPr>
      </p:sp>
      <p:sp>
        <p:nvSpPr>
          <p:cNvPr id="8" name="Shape 6"/>
          <p:cNvSpPr/>
          <p:nvPr/>
        </p:nvSpPr>
        <p:spPr>
          <a:xfrm>
            <a:off x="1828800" y="4389120"/>
            <a:ext cx="182880" cy="182880"/>
          </a:xfrm>
          <a:prstGeom prst="ellipse">
            <a:avLst/>
          </a:prstGeom>
          <a:solidFill>
            <a:srgbClr val="FF6B35"/>
          </a:solidFill>
          <a:ln w="12700">
            <a:solidFill>
              <a:srgbClr val="FF6B35"/>
            </a:solidFill>
            <a:prstDash val="solid"/>
          </a:ln>
        </p:spPr>
      </p:sp>
      <p:sp>
        <p:nvSpPr>
          <p:cNvPr id="9" name="Shape 7"/>
          <p:cNvSpPr/>
          <p:nvPr/>
        </p:nvSpPr>
        <p:spPr>
          <a:xfrm>
            <a:off x="1097280" y="914400"/>
            <a:ext cx="128016" cy="128016"/>
          </a:xfrm>
          <a:prstGeom prst="ellipse">
            <a:avLst/>
          </a:prstGeom>
          <a:solidFill>
            <a:srgbClr val="FFD166"/>
          </a:solidFill>
          <a:ln w="12700">
            <a:solidFill>
              <a:srgbClr val="FFD166"/>
            </a:solidFill>
            <a:prstDash val="solid"/>
          </a:ln>
        </p:spPr>
      </p:sp>
      <p:sp>
        <p:nvSpPr>
          <p:cNvPr id="10" name="Shape 8"/>
          <p:cNvSpPr/>
          <p:nvPr/>
        </p:nvSpPr>
        <p:spPr>
          <a:xfrm>
            <a:off x="548640" y="411480"/>
            <a:ext cx="2743200" cy="365760"/>
          </a:xfrm>
          <a:prstGeom prst="roundRect">
            <a:avLst>
              <a:gd name="adj" fmla="val 45000"/>
            </a:avLst>
          </a:prstGeom>
          <a:solidFill>
            <a:srgbClr val="FF6B35"/>
          </a:solidFill>
          <a:ln w="12700">
            <a:solidFill>
              <a:srgbClr val="FF6B35"/>
            </a:solidFill>
            <a:prstDash val="solid"/>
          </a:ln>
        </p:spPr>
      </p:sp>
      <p:sp>
        <p:nvSpPr>
          <p:cNvPr id="11" name="Text 9"/>
          <p:cNvSpPr/>
          <p:nvPr/>
        </p:nvSpPr>
        <p:spPr>
          <a:xfrm>
            <a:off x="548640" y="411480"/>
            <a:ext cx="2743200" cy="365760"/>
          </a:xfrm>
          <a:prstGeom prst="rect">
            <a:avLst/>
          </a:prstGeom>
          <a:noFill/>
          <a:ln/>
        </p:spPr>
        <p:txBody>
          <a:bodyPr wrap="square" lIns="0" tIns="0" rIns="0" bIns="0" rtlCol="0" anchor="ctr"/>
          <a:lstStyle/>
          <a:p>
            <a:pPr algn="ctr" indent="0" marL="0">
              <a:buNone/>
            </a:pPr>
            <a:r>
              <a:rPr lang="en-US" sz="1100" b="1" dirty="0">
                <a:solidFill>
                  <a:srgbClr val="FFFFFF"/>
                </a:solidFill>
              </a:rPr>
              <a:t>CLASS 6 &amp; 7  ·  AI SEMINAR</a:t>
            </a:r>
            <a:endParaRPr lang="en-US" sz="1100" dirty="0"/>
          </a:p>
        </p:txBody>
      </p:sp>
      <p:sp>
        <p:nvSpPr>
          <p:cNvPr id="12" name="Text 10"/>
          <p:cNvSpPr/>
          <p:nvPr/>
        </p:nvSpPr>
        <p:spPr>
          <a:xfrm>
            <a:off x="548640" y="914400"/>
            <a:ext cx="4572000" cy="1280160"/>
          </a:xfrm>
          <a:prstGeom prst="rect">
            <a:avLst/>
          </a:prstGeom>
          <a:noFill/>
          <a:ln/>
        </p:spPr>
        <p:txBody>
          <a:bodyPr wrap="square" lIns="0" tIns="0" rIns="0" bIns="0" rtlCol="0" anchor="ctr"/>
          <a:lstStyle/>
          <a:p>
            <a:pPr algn="l" indent="0" marL="0">
              <a:buNone/>
            </a:pPr>
            <a:r>
              <a:rPr lang="en-US" sz="8800" b="1" dirty="0">
                <a:solidFill>
                  <a:srgbClr val="FFFFFF"/>
                </a:solidFill>
              </a:rPr>
              <a:t>AI:</a:t>
            </a:r>
            <a:endParaRPr lang="en-US" sz="8800" dirty="0"/>
          </a:p>
        </p:txBody>
      </p:sp>
      <p:sp>
        <p:nvSpPr>
          <p:cNvPr id="13" name="Text 11"/>
          <p:cNvSpPr/>
          <p:nvPr/>
        </p:nvSpPr>
        <p:spPr>
          <a:xfrm>
            <a:off x="548640" y="1965960"/>
            <a:ext cx="7315200" cy="1645920"/>
          </a:xfrm>
          <a:prstGeom prst="rect">
            <a:avLst/>
          </a:prstGeom>
          <a:noFill/>
          <a:ln/>
        </p:spPr>
        <p:txBody>
          <a:bodyPr wrap="square" lIns="0" tIns="0" rIns="0" bIns="0" rtlCol="0" anchor="ctr"/>
          <a:lstStyle/>
          <a:p>
            <a:pPr algn="l" indent="0" marL="0">
              <a:buNone/>
            </a:pPr>
            <a:r>
              <a:rPr lang="en-US" sz="4400" b="1" dirty="0">
                <a:solidFill>
                  <a:srgbClr val="FFD166"/>
                </a:solidFill>
              </a:rPr>
              <a:t>Your New</a:t>
            </a:r>
            <a:endParaRPr lang="en-US" sz="4400" dirty="0"/>
          </a:p>
          <a:p>
            <a:pPr algn="l" indent="0" marL="0">
              <a:buNone/>
            </a:pPr>
            <a:r>
              <a:rPr lang="en-US" sz="4400" b="1" dirty="0">
                <a:solidFill>
                  <a:srgbClr val="FFD166"/>
                </a:solidFill>
              </a:rPr>
              <a:t>Superpower</a:t>
            </a:r>
            <a:endParaRPr lang="en-US" sz="4400" dirty="0"/>
          </a:p>
        </p:txBody>
      </p:sp>
      <p:sp>
        <p:nvSpPr>
          <p:cNvPr id="14" name="Text 12"/>
          <p:cNvSpPr/>
          <p:nvPr/>
        </p:nvSpPr>
        <p:spPr>
          <a:xfrm>
            <a:off x="548640" y="3730752"/>
            <a:ext cx="7315200" cy="365760"/>
          </a:xfrm>
          <a:prstGeom prst="rect">
            <a:avLst/>
          </a:prstGeom>
          <a:noFill/>
          <a:ln/>
        </p:spPr>
        <p:txBody>
          <a:bodyPr wrap="square" lIns="0" tIns="0" rIns="0" bIns="0" rtlCol="0" anchor="ctr"/>
          <a:lstStyle/>
          <a:p>
            <a:pPr algn="l" indent="0" marL="0">
              <a:buNone/>
            </a:pPr>
            <a:r>
              <a:rPr lang="en-US" sz="1400" i="1" dirty="0">
                <a:solidFill>
                  <a:srgbClr val="8B9FCE"/>
                </a:solidFill>
              </a:rPr>
              <a:t>3 Hours  ·  5 Chapters  ·  1 Superpower Unlocked</a:t>
            </a:r>
            <a:endParaRPr lang="en-US" sz="1400" dirty="0"/>
          </a:p>
        </p:txBody>
      </p:sp>
      <p:sp>
        <p:nvSpPr>
          <p:cNvPr id="15" name="Shape 13"/>
          <p:cNvSpPr/>
          <p:nvPr/>
        </p:nvSpPr>
        <p:spPr>
          <a:xfrm>
            <a:off x="0" y="4663440"/>
            <a:ext cx="9144000" cy="480060"/>
          </a:xfrm>
          <a:prstGeom prst="rect">
            <a:avLst/>
          </a:prstGeom>
          <a:solidFill>
            <a:srgbClr val="FF6B35"/>
          </a:solidFill>
          <a:ln w="12700">
            <a:solidFill>
              <a:srgbClr val="FF6B35"/>
            </a:solidFill>
            <a:prstDash val="solid"/>
          </a:ln>
        </p:spPr>
      </p:sp>
      <p:sp>
        <p:nvSpPr>
          <p:cNvPr id="16" name="Text 14"/>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FFFFFF"/>
                </a:solidFill>
              </a:rPr>
              <a:t>See it. Think about it. Wonder about it. Let's go.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1F5E"/>
          </a:solidFill>
          <a:ln w="12700">
            <a:solidFill>
              <a:srgbClr val="1A1F5E"/>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3600" b="1" dirty="0">
                <a:solidFill>
                  <a:srgbClr val="1A1F5E"/>
                </a:solidFill>
              </a:rPr>
              <a:t>Today's Journey</a:t>
            </a:r>
            <a:endParaRPr lang="en-US" sz="3600" dirty="0"/>
          </a:p>
        </p:txBody>
      </p:sp>
      <p:sp>
        <p:nvSpPr>
          <p:cNvPr id="4" name="Shape 2"/>
          <p:cNvSpPr/>
          <p:nvPr/>
        </p:nvSpPr>
        <p:spPr>
          <a:xfrm>
            <a:off x="365760" y="960120"/>
            <a:ext cx="1572768" cy="3291840"/>
          </a:xfrm>
          <a:prstGeom prst="rect">
            <a:avLst/>
          </a:prstGeom>
          <a:solidFill>
            <a:srgbClr val="FFF0E8"/>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5" name="Shape 3"/>
          <p:cNvSpPr/>
          <p:nvPr/>
        </p:nvSpPr>
        <p:spPr>
          <a:xfrm>
            <a:off x="365760" y="960120"/>
            <a:ext cx="1572768" cy="91440"/>
          </a:xfrm>
          <a:prstGeom prst="rect">
            <a:avLst/>
          </a:prstGeom>
          <a:solidFill>
            <a:srgbClr val="FF6B35"/>
          </a:solidFill>
          <a:ln w="12700">
            <a:solidFill>
              <a:srgbClr val="FF6B35"/>
            </a:solidFill>
            <a:prstDash val="solid"/>
          </a:ln>
        </p:spPr>
      </p:sp>
      <p:sp>
        <p:nvSpPr>
          <p:cNvPr id="6" name="Text 4"/>
          <p:cNvSpPr/>
          <p:nvPr/>
        </p:nvSpPr>
        <p:spPr>
          <a:xfrm>
            <a:off x="365760" y="1097280"/>
            <a:ext cx="1572768"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7" name="Text 5"/>
          <p:cNvSpPr/>
          <p:nvPr/>
        </p:nvSpPr>
        <p:spPr>
          <a:xfrm>
            <a:off x="365760" y="1828800"/>
            <a:ext cx="1572768" cy="274320"/>
          </a:xfrm>
          <a:prstGeom prst="rect">
            <a:avLst/>
          </a:prstGeom>
          <a:noFill/>
          <a:ln/>
        </p:spPr>
        <p:txBody>
          <a:bodyPr wrap="square" lIns="0" tIns="0" rIns="0" bIns="0" rtlCol="0" anchor="ctr"/>
          <a:lstStyle/>
          <a:p>
            <a:pPr algn="ctr" indent="0" marL="0">
              <a:buNone/>
            </a:pPr>
            <a:r>
              <a:rPr lang="en-US" sz="950" b="1" dirty="0">
                <a:solidFill>
                  <a:srgbClr val="FF6B35"/>
                </a:solidFill>
              </a:rPr>
              <a:t>0–15 min</a:t>
            </a:r>
            <a:endParaRPr lang="en-US" sz="950" dirty="0"/>
          </a:p>
        </p:txBody>
      </p:sp>
      <p:sp>
        <p:nvSpPr>
          <p:cNvPr id="8" name="Text 6"/>
          <p:cNvSpPr/>
          <p:nvPr/>
        </p:nvSpPr>
        <p:spPr>
          <a:xfrm>
            <a:off x="365760" y="2121408"/>
            <a:ext cx="1572768" cy="475488"/>
          </a:xfrm>
          <a:prstGeom prst="rect">
            <a:avLst/>
          </a:prstGeom>
          <a:noFill/>
          <a:ln/>
        </p:spPr>
        <p:txBody>
          <a:bodyPr wrap="square" lIns="0" tIns="0" rIns="0" bIns="0" rtlCol="0" anchor="ctr"/>
          <a:lstStyle/>
          <a:p>
            <a:pPr algn="ctr" indent="0" marL="0">
              <a:buNone/>
            </a:pPr>
            <a:r>
              <a:rPr lang="en-US" sz="1500" b="1" dirty="0">
                <a:solidFill>
                  <a:srgbClr val="1A1F5E"/>
                </a:solidFill>
              </a:rPr>
              <a:t>The Hook</a:t>
            </a:r>
            <a:endParaRPr lang="en-US" sz="1500" dirty="0"/>
          </a:p>
        </p:txBody>
      </p:sp>
      <p:sp>
        <p:nvSpPr>
          <p:cNvPr id="9" name="Text 7"/>
          <p:cNvSpPr/>
          <p:nvPr/>
        </p:nvSpPr>
        <p:spPr>
          <a:xfrm>
            <a:off x="365760" y="2633472"/>
            <a:ext cx="1572768" cy="457200"/>
          </a:xfrm>
          <a:prstGeom prst="rect">
            <a:avLst/>
          </a:prstGeom>
          <a:noFill/>
          <a:ln/>
        </p:spPr>
        <p:txBody>
          <a:bodyPr wrap="square" lIns="0" tIns="0" rIns="0" bIns="0" rtlCol="0" anchor="ctr"/>
          <a:lstStyle/>
          <a:p>
            <a:pPr algn="ctr" indent="0" marL="0">
              <a:buNone/>
            </a:pPr>
            <a:r>
              <a:rPr lang="en-US" sz="1100" dirty="0">
                <a:solidFill>
                  <a:srgbClr val="94A3B8"/>
                </a:solidFill>
              </a:rPr>
              <a:t>Magic Show</a:t>
            </a:r>
            <a:endParaRPr lang="en-US" sz="1100" dirty="0"/>
          </a:p>
        </p:txBody>
      </p:sp>
      <p:sp>
        <p:nvSpPr>
          <p:cNvPr id="10" name="Shape 8"/>
          <p:cNvSpPr/>
          <p:nvPr/>
        </p:nvSpPr>
        <p:spPr>
          <a:xfrm>
            <a:off x="694944" y="3200400"/>
            <a:ext cx="914400" cy="292608"/>
          </a:xfrm>
          <a:prstGeom prst="roundRect">
            <a:avLst>
              <a:gd name="adj" fmla="val 56250"/>
            </a:avLst>
          </a:prstGeom>
          <a:solidFill>
            <a:srgbClr val="FF6B35"/>
          </a:solidFill>
          <a:ln w="12700">
            <a:solidFill>
              <a:srgbClr val="FF6B35"/>
            </a:solidFill>
            <a:prstDash val="solid"/>
          </a:ln>
        </p:spPr>
      </p:sp>
      <p:sp>
        <p:nvSpPr>
          <p:cNvPr id="11" name="Text 9"/>
          <p:cNvSpPr/>
          <p:nvPr/>
        </p:nvSpPr>
        <p:spPr>
          <a:xfrm>
            <a:off x="694944" y="3200400"/>
            <a:ext cx="914400" cy="29260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Shape 10"/>
          <p:cNvSpPr/>
          <p:nvPr/>
        </p:nvSpPr>
        <p:spPr>
          <a:xfrm>
            <a:off x="2048256" y="960120"/>
            <a:ext cx="1572768" cy="3291840"/>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3" name="Shape 11"/>
          <p:cNvSpPr/>
          <p:nvPr/>
        </p:nvSpPr>
        <p:spPr>
          <a:xfrm>
            <a:off x="2048256" y="960120"/>
            <a:ext cx="1572768" cy="91440"/>
          </a:xfrm>
          <a:prstGeom prst="rect">
            <a:avLst/>
          </a:prstGeom>
          <a:solidFill>
            <a:srgbClr val="2D3A8C"/>
          </a:solidFill>
          <a:ln w="12700">
            <a:solidFill>
              <a:srgbClr val="2D3A8C"/>
            </a:solidFill>
            <a:prstDash val="solid"/>
          </a:ln>
        </p:spPr>
      </p:sp>
      <p:sp>
        <p:nvSpPr>
          <p:cNvPr id="14" name="Text 12"/>
          <p:cNvSpPr/>
          <p:nvPr/>
        </p:nvSpPr>
        <p:spPr>
          <a:xfrm>
            <a:off x="2048256" y="1097280"/>
            <a:ext cx="1572768"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5" name="Text 13"/>
          <p:cNvSpPr/>
          <p:nvPr/>
        </p:nvSpPr>
        <p:spPr>
          <a:xfrm>
            <a:off x="2048256" y="1828800"/>
            <a:ext cx="1572768" cy="274320"/>
          </a:xfrm>
          <a:prstGeom prst="rect">
            <a:avLst/>
          </a:prstGeom>
          <a:noFill/>
          <a:ln/>
        </p:spPr>
        <p:txBody>
          <a:bodyPr wrap="square" lIns="0" tIns="0" rIns="0" bIns="0" rtlCol="0" anchor="ctr"/>
          <a:lstStyle/>
          <a:p>
            <a:pPr algn="ctr" indent="0" marL="0">
              <a:buNone/>
            </a:pPr>
            <a:r>
              <a:rPr lang="en-US" sz="950" b="1" dirty="0">
                <a:solidFill>
                  <a:srgbClr val="2D3A8C"/>
                </a:solidFill>
              </a:rPr>
              <a:t>15–60 min</a:t>
            </a:r>
            <a:endParaRPr lang="en-US" sz="950" dirty="0"/>
          </a:p>
        </p:txBody>
      </p:sp>
      <p:sp>
        <p:nvSpPr>
          <p:cNvPr id="16" name="Text 14"/>
          <p:cNvSpPr/>
          <p:nvPr/>
        </p:nvSpPr>
        <p:spPr>
          <a:xfrm>
            <a:off x="2048256" y="2121408"/>
            <a:ext cx="1572768" cy="475488"/>
          </a:xfrm>
          <a:prstGeom prst="rect">
            <a:avLst/>
          </a:prstGeom>
          <a:noFill/>
          <a:ln/>
        </p:spPr>
        <p:txBody>
          <a:bodyPr wrap="square" lIns="0" tIns="0" rIns="0" bIns="0" rtlCol="0" anchor="ctr"/>
          <a:lstStyle/>
          <a:p>
            <a:pPr algn="ctr" indent="0" marL="0">
              <a:buNone/>
            </a:pPr>
            <a:r>
              <a:rPr lang="en-US" sz="1500" b="1" dirty="0">
                <a:solidFill>
                  <a:srgbClr val="1A1F5E"/>
                </a:solidFill>
              </a:rPr>
              <a:t>Module 1</a:t>
            </a:r>
            <a:endParaRPr lang="en-US" sz="1500" dirty="0"/>
          </a:p>
        </p:txBody>
      </p:sp>
      <p:sp>
        <p:nvSpPr>
          <p:cNvPr id="17" name="Text 15"/>
          <p:cNvSpPr/>
          <p:nvPr/>
        </p:nvSpPr>
        <p:spPr>
          <a:xfrm>
            <a:off x="2048256" y="2633472"/>
            <a:ext cx="1572768" cy="457200"/>
          </a:xfrm>
          <a:prstGeom prst="rect">
            <a:avLst/>
          </a:prstGeom>
          <a:noFill/>
          <a:ln/>
        </p:spPr>
        <p:txBody>
          <a:bodyPr wrap="square" lIns="0" tIns="0" rIns="0" bIns="0" rtlCol="0" anchor="ctr"/>
          <a:lstStyle/>
          <a:p>
            <a:pPr algn="ctr" indent="0" marL="0">
              <a:buNone/>
            </a:pPr>
            <a:r>
              <a:rPr lang="en-US" sz="1100" dirty="0">
                <a:solidFill>
                  <a:srgbClr val="94A3B8"/>
                </a:solidFill>
              </a:rPr>
              <a:t>How AI Learns</a:t>
            </a:r>
            <a:endParaRPr lang="en-US" sz="1100" dirty="0"/>
          </a:p>
        </p:txBody>
      </p:sp>
      <p:sp>
        <p:nvSpPr>
          <p:cNvPr id="18" name="Shape 16"/>
          <p:cNvSpPr/>
          <p:nvPr/>
        </p:nvSpPr>
        <p:spPr>
          <a:xfrm>
            <a:off x="2377440" y="3200400"/>
            <a:ext cx="914400" cy="292608"/>
          </a:xfrm>
          <a:prstGeom prst="roundRect">
            <a:avLst>
              <a:gd name="adj" fmla="val 56250"/>
            </a:avLst>
          </a:prstGeom>
          <a:solidFill>
            <a:srgbClr val="2D3A8C"/>
          </a:solidFill>
          <a:ln w="12700">
            <a:solidFill>
              <a:srgbClr val="2D3A8C"/>
            </a:solidFill>
            <a:prstDash val="solid"/>
          </a:ln>
        </p:spPr>
      </p:sp>
      <p:sp>
        <p:nvSpPr>
          <p:cNvPr id="19" name="Text 17"/>
          <p:cNvSpPr/>
          <p:nvPr/>
        </p:nvSpPr>
        <p:spPr>
          <a:xfrm>
            <a:off x="2377440" y="3200400"/>
            <a:ext cx="914400" cy="29260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0" name="Shape 18"/>
          <p:cNvSpPr/>
          <p:nvPr/>
        </p:nvSpPr>
        <p:spPr>
          <a:xfrm>
            <a:off x="3730752" y="960120"/>
            <a:ext cx="1572768" cy="3291840"/>
          </a:xfrm>
          <a:prstGeom prst="rect">
            <a:avLst/>
          </a:prstGeom>
          <a:solidFill>
            <a:srgbClr val="ECFDF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1" name="Shape 19"/>
          <p:cNvSpPr/>
          <p:nvPr/>
        </p:nvSpPr>
        <p:spPr>
          <a:xfrm>
            <a:off x="3730752" y="960120"/>
            <a:ext cx="1572768" cy="91440"/>
          </a:xfrm>
          <a:prstGeom prst="rect">
            <a:avLst/>
          </a:prstGeom>
          <a:solidFill>
            <a:srgbClr val="06D6A0"/>
          </a:solidFill>
          <a:ln w="12700">
            <a:solidFill>
              <a:srgbClr val="06D6A0"/>
            </a:solidFill>
            <a:prstDash val="solid"/>
          </a:ln>
        </p:spPr>
      </p:sp>
      <p:sp>
        <p:nvSpPr>
          <p:cNvPr id="22" name="Text 20"/>
          <p:cNvSpPr/>
          <p:nvPr/>
        </p:nvSpPr>
        <p:spPr>
          <a:xfrm>
            <a:off x="3730752" y="1097280"/>
            <a:ext cx="1572768"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23" name="Text 21"/>
          <p:cNvSpPr/>
          <p:nvPr/>
        </p:nvSpPr>
        <p:spPr>
          <a:xfrm>
            <a:off x="3730752" y="1828800"/>
            <a:ext cx="1572768" cy="274320"/>
          </a:xfrm>
          <a:prstGeom prst="rect">
            <a:avLst/>
          </a:prstGeom>
          <a:noFill/>
          <a:ln/>
        </p:spPr>
        <p:txBody>
          <a:bodyPr wrap="square" lIns="0" tIns="0" rIns="0" bIns="0" rtlCol="0" anchor="ctr"/>
          <a:lstStyle/>
          <a:p>
            <a:pPr algn="ctr" indent="0" marL="0">
              <a:buNone/>
            </a:pPr>
            <a:r>
              <a:rPr lang="en-US" sz="950" b="1" dirty="0">
                <a:solidFill>
                  <a:srgbClr val="06D6A0"/>
                </a:solidFill>
              </a:rPr>
              <a:t>70–115 min</a:t>
            </a:r>
            <a:endParaRPr lang="en-US" sz="950" dirty="0"/>
          </a:p>
        </p:txBody>
      </p:sp>
      <p:sp>
        <p:nvSpPr>
          <p:cNvPr id="24" name="Text 22"/>
          <p:cNvSpPr/>
          <p:nvPr/>
        </p:nvSpPr>
        <p:spPr>
          <a:xfrm>
            <a:off x="3730752" y="2121408"/>
            <a:ext cx="1572768" cy="475488"/>
          </a:xfrm>
          <a:prstGeom prst="rect">
            <a:avLst/>
          </a:prstGeom>
          <a:noFill/>
          <a:ln/>
        </p:spPr>
        <p:txBody>
          <a:bodyPr wrap="square" lIns="0" tIns="0" rIns="0" bIns="0" rtlCol="0" anchor="ctr"/>
          <a:lstStyle/>
          <a:p>
            <a:pPr algn="ctr" indent="0" marL="0">
              <a:buNone/>
            </a:pPr>
            <a:r>
              <a:rPr lang="en-US" sz="1500" b="1" dirty="0">
                <a:solidFill>
                  <a:srgbClr val="1A1F5E"/>
                </a:solidFill>
              </a:rPr>
              <a:t>Module 2</a:t>
            </a:r>
            <a:endParaRPr lang="en-US" sz="1500" dirty="0"/>
          </a:p>
        </p:txBody>
      </p:sp>
      <p:sp>
        <p:nvSpPr>
          <p:cNvPr id="25" name="Text 23"/>
          <p:cNvSpPr/>
          <p:nvPr/>
        </p:nvSpPr>
        <p:spPr>
          <a:xfrm>
            <a:off x="3730752" y="2633472"/>
            <a:ext cx="1572768" cy="457200"/>
          </a:xfrm>
          <a:prstGeom prst="rect">
            <a:avLst/>
          </a:prstGeom>
          <a:noFill/>
          <a:ln/>
        </p:spPr>
        <p:txBody>
          <a:bodyPr wrap="square" lIns="0" tIns="0" rIns="0" bIns="0" rtlCol="0" anchor="ctr"/>
          <a:lstStyle/>
          <a:p>
            <a:pPr algn="ctr" indent="0" marL="0">
              <a:buNone/>
            </a:pPr>
            <a:r>
              <a:rPr lang="en-US" sz="1100" dirty="0">
                <a:solidFill>
                  <a:srgbClr val="94A3B8"/>
                </a:solidFill>
              </a:rPr>
              <a:t>AI Around You</a:t>
            </a:r>
            <a:endParaRPr lang="en-US" sz="1100" dirty="0"/>
          </a:p>
        </p:txBody>
      </p:sp>
      <p:sp>
        <p:nvSpPr>
          <p:cNvPr id="26" name="Shape 24"/>
          <p:cNvSpPr/>
          <p:nvPr/>
        </p:nvSpPr>
        <p:spPr>
          <a:xfrm>
            <a:off x="4059936" y="3200400"/>
            <a:ext cx="914400" cy="292608"/>
          </a:xfrm>
          <a:prstGeom prst="roundRect">
            <a:avLst>
              <a:gd name="adj" fmla="val 56250"/>
            </a:avLst>
          </a:prstGeom>
          <a:solidFill>
            <a:srgbClr val="06D6A0"/>
          </a:solidFill>
          <a:ln w="12700">
            <a:solidFill>
              <a:srgbClr val="06D6A0"/>
            </a:solidFill>
            <a:prstDash val="solid"/>
          </a:ln>
        </p:spPr>
      </p:sp>
      <p:sp>
        <p:nvSpPr>
          <p:cNvPr id="27" name="Text 25"/>
          <p:cNvSpPr/>
          <p:nvPr/>
        </p:nvSpPr>
        <p:spPr>
          <a:xfrm>
            <a:off x="4059936" y="3200400"/>
            <a:ext cx="914400" cy="29260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8" name="Shape 26"/>
          <p:cNvSpPr/>
          <p:nvPr/>
        </p:nvSpPr>
        <p:spPr>
          <a:xfrm>
            <a:off x="5413248" y="960120"/>
            <a:ext cx="1572768" cy="3291840"/>
          </a:xfrm>
          <a:prstGeom prst="rect">
            <a:avLst/>
          </a:prstGeom>
          <a:solidFill>
            <a:srgbClr val="FFFBEB"/>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9" name="Shape 27"/>
          <p:cNvSpPr/>
          <p:nvPr/>
        </p:nvSpPr>
        <p:spPr>
          <a:xfrm>
            <a:off x="5413248" y="960120"/>
            <a:ext cx="1572768" cy="91440"/>
          </a:xfrm>
          <a:prstGeom prst="rect">
            <a:avLst/>
          </a:prstGeom>
          <a:solidFill>
            <a:srgbClr val="92400E"/>
          </a:solidFill>
          <a:ln w="12700">
            <a:solidFill>
              <a:srgbClr val="92400E"/>
            </a:solidFill>
            <a:prstDash val="solid"/>
          </a:ln>
        </p:spPr>
      </p:sp>
      <p:sp>
        <p:nvSpPr>
          <p:cNvPr id="30" name="Text 28"/>
          <p:cNvSpPr/>
          <p:nvPr/>
        </p:nvSpPr>
        <p:spPr>
          <a:xfrm>
            <a:off x="5413248" y="1097280"/>
            <a:ext cx="1572768"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31" name="Text 29"/>
          <p:cNvSpPr/>
          <p:nvPr/>
        </p:nvSpPr>
        <p:spPr>
          <a:xfrm>
            <a:off x="5413248" y="1828800"/>
            <a:ext cx="1572768" cy="274320"/>
          </a:xfrm>
          <a:prstGeom prst="rect">
            <a:avLst/>
          </a:prstGeom>
          <a:noFill/>
          <a:ln/>
        </p:spPr>
        <p:txBody>
          <a:bodyPr wrap="square" lIns="0" tIns="0" rIns="0" bIns="0" rtlCol="0" anchor="ctr"/>
          <a:lstStyle/>
          <a:p>
            <a:pPr algn="ctr" indent="0" marL="0">
              <a:buNone/>
            </a:pPr>
            <a:r>
              <a:rPr lang="en-US" sz="950" b="1" dirty="0">
                <a:solidFill>
                  <a:srgbClr val="92400E"/>
                </a:solidFill>
              </a:rPr>
              <a:t>115–160 min</a:t>
            </a:r>
            <a:endParaRPr lang="en-US" sz="950" dirty="0"/>
          </a:p>
        </p:txBody>
      </p:sp>
      <p:sp>
        <p:nvSpPr>
          <p:cNvPr id="32" name="Text 30"/>
          <p:cNvSpPr/>
          <p:nvPr/>
        </p:nvSpPr>
        <p:spPr>
          <a:xfrm>
            <a:off x="5413248" y="2121408"/>
            <a:ext cx="1572768" cy="475488"/>
          </a:xfrm>
          <a:prstGeom prst="rect">
            <a:avLst/>
          </a:prstGeom>
          <a:noFill/>
          <a:ln/>
        </p:spPr>
        <p:txBody>
          <a:bodyPr wrap="square" lIns="0" tIns="0" rIns="0" bIns="0" rtlCol="0" anchor="ctr"/>
          <a:lstStyle/>
          <a:p>
            <a:pPr algn="ctr" indent="0" marL="0">
              <a:buNone/>
            </a:pPr>
            <a:r>
              <a:rPr lang="en-US" sz="1500" b="1" dirty="0">
                <a:solidFill>
                  <a:srgbClr val="1A1F5E"/>
                </a:solidFill>
              </a:rPr>
              <a:t>Module 3</a:t>
            </a:r>
            <a:endParaRPr lang="en-US" sz="1500" dirty="0"/>
          </a:p>
        </p:txBody>
      </p:sp>
      <p:sp>
        <p:nvSpPr>
          <p:cNvPr id="33" name="Text 31"/>
          <p:cNvSpPr/>
          <p:nvPr/>
        </p:nvSpPr>
        <p:spPr>
          <a:xfrm>
            <a:off x="5413248" y="2633472"/>
            <a:ext cx="1572768" cy="457200"/>
          </a:xfrm>
          <a:prstGeom prst="rect">
            <a:avLst/>
          </a:prstGeom>
          <a:noFill/>
          <a:ln/>
        </p:spPr>
        <p:txBody>
          <a:bodyPr wrap="square" lIns="0" tIns="0" rIns="0" bIns="0" rtlCol="0" anchor="ctr"/>
          <a:lstStyle/>
          <a:p>
            <a:pPr algn="ctr" indent="0" marL="0">
              <a:buNone/>
            </a:pPr>
            <a:r>
              <a:rPr lang="en-US" sz="1100" dirty="0">
                <a:solidFill>
                  <a:srgbClr val="94A3B8"/>
                </a:solidFill>
              </a:rPr>
              <a:t>Be the Algorithm</a:t>
            </a:r>
            <a:endParaRPr lang="en-US" sz="1100" dirty="0"/>
          </a:p>
        </p:txBody>
      </p:sp>
      <p:sp>
        <p:nvSpPr>
          <p:cNvPr id="34" name="Shape 32"/>
          <p:cNvSpPr/>
          <p:nvPr/>
        </p:nvSpPr>
        <p:spPr>
          <a:xfrm>
            <a:off x="5742432" y="3200400"/>
            <a:ext cx="914400" cy="292608"/>
          </a:xfrm>
          <a:prstGeom prst="roundRect">
            <a:avLst>
              <a:gd name="adj" fmla="val 56250"/>
            </a:avLst>
          </a:prstGeom>
          <a:solidFill>
            <a:srgbClr val="92400E"/>
          </a:solidFill>
          <a:ln w="12700">
            <a:solidFill>
              <a:srgbClr val="92400E"/>
            </a:solidFill>
            <a:prstDash val="solid"/>
          </a:ln>
        </p:spPr>
      </p:sp>
      <p:sp>
        <p:nvSpPr>
          <p:cNvPr id="35" name="Text 33"/>
          <p:cNvSpPr/>
          <p:nvPr/>
        </p:nvSpPr>
        <p:spPr>
          <a:xfrm>
            <a:off x="5742432" y="3200400"/>
            <a:ext cx="914400" cy="29260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6" name="Shape 34"/>
          <p:cNvSpPr/>
          <p:nvPr/>
        </p:nvSpPr>
        <p:spPr>
          <a:xfrm>
            <a:off x="7095744" y="960120"/>
            <a:ext cx="1572768" cy="3291840"/>
          </a:xfrm>
          <a:prstGeom prst="rect">
            <a:avLst/>
          </a:prstGeom>
          <a:solidFill>
            <a:srgbClr val="FEF2F2"/>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7" name="Shape 35"/>
          <p:cNvSpPr/>
          <p:nvPr/>
        </p:nvSpPr>
        <p:spPr>
          <a:xfrm>
            <a:off x="7095744" y="960120"/>
            <a:ext cx="1572768" cy="91440"/>
          </a:xfrm>
          <a:prstGeom prst="rect">
            <a:avLst/>
          </a:prstGeom>
          <a:solidFill>
            <a:srgbClr val="EF4444"/>
          </a:solidFill>
          <a:ln w="12700">
            <a:solidFill>
              <a:srgbClr val="EF4444"/>
            </a:solidFill>
            <a:prstDash val="solid"/>
          </a:ln>
        </p:spPr>
      </p:sp>
      <p:sp>
        <p:nvSpPr>
          <p:cNvPr id="38" name="Text 36"/>
          <p:cNvSpPr/>
          <p:nvPr/>
        </p:nvSpPr>
        <p:spPr>
          <a:xfrm>
            <a:off x="7095744" y="1097280"/>
            <a:ext cx="1572768"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39" name="Text 37"/>
          <p:cNvSpPr/>
          <p:nvPr/>
        </p:nvSpPr>
        <p:spPr>
          <a:xfrm>
            <a:off x="7095744" y="1828800"/>
            <a:ext cx="1572768" cy="274320"/>
          </a:xfrm>
          <a:prstGeom prst="rect">
            <a:avLst/>
          </a:prstGeom>
          <a:noFill/>
          <a:ln/>
        </p:spPr>
        <p:txBody>
          <a:bodyPr wrap="square" lIns="0" tIns="0" rIns="0" bIns="0" rtlCol="0" anchor="ctr"/>
          <a:lstStyle/>
          <a:p>
            <a:pPr algn="ctr" indent="0" marL="0">
              <a:buNone/>
            </a:pPr>
            <a:r>
              <a:rPr lang="en-US" sz="950" b="1" dirty="0">
                <a:solidFill>
                  <a:srgbClr val="EF4444"/>
                </a:solidFill>
              </a:rPr>
              <a:t>170–180 min</a:t>
            </a:r>
            <a:endParaRPr lang="en-US" sz="950" dirty="0"/>
          </a:p>
        </p:txBody>
      </p:sp>
      <p:sp>
        <p:nvSpPr>
          <p:cNvPr id="40" name="Text 38"/>
          <p:cNvSpPr/>
          <p:nvPr/>
        </p:nvSpPr>
        <p:spPr>
          <a:xfrm>
            <a:off x="7095744" y="2121408"/>
            <a:ext cx="1572768" cy="475488"/>
          </a:xfrm>
          <a:prstGeom prst="rect">
            <a:avLst/>
          </a:prstGeom>
          <a:noFill/>
          <a:ln/>
        </p:spPr>
        <p:txBody>
          <a:bodyPr wrap="square" lIns="0" tIns="0" rIns="0" bIns="0" rtlCol="0" anchor="ctr"/>
          <a:lstStyle/>
          <a:p>
            <a:pPr algn="ctr" indent="0" marL="0">
              <a:buNone/>
            </a:pPr>
            <a:r>
              <a:rPr lang="en-US" sz="1500" b="1" dirty="0">
                <a:solidFill>
                  <a:srgbClr val="1A1F5E"/>
                </a:solidFill>
              </a:rPr>
              <a:t>Finale</a:t>
            </a:r>
            <a:endParaRPr lang="en-US" sz="1500" dirty="0"/>
          </a:p>
        </p:txBody>
      </p:sp>
      <p:sp>
        <p:nvSpPr>
          <p:cNvPr id="41" name="Text 39"/>
          <p:cNvSpPr/>
          <p:nvPr/>
        </p:nvSpPr>
        <p:spPr>
          <a:xfrm>
            <a:off x="7095744" y="2633472"/>
            <a:ext cx="1572768" cy="457200"/>
          </a:xfrm>
          <a:prstGeom prst="rect">
            <a:avLst/>
          </a:prstGeom>
          <a:noFill/>
          <a:ln/>
        </p:spPr>
        <p:txBody>
          <a:bodyPr wrap="square" lIns="0" tIns="0" rIns="0" bIns="0" rtlCol="0" anchor="ctr"/>
          <a:lstStyle/>
          <a:p>
            <a:pPr algn="ctr" indent="0" marL="0">
              <a:buNone/>
            </a:pPr>
            <a:r>
              <a:rPr lang="en-US" sz="1100" dirty="0">
                <a:solidFill>
                  <a:srgbClr val="94A3B8"/>
                </a:solidFill>
              </a:rPr>
              <a:t>Dream School 2047</a:t>
            </a:r>
            <a:endParaRPr lang="en-US" sz="1100" dirty="0"/>
          </a:p>
        </p:txBody>
      </p:sp>
      <p:sp>
        <p:nvSpPr>
          <p:cNvPr id="42" name="Shape 40"/>
          <p:cNvSpPr/>
          <p:nvPr/>
        </p:nvSpPr>
        <p:spPr>
          <a:xfrm>
            <a:off x="7424928" y="3200400"/>
            <a:ext cx="914400" cy="292608"/>
          </a:xfrm>
          <a:prstGeom prst="roundRect">
            <a:avLst>
              <a:gd name="adj" fmla="val 56250"/>
            </a:avLst>
          </a:prstGeom>
          <a:solidFill>
            <a:srgbClr val="EF4444"/>
          </a:solidFill>
          <a:ln w="12700">
            <a:solidFill>
              <a:srgbClr val="EF4444"/>
            </a:solidFill>
            <a:prstDash val="solid"/>
          </a:ln>
        </p:spPr>
      </p:sp>
      <p:sp>
        <p:nvSpPr>
          <p:cNvPr id="43" name="Text 41"/>
          <p:cNvSpPr/>
          <p:nvPr/>
        </p:nvSpPr>
        <p:spPr>
          <a:xfrm>
            <a:off x="7424928" y="3200400"/>
            <a:ext cx="914400" cy="29260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44" name="Text 42"/>
          <p:cNvSpPr/>
          <p:nvPr/>
        </p:nvSpPr>
        <p:spPr>
          <a:xfrm>
            <a:off x="457200" y="4462272"/>
            <a:ext cx="8229600" cy="384048"/>
          </a:xfrm>
          <a:prstGeom prst="rect">
            <a:avLst/>
          </a:prstGeom>
          <a:noFill/>
          <a:ln/>
        </p:spPr>
        <p:txBody>
          <a:bodyPr wrap="square" lIns="0" tIns="0" rIns="0" bIns="0" rtlCol="0" anchor="ctr"/>
          <a:lstStyle/>
          <a:p>
            <a:pPr algn="ctr" indent="0" marL="0">
              <a:buNone/>
            </a:pPr>
            <a:r>
              <a:rPr lang="en-US" sz="1300" b="1" i="1" dirty="0">
                <a:solidFill>
                  <a:srgbClr val="FF6B35"/>
                </a:solidFill>
              </a:rPr>
              <a:t>Call &amp; Response  →  "Superpower activate?"  →  YOU say: "ACTIVATE!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6B35"/>
        </a:solidFill>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FF8C5A"/>
          </a:solidFill>
          <a:ln w="12700">
            <a:solidFill>
              <a:srgbClr val="FF8C5A"/>
            </a:solidFill>
            <a:prstDash val="solid"/>
          </a:ln>
        </p:spPr>
      </p:sp>
      <p:sp>
        <p:nvSpPr>
          <p:cNvPr id="3" name="Shape 1"/>
          <p:cNvSpPr/>
          <p:nvPr/>
        </p:nvSpPr>
        <p:spPr>
          <a:xfrm>
            <a:off x="-914400" y="3657600"/>
            <a:ext cx="3200400" cy="3200400"/>
          </a:xfrm>
          <a:prstGeom prst="ellipse">
            <a:avLst/>
          </a:prstGeom>
          <a:solidFill>
            <a:srgbClr val="E05A20"/>
          </a:solidFill>
          <a:ln w="12700">
            <a:solidFill>
              <a:srgbClr val="E05A20"/>
            </a:solidFill>
            <a:prstDash val="solid"/>
          </a:ln>
        </p:spPr>
      </p:sp>
      <p:sp>
        <p:nvSpPr>
          <p:cNvPr id="4" name="Shape 2"/>
          <p:cNvSpPr/>
          <p:nvPr/>
        </p:nvSpPr>
        <p:spPr>
          <a:xfrm>
            <a:off x="8412480" y="3657600"/>
            <a:ext cx="2011680" cy="2011680"/>
          </a:xfrm>
          <a:prstGeom prst="ellipse">
            <a:avLst/>
          </a:prstGeom>
          <a:solidFill>
            <a:srgbClr val="FFD166"/>
          </a:solidFill>
          <a:ln w="12700">
            <a:solidFill>
              <a:srgbClr val="FFD166"/>
            </a:solidFill>
            <a:prstDash val="solid"/>
          </a:ln>
        </p:spPr>
      </p:sp>
      <p:sp>
        <p:nvSpPr>
          <p:cNvPr id="5" name="Shape 3"/>
          <p:cNvSpPr/>
          <p:nvPr/>
        </p:nvSpPr>
        <p:spPr>
          <a:xfrm>
            <a:off x="548640" y="411480"/>
            <a:ext cx="2286000" cy="347472"/>
          </a:xfrm>
          <a:prstGeom prst="roundRect">
            <a:avLst>
              <a:gd name="adj" fmla="val 47368"/>
            </a:avLst>
          </a:prstGeom>
          <a:solidFill>
            <a:srgbClr val="CC4A10"/>
          </a:solidFill>
          <a:ln w="12700">
            <a:solidFill>
              <a:srgbClr val="CC4A10"/>
            </a:solidFill>
            <a:prstDash val="solid"/>
          </a:ln>
        </p:spPr>
      </p:sp>
      <p:sp>
        <p:nvSpPr>
          <p:cNvPr id="6" name="Text 4"/>
          <p:cNvSpPr/>
          <p:nvPr/>
        </p:nvSpPr>
        <p:spPr>
          <a:xfrm>
            <a:off x="548640" y="41148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0 – 15 MINUTES</a:t>
            </a:r>
            <a:endParaRPr lang="en-US" sz="1000" dirty="0"/>
          </a:p>
        </p:txBody>
      </p:sp>
      <p:sp>
        <p:nvSpPr>
          <p:cNvPr id="7" name="Text 5"/>
          <p:cNvSpPr/>
          <p:nvPr/>
        </p:nvSpPr>
        <p:spPr>
          <a:xfrm>
            <a:off x="457200" y="868680"/>
            <a:ext cx="1097280" cy="914400"/>
          </a:xfrm>
          <a:prstGeom prst="rect">
            <a:avLst/>
          </a:prstGeom>
          <a:noFill/>
          <a:ln/>
        </p:spPr>
        <p:txBody>
          <a:bodyPr wrap="square" lIns="0" tIns="0" rIns="0" bIns="0" rtlCol="0" anchor="ctr"/>
          <a:lstStyle/>
          <a:p>
            <a:pPr algn="l" indent="0" marL="0">
              <a:buNone/>
            </a:pPr>
            <a:r>
              <a:rPr lang="en-US" sz="5400" dirty="0">
                <a:solidFill>
                  <a:srgbClr val="000000"/>
                </a:solidFill>
              </a:rPr>
              <a:t>⚡</a:t>
            </a:r>
            <a:endParaRPr lang="en-US" sz="5400" dirty="0"/>
          </a:p>
        </p:txBody>
      </p:sp>
      <p:sp>
        <p:nvSpPr>
          <p:cNvPr id="8" name="Text 6"/>
          <p:cNvSpPr/>
          <p:nvPr/>
        </p:nvSpPr>
        <p:spPr>
          <a:xfrm>
            <a:off x="548640" y="932688"/>
            <a:ext cx="7772400" cy="2377440"/>
          </a:xfrm>
          <a:prstGeom prst="rect">
            <a:avLst/>
          </a:prstGeom>
          <a:noFill/>
          <a:ln/>
        </p:spPr>
        <p:txBody>
          <a:bodyPr wrap="square" lIns="0" tIns="0" rIns="0" bIns="0" rtlCol="0" anchor="ctr"/>
          <a:lstStyle/>
          <a:p>
            <a:pPr algn="l" indent="0" marL="0">
              <a:buNone/>
            </a:pPr>
            <a:r>
              <a:rPr lang="en-US" sz="5800" b="1" dirty="0">
                <a:solidFill>
                  <a:srgbClr val="FFFFFF"/>
                </a:solidFill>
              </a:rPr>
              <a:t>The Magic</a:t>
            </a:r>
            <a:endParaRPr lang="en-US" sz="5800" dirty="0"/>
          </a:p>
          <a:p>
            <a:pPr algn="l" indent="0" marL="0">
              <a:buNone/>
            </a:pPr>
            <a:r>
              <a:rPr lang="en-US" sz="5800" b="1" dirty="0">
                <a:solidFill>
                  <a:srgbClr val="FFFFFF"/>
                </a:solidFill>
              </a:rPr>
              <a:t>Show Begins</a:t>
            </a:r>
            <a:endParaRPr lang="en-US" sz="5800" dirty="0"/>
          </a:p>
        </p:txBody>
      </p:sp>
      <p:sp>
        <p:nvSpPr>
          <p:cNvPr id="9" name="Text 7"/>
          <p:cNvSpPr/>
          <p:nvPr/>
        </p:nvSpPr>
        <p:spPr>
          <a:xfrm>
            <a:off x="548640" y="3474720"/>
            <a:ext cx="6400800" cy="457200"/>
          </a:xfrm>
          <a:prstGeom prst="rect">
            <a:avLst/>
          </a:prstGeom>
          <a:noFill/>
          <a:ln/>
        </p:spPr>
        <p:txBody>
          <a:bodyPr wrap="square" lIns="0" tIns="0" rIns="0" bIns="0" rtlCol="0" anchor="ctr"/>
          <a:lstStyle/>
          <a:p>
            <a:pPr algn="l" indent="0" marL="0">
              <a:buNone/>
            </a:pPr>
            <a:r>
              <a:rPr lang="en-US" sz="2200" b="1" i="1" dirty="0">
                <a:solidFill>
                  <a:srgbClr val="FFD166"/>
                </a:solidFill>
              </a:rPr>
              <a:t>Haath uthao — magic dekho.</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6858000" y="-731520"/>
            <a:ext cx="4114800" cy="4114800"/>
          </a:xfrm>
          <a:prstGeom prst="ellipse">
            <a:avLst/>
          </a:prstGeom>
          <a:solidFill>
            <a:srgbClr val="1E2761"/>
          </a:solidFill>
          <a:ln w="12700">
            <a:solidFill>
              <a:srgbClr val="1E2761"/>
            </a:solidFill>
            <a:prstDash val="solid"/>
          </a:ln>
        </p:spPr>
      </p:sp>
      <p:sp>
        <p:nvSpPr>
          <p:cNvPr id="3" name="Shape 1"/>
          <p:cNvSpPr/>
          <p:nvPr/>
        </p:nvSpPr>
        <p:spPr>
          <a:xfrm>
            <a:off x="-457200" y="3840480"/>
            <a:ext cx="2286000" cy="2286000"/>
          </a:xfrm>
          <a:prstGeom prst="ellipse">
            <a:avLst/>
          </a:prstGeom>
          <a:solidFill>
            <a:srgbClr val="1E2761"/>
          </a:solidFill>
          <a:ln w="12700">
            <a:solidFill>
              <a:srgbClr val="1E2761"/>
            </a:solidFill>
            <a:prstDash val="solid"/>
          </a:ln>
        </p:spPr>
      </p:sp>
      <p:sp>
        <p:nvSpPr>
          <p:cNvPr id="4" name="Shape 2"/>
          <p:cNvSpPr/>
          <p:nvPr/>
        </p:nvSpPr>
        <p:spPr>
          <a:xfrm>
            <a:off x="8229600" y="4114800"/>
            <a:ext cx="1371600" cy="1371600"/>
          </a:xfrm>
          <a:prstGeom prst="ellipse">
            <a:avLst/>
          </a:prstGeom>
          <a:solidFill>
            <a:srgbClr val="FF6B35"/>
          </a:solidFill>
          <a:ln w="12700">
            <a:solidFill>
              <a:srgbClr val="FF6B35"/>
            </a:solidFill>
            <a:prstDash val="solid"/>
          </a:ln>
        </p:spPr>
      </p:sp>
      <p:sp>
        <p:nvSpPr>
          <p:cNvPr id="5" name="Shape 3"/>
          <p:cNvSpPr/>
          <p:nvPr/>
        </p:nvSpPr>
        <p:spPr>
          <a:xfrm>
            <a:off x="548640" y="274320"/>
            <a:ext cx="2011680" cy="347472"/>
          </a:xfrm>
          <a:prstGeom prst="roundRect">
            <a:avLst>
              <a:gd name="adj" fmla="val 47368"/>
            </a:avLst>
          </a:prstGeom>
          <a:solidFill>
            <a:srgbClr val="FF6B35"/>
          </a:solidFill>
          <a:ln w="12700">
            <a:solidFill>
              <a:srgbClr val="FF6B35"/>
            </a:solidFill>
            <a:prstDash val="solid"/>
          </a:ln>
        </p:spPr>
      </p:sp>
      <p:sp>
        <p:nvSpPr>
          <p:cNvPr id="6" name="Text 4"/>
          <p:cNvSpPr/>
          <p:nvPr/>
        </p:nvSpPr>
        <p:spPr>
          <a:xfrm>
            <a:off x="548640" y="274320"/>
            <a:ext cx="2011680" cy="347472"/>
          </a:xfrm>
          <a:prstGeom prst="rect">
            <a:avLst/>
          </a:prstGeom>
          <a:noFill/>
          <a:ln/>
        </p:spPr>
        <p:txBody>
          <a:bodyPr wrap="square" lIns="0" tIns="0" rIns="0" bIns="0" rtlCol="0" anchor="ctr"/>
          <a:lstStyle/>
          <a:p>
            <a:pPr algn="ctr" indent="0" marL="0">
              <a:buNone/>
            </a:pPr>
            <a:r>
              <a:rPr lang="en-US" sz="1000" b="1" dirty="0">
                <a:solidFill>
                  <a:srgbClr val="FFFFFF"/>
                </a:solidFill>
              </a:rPr>
              <a:t>DEMO 01 · LIVE</a:t>
            </a:r>
            <a:endParaRPr lang="en-US" sz="1000" dirty="0"/>
          </a:p>
        </p:txBody>
      </p:sp>
      <p:sp>
        <p:nvSpPr>
          <p:cNvPr id="7" name="Text 5"/>
          <p:cNvSpPr/>
          <p:nvPr/>
        </p:nvSpPr>
        <p:spPr>
          <a:xfrm>
            <a:off x="548640" y="777240"/>
            <a:ext cx="8229600" cy="914400"/>
          </a:xfrm>
          <a:prstGeom prst="rect">
            <a:avLst/>
          </a:prstGeom>
          <a:noFill/>
          <a:ln/>
        </p:spPr>
        <p:txBody>
          <a:bodyPr wrap="square" lIns="0" tIns="0" rIns="0" bIns="0" rtlCol="0" anchor="ctr"/>
          <a:lstStyle/>
          <a:p>
            <a:pPr algn="l" indent="0" marL="0">
              <a:buNone/>
            </a:pPr>
            <a:r>
              <a:rPr lang="en-US" sz="5200" b="1" dirty="0">
                <a:solidFill>
                  <a:srgbClr val="FFFFFF"/>
                </a:solidFill>
              </a:rPr>
              <a:t>Shout any 3 words.</a:t>
            </a:r>
            <a:endParaRPr lang="en-US" sz="5200" dirty="0"/>
          </a:p>
        </p:txBody>
      </p:sp>
      <p:sp>
        <p:nvSpPr>
          <p:cNvPr id="8" name="Text 6"/>
          <p:cNvSpPr/>
          <p:nvPr/>
        </p:nvSpPr>
        <p:spPr>
          <a:xfrm>
            <a:off x="548640" y="1691640"/>
            <a:ext cx="8229600" cy="777240"/>
          </a:xfrm>
          <a:prstGeom prst="rect">
            <a:avLst/>
          </a:prstGeom>
          <a:noFill/>
          <a:ln/>
        </p:spPr>
        <p:txBody>
          <a:bodyPr wrap="square" lIns="0" tIns="0" rIns="0" bIns="0" rtlCol="0" anchor="ctr"/>
          <a:lstStyle/>
          <a:p>
            <a:pPr algn="l" indent="0" marL="0">
              <a:buNone/>
            </a:pPr>
            <a:r>
              <a:rPr lang="en-US" sz="4200" b="1" dirty="0">
                <a:solidFill>
                  <a:srgbClr val="FFD166"/>
                </a:solidFill>
              </a:rPr>
              <a:t>Watch AI make a painting.</a:t>
            </a:r>
            <a:endParaRPr lang="en-US" sz="4200" dirty="0"/>
          </a:p>
        </p:txBody>
      </p:sp>
      <p:sp>
        <p:nvSpPr>
          <p:cNvPr id="9" name="Shape 7">
            <a:hlinkClick r:id="rId1" tooltip=""/>
          </p:cNvPr>
          <p:cNvSpPr/>
          <p:nvPr/>
        </p:nvSpPr>
        <p:spPr>
          <a:xfrm>
            <a:off x="548640" y="2788920"/>
            <a:ext cx="5029200" cy="749808"/>
          </a:xfrm>
          <a:prstGeom prst="roundRect">
            <a:avLst>
              <a:gd name="adj" fmla="val 17073"/>
            </a:avLst>
          </a:prstGeom>
          <a:solidFill>
            <a:srgbClr val="FF6B35"/>
          </a:solidFill>
          <a:ln w="12700">
            <a:solidFill>
              <a:srgbClr val="FF6B35"/>
            </a:solidFill>
            <a:prstDash val="solid"/>
          </a:ln>
        </p:spPr>
      </p:sp>
      <p:sp>
        <p:nvSpPr>
          <p:cNvPr id="10" name="Text 8">
            <a:hlinkClick r:id="rId2" tooltip=""/>
          </p:cNvPr>
          <p:cNvSpPr/>
          <p:nvPr/>
        </p:nvSpPr>
        <p:spPr>
          <a:xfrm>
            <a:off x="548640" y="2788920"/>
            <a:ext cx="5029200" cy="749808"/>
          </a:xfrm>
          <a:prstGeom prst="rect">
            <a:avLst/>
          </a:prstGeom>
          <a:noFill/>
          <a:ln/>
        </p:spPr>
        <p:txBody>
          <a:bodyPr wrap="square" lIns="0" tIns="0" rIns="0" bIns="0" rtlCol="0" anchor="ctr"/>
          <a:lstStyle/>
          <a:p>
            <a:pPr algn="ctr" indent="0" marL="0">
              <a:buNone/>
            </a:pPr>
            <a:r>
              <a:rPr lang="en-US" sz="2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Bing Image Creator</a:t>
            </a:r>
            <a:endParaRPr lang="en-US" sz="2000" dirty="0"/>
          </a:p>
        </p:txBody>
      </p:sp>
      <p:sp>
        <p:nvSpPr>
          <p:cNvPr id="11" name="Shape 9"/>
          <p:cNvSpPr/>
          <p:nvPr/>
        </p:nvSpPr>
        <p:spPr>
          <a:xfrm>
            <a:off x="548640" y="3767328"/>
            <a:ext cx="8046720" cy="804672"/>
          </a:xfrm>
          <a:prstGeom prst="rect">
            <a:avLst/>
          </a:prstGeom>
          <a:solidFill>
            <a:srgbClr val="1E2761"/>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Shape 10"/>
          <p:cNvSpPr/>
          <p:nvPr/>
        </p:nvSpPr>
        <p:spPr>
          <a:xfrm>
            <a:off x="548640" y="3767328"/>
            <a:ext cx="91440" cy="804672"/>
          </a:xfrm>
          <a:prstGeom prst="rect">
            <a:avLst/>
          </a:prstGeom>
          <a:solidFill>
            <a:srgbClr val="06D6A0"/>
          </a:solidFill>
          <a:ln w="12700">
            <a:solidFill>
              <a:srgbClr val="06D6A0"/>
            </a:solidFill>
            <a:prstDash val="solid"/>
          </a:ln>
        </p:spPr>
      </p:sp>
      <p:sp>
        <p:nvSpPr>
          <p:cNvPr id="13" name="Text 11"/>
          <p:cNvSpPr/>
          <p:nvPr/>
        </p:nvSpPr>
        <p:spPr>
          <a:xfrm>
            <a:off x="777240" y="3767328"/>
            <a:ext cx="7589520" cy="804672"/>
          </a:xfrm>
          <a:prstGeom prst="rect">
            <a:avLst/>
          </a:prstGeom>
          <a:noFill/>
          <a:ln/>
        </p:spPr>
        <p:txBody>
          <a:bodyPr wrap="square" lIns="0" tIns="0" rIns="0" bIns="0" rtlCol="0" anchor="ctr"/>
          <a:lstStyle/>
          <a:p>
            <a:pPr indent="0" marL="0">
              <a:buNone/>
            </a:pPr>
            <a:r>
              <a:rPr lang="en-US" sz="1800" b="1" i="1" dirty="0">
                <a:solidFill>
                  <a:srgbClr val="FFFFFF"/>
                </a:solidFill>
              </a:rPr>
              <a:t>Did the computer draw this? Or did it think?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7315200" y="-457200"/>
            <a:ext cx="3657600" cy="3657600"/>
          </a:xfrm>
          <a:prstGeom prst="ellipse">
            <a:avLst/>
          </a:prstGeom>
          <a:solidFill>
            <a:srgbClr val="1E2761"/>
          </a:solidFill>
          <a:ln w="12700">
            <a:solidFill>
              <a:srgbClr val="1E2761"/>
            </a:solidFill>
            <a:prstDash val="solid"/>
          </a:ln>
        </p:spPr>
      </p:sp>
      <p:sp>
        <p:nvSpPr>
          <p:cNvPr id="3" name="Shape 1"/>
          <p:cNvSpPr/>
          <p:nvPr/>
        </p:nvSpPr>
        <p:spPr>
          <a:xfrm>
            <a:off x="-457200" y="3657600"/>
            <a:ext cx="2286000" cy="2286000"/>
          </a:xfrm>
          <a:prstGeom prst="ellipse">
            <a:avLst/>
          </a:prstGeom>
          <a:solidFill>
            <a:srgbClr val="1E2761"/>
          </a:solidFill>
          <a:ln w="12700">
            <a:solidFill>
              <a:srgbClr val="1E2761"/>
            </a:solidFill>
            <a:prstDash val="solid"/>
          </a:ln>
        </p:spPr>
      </p:sp>
      <p:sp>
        <p:nvSpPr>
          <p:cNvPr id="4" name="Shape 2"/>
          <p:cNvSpPr/>
          <p:nvPr/>
        </p:nvSpPr>
        <p:spPr>
          <a:xfrm>
            <a:off x="8412480" y="4389120"/>
            <a:ext cx="1645920" cy="1645920"/>
          </a:xfrm>
          <a:prstGeom prst="ellipse">
            <a:avLst/>
          </a:prstGeom>
          <a:solidFill>
            <a:srgbClr val="06D6A0"/>
          </a:solidFill>
          <a:ln w="12700">
            <a:solidFill>
              <a:srgbClr val="06D6A0"/>
            </a:solidFill>
            <a:prstDash val="solid"/>
          </a:ln>
        </p:spPr>
      </p:sp>
      <p:sp>
        <p:nvSpPr>
          <p:cNvPr id="5" name="Shape 3"/>
          <p:cNvSpPr/>
          <p:nvPr/>
        </p:nvSpPr>
        <p:spPr>
          <a:xfrm>
            <a:off x="548640" y="274320"/>
            <a:ext cx="2011680" cy="347472"/>
          </a:xfrm>
          <a:prstGeom prst="roundRect">
            <a:avLst>
              <a:gd name="adj" fmla="val 47368"/>
            </a:avLst>
          </a:prstGeom>
          <a:solidFill>
            <a:srgbClr val="06D6A0"/>
          </a:solidFill>
          <a:ln w="12700">
            <a:solidFill>
              <a:srgbClr val="06D6A0"/>
            </a:solidFill>
            <a:prstDash val="solid"/>
          </a:ln>
        </p:spPr>
      </p:sp>
      <p:sp>
        <p:nvSpPr>
          <p:cNvPr id="6" name="Text 4"/>
          <p:cNvSpPr/>
          <p:nvPr/>
        </p:nvSpPr>
        <p:spPr>
          <a:xfrm>
            <a:off x="548640" y="274320"/>
            <a:ext cx="2011680" cy="347472"/>
          </a:xfrm>
          <a:prstGeom prst="rect">
            <a:avLst/>
          </a:prstGeom>
          <a:noFill/>
          <a:ln/>
        </p:spPr>
        <p:txBody>
          <a:bodyPr wrap="square" lIns="0" tIns="0" rIns="0" bIns="0" rtlCol="0" anchor="ctr"/>
          <a:lstStyle/>
          <a:p>
            <a:pPr algn="ctr" indent="0" marL="0">
              <a:buNone/>
            </a:pPr>
            <a:r>
              <a:rPr lang="en-US" sz="1000" b="1" dirty="0">
                <a:solidFill>
                  <a:srgbClr val="FFFFFF"/>
                </a:solidFill>
              </a:rPr>
              <a:t>DEMO 02 · LIVE</a:t>
            </a:r>
            <a:endParaRPr lang="en-US" sz="1000" dirty="0"/>
          </a:p>
        </p:txBody>
      </p:sp>
      <p:sp>
        <p:nvSpPr>
          <p:cNvPr id="7" name="Text 5"/>
          <p:cNvSpPr/>
          <p:nvPr/>
        </p:nvSpPr>
        <p:spPr>
          <a:xfrm>
            <a:off x="548640" y="777240"/>
            <a:ext cx="8229600" cy="1463040"/>
          </a:xfrm>
          <a:prstGeom prst="rect">
            <a:avLst/>
          </a:prstGeom>
          <a:noFill/>
          <a:ln/>
        </p:spPr>
        <p:txBody>
          <a:bodyPr wrap="square" lIns="0" tIns="0" rIns="0" bIns="0" rtlCol="0" anchor="ctr"/>
          <a:lstStyle/>
          <a:p>
            <a:pPr algn="l" indent="0" marL="0">
              <a:buNone/>
            </a:pPr>
            <a:r>
              <a:rPr lang="en-US" sz="6200" b="1" dirty="0">
                <a:solidFill>
                  <a:srgbClr val="FFFFFF"/>
                </a:solidFill>
              </a:rPr>
              <a:t>Real voice</a:t>
            </a:r>
            <a:endParaRPr lang="en-US" sz="6200" dirty="0"/>
          </a:p>
          <a:p>
            <a:pPr algn="l" indent="0" marL="0">
              <a:buNone/>
            </a:pPr>
            <a:r>
              <a:rPr lang="en-US" sz="6200" b="1" dirty="0">
                <a:solidFill>
                  <a:srgbClr val="FFFFFF"/>
                </a:solidFill>
              </a:rPr>
              <a:t>or AI?</a:t>
            </a:r>
            <a:endParaRPr lang="en-US" sz="6200" dirty="0"/>
          </a:p>
        </p:txBody>
      </p:sp>
      <p:sp>
        <p:nvSpPr>
          <p:cNvPr id="8" name="Text 6"/>
          <p:cNvSpPr/>
          <p:nvPr/>
        </p:nvSpPr>
        <p:spPr>
          <a:xfrm>
            <a:off x="548640" y="2304288"/>
            <a:ext cx="8229600" cy="594360"/>
          </a:xfrm>
          <a:prstGeom prst="rect">
            <a:avLst/>
          </a:prstGeom>
          <a:noFill/>
          <a:ln/>
        </p:spPr>
        <p:txBody>
          <a:bodyPr wrap="square" lIns="0" tIns="0" rIns="0" bIns="0" rtlCol="0" anchor="ctr"/>
          <a:lstStyle/>
          <a:p>
            <a:pPr algn="l" indent="0" marL="0">
              <a:buNone/>
            </a:pPr>
            <a:r>
              <a:rPr lang="en-US" sz="2800" b="1" dirty="0">
                <a:solidFill>
                  <a:srgbClr val="FFD166"/>
                </a:solidFill>
              </a:rPr>
              <a:t>🎧  Listen carefully.</a:t>
            </a:r>
            <a:endParaRPr lang="en-US" sz="2800" dirty="0"/>
          </a:p>
        </p:txBody>
      </p:sp>
      <p:sp>
        <p:nvSpPr>
          <p:cNvPr id="9" name="Shape 7">
            <a:hlinkClick r:id="rId1" tooltip=""/>
          </p:cNvPr>
          <p:cNvSpPr/>
          <p:nvPr/>
        </p:nvSpPr>
        <p:spPr>
          <a:xfrm>
            <a:off x="548640" y="3063240"/>
            <a:ext cx="4572000" cy="685800"/>
          </a:xfrm>
          <a:prstGeom prst="roundRect">
            <a:avLst>
              <a:gd name="adj" fmla="val 18667"/>
            </a:avLst>
          </a:prstGeom>
          <a:solidFill>
            <a:srgbClr val="06D6A0"/>
          </a:solidFill>
          <a:ln w="12700">
            <a:solidFill>
              <a:srgbClr val="06D6A0"/>
            </a:solidFill>
            <a:prstDash val="solid"/>
          </a:ln>
        </p:spPr>
      </p:sp>
      <p:sp>
        <p:nvSpPr>
          <p:cNvPr id="10" name="Text 8">
            <a:hlinkClick r:id="rId2" tooltip=""/>
          </p:cNvPr>
          <p:cNvSpPr/>
          <p:nvPr/>
        </p:nvSpPr>
        <p:spPr>
          <a:xfrm>
            <a:off x="548640" y="3063240"/>
            <a:ext cx="4572000" cy="685800"/>
          </a:xfrm>
          <a:prstGeom prst="rect">
            <a:avLst/>
          </a:prstGeom>
          <a:noFill/>
          <a:ln/>
        </p:spPr>
        <p:txBody>
          <a:bodyPr wrap="square" lIns="0" tIns="0" rIns="0" bIns="0" rtlCol="0" anchor="ctr"/>
          <a:lstStyle/>
          <a:p>
            <a:pPr algn="ctr" indent="0" marL="0">
              <a:buNone/>
            </a:pPr>
            <a:r>
              <a:rPr lang="en-US" sz="18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ElevenLabs</a:t>
            </a:r>
            <a:endParaRPr lang="en-US" sz="1800" dirty="0"/>
          </a:p>
        </p:txBody>
      </p:sp>
      <p:sp>
        <p:nvSpPr>
          <p:cNvPr id="11" name="Shape 9"/>
          <p:cNvSpPr/>
          <p:nvPr/>
        </p:nvSpPr>
        <p:spPr>
          <a:xfrm>
            <a:off x="548640" y="3950208"/>
            <a:ext cx="8046720" cy="777240"/>
          </a:xfrm>
          <a:prstGeom prst="rect">
            <a:avLst/>
          </a:prstGeom>
          <a:solidFill>
            <a:srgbClr val="1E2761"/>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Shape 10"/>
          <p:cNvSpPr/>
          <p:nvPr/>
        </p:nvSpPr>
        <p:spPr>
          <a:xfrm>
            <a:off x="548640" y="3950208"/>
            <a:ext cx="91440" cy="777240"/>
          </a:xfrm>
          <a:prstGeom prst="rect">
            <a:avLst/>
          </a:prstGeom>
          <a:solidFill>
            <a:srgbClr val="06D6A0"/>
          </a:solidFill>
          <a:ln w="12700">
            <a:solidFill>
              <a:srgbClr val="06D6A0"/>
            </a:solidFill>
            <a:prstDash val="solid"/>
          </a:ln>
        </p:spPr>
      </p:sp>
      <p:sp>
        <p:nvSpPr>
          <p:cNvPr id="13" name="Text 11"/>
          <p:cNvSpPr/>
          <p:nvPr/>
        </p:nvSpPr>
        <p:spPr>
          <a:xfrm>
            <a:off x="777240" y="3950208"/>
            <a:ext cx="7589520" cy="777240"/>
          </a:xfrm>
          <a:prstGeom prst="rect">
            <a:avLst/>
          </a:prstGeom>
          <a:noFill/>
          <a:ln/>
        </p:spPr>
        <p:txBody>
          <a:bodyPr wrap="square" lIns="0" tIns="0" rIns="0" bIns="0" rtlCol="0" anchor="ctr"/>
          <a:lstStyle/>
          <a:p>
            <a:pPr indent="0" marL="0">
              <a:buNone/>
            </a:pPr>
            <a:r>
              <a:rPr lang="en-US" sz="1600" b="1" i="1" dirty="0">
                <a:solidFill>
                  <a:srgbClr val="06D6A0"/>
                </a:solidFill>
              </a:rPr>
              <a:t>"Your voice has a fingerprint. AI just learned it in 10 seconds."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5E"/>
        </a:solidFill>
      </p:bgPr>
    </p:bg>
    <p:spTree>
      <p:nvGrpSpPr>
        <p:cNvPr id="1" name=""/>
        <p:cNvGrpSpPr/>
        <p:nvPr/>
      </p:nvGrpSpPr>
      <p:grpSpPr>
        <a:xfrm>
          <a:off x="0" y="0"/>
          <a:ext cx="0" cy="0"/>
          <a:chOff x="0" y="0"/>
          <a:chExt cx="0" cy="0"/>
        </a:xfrm>
      </p:grpSpPr>
      <p:sp>
        <p:nvSpPr>
          <p:cNvPr id="2" name="Shape 0"/>
          <p:cNvSpPr/>
          <p:nvPr/>
        </p:nvSpPr>
        <p:spPr>
          <a:xfrm>
            <a:off x="7772400" y="-457200"/>
            <a:ext cx="3200400" cy="3200400"/>
          </a:xfrm>
          <a:prstGeom prst="ellipse">
            <a:avLst/>
          </a:prstGeom>
          <a:solidFill>
            <a:srgbClr val="2D3A8C"/>
          </a:solidFill>
          <a:ln w="12700">
            <a:solidFill>
              <a:srgbClr val="2D3A8C"/>
            </a:solidFill>
            <a:prstDash val="solid"/>
          </a:ln>
        </p:spPr>
      </p:sp>
      <p:sp>
        <p:nvSpPr>
          <p:cNvPr id="3" name="Shape 1"/>
          <p:cNvSpPr/>
          <p:nvPr/>
        </p:nvSpPr>
        <p:spPr>
          <a:xfrm>
            <a:off x="-457200" y="4114800"/>
            <a:ext cx="2286000" cy="2286000"/>
          </a:xfrm>
          <a:prstGeom prst="ellipse">
            <a:avLst/>
          </a:prstGeom>
          <a:solidFill>
            <a:srgbClr val="2D3A8C"/>
          </a:solidFill>
          <a:ln w="12700">
            <a:solidFill>
              <a:srgbClr val="2D3A8C"/>
            </a:solidFill>
            <a:prstDash val="solid"/>
          </a:ln>
        </p:spPr>
      </p:sp>
      <p:sp>
        <p:nvSpPr>
          <p:cNvPr id="4" name="Shape 2"/>
          <p:cNvSpPr/>
          <p:nvPr/>
        </p:nvSpPr>
        <p:spPr>
          <a:xfrm>
            <a:off x="548640" y="274320"/>
            <a:ext cx="2011680" cy="347472"/>
          </a:xfrm>
          <a:prstGeom prst="roundRect">
            <a:avLst>
              <a:gd name="adj" fmla="val 47368"/>
            </a:avLst>
          </a:prstGeom>
          <a:solidFill>
            <a:srgbClr val="FFD166"/>
          </a:solidFill>
          <a:ln w="12700">
            <a:solidFill>
              <a:srgbClr val="FFD166"/>
            </a:solidFill>
            <a:prstDash val="solid"/>
          </a:ln>
        </p:spPr>
      </p:sp>
      <p:sp>
        <p:nvSpPr>
          <p:cNvPr id="5" name="Text 3"/>
          <p:cNvSpPr/>
          <p:nvPr/>
        </p:nvSpPr>
        <p:spPr>
          <a:xfrm>
            <a:off x="548640" y="274320"/>
            <a:ext cx="2011680" cy="347472"/>
          </a:xfrm>
          <a:prstGeom prst="rect">
            <a:avLst/>
          </a:prstGeom>
          <a:noFill/>
          <a:ln/>
        </p:spPr>
        <p:txBody>
          <a:bodyPr wrap="square" lIns="0" tIns="0" rIns="0" bIns="0" rtlCol="0" anchor="ctr"/>
          <a:lstStyle/>
          <a:p>
            <a:pPr algn="ctr" indent="0" marL="0">
              <a:buNone/>
            </a:pPr>
            <a:r>
              <a:rPr lang="en-US" sz="1100" b="1" dirty="0">
                <a:solidFill>
                  <a:srgbClr val="1A1F5E"/>
                </a:solidFill>
              </a:rPr>
              <a:t>GAME TIME</a:t>
            </a:r>
            <a:endParaRPr lang="en-US" sz="1100" dirty="0"/>
          </a:p>
        </p:txBody>
      </p:sp>
      <p:sp>
        <p:nvSpPr>
          <p:cNvPr id="6" name="Text 4"/>
          <p:cNvSpPr/>
          <p:nvPr/>
        </p:nvSpPr>
        <p:spPr>
          <a:xfrm>
            <a:off x="548640" y="731520"/>
            <a:ext cx="8229600" cy="1463040"/>
          </a:xfrm>
          <a:prstGeom prst="rect">
            <a:avLst/>
          </a:prstGeom>
          <a:noFill/>
          <a:ln/>
        </p:spPr>
        <p:txBody>
          <a:bodyPr wrap="square" lIns="0" tIns="0" rIns="0" bIns="0" rtlCol="0" anchor="ctr"/>
          <a:lstStyle/>
          <a:p>
            <a:pPr algn="l" indent="0" marL="0">
              <a:buNone/>
            </a:pPr>
            <a:r>
              <a:rPr lang="en-US" sz="6200" b="1" dirty="0">
                <a:solidFill>
                  <a:srgbClr val="FFFFFF"/>
                </a:solidFill>
              </a:rPr>
              <a:t>AI or</a:t>
            </a:r>
            <a:endParaRPr lang="en-US" sz="6200" dirty="0"/>
          </a:p>
          <a:p>
            <a:pPr algn="l" indent="0" marL="0">
              <a:buNone/>
            </a:pPr>
            <a:r>
              <a:rPr lang="en-US" sz="6200" b="1" dirty="0">
                <a:solidFill>
                  <a:srgbClr val="FFFFFF"/>
                </a:solidFill>
              </a:rPr>
              <a:t>Not AI? 🎯</a:t>
            </a:r>
            <a:endParaRPr lang="en-US" sz="6200" dirty="0"/>
          </a:p>
        </p:txBody>
      </p:sp>
      <p:sp>
        <p:nvSpPr>
          <p:cNvPr id="7" name="Text 5"/>
          <p:cNvSpPr/>
          <p:nvPr/>
        </p:nvSpPr>
        <p:spPr>
          <a:xfrm>
            <a:off x="548640" y="2286000"/>
            <a:ext cx="8229600" cy="530352"/>
          </a:xfrm>
          <a:prstGeom prst="rect">
            <a:avLst/>
          </a:prstGeom>
          <a:noFill/>
          <a:ln/>
        </p:spPr>
        <p:txBody>
          <a:bodyPr wrap="square" lIns="0" tIns="0" rIns="0" bIns="0" rtlCol="0" anchor="ctr"/>
          <a:lstStyle/>
          <a:p>
            <a:pPr algn="l" indent="0" marL="0">
              <a:buNone/>
            </a:pPr>
            <a:r>
              <a:rPr lang="en-US" sz="2200" b="1" dirty="0">
                <a:solidFill>
                  <a:srgbClr val="FFD166"/>
                </a:solidFill>
              </a:rPr>
              <a:t>For each item — shout your answer!</a:t>
            </a:r>
            <a:endParaRPr lang="en-US" sz="2200" dirty="0"/>
          </a:p>
        </p:txBody>
      </p:sp>
      <p:sp>
        <p:nvSpPr>
          <p:cNvPr id="8" name="Shape 6"/>
          <p:cNvSpPr/>
          <p:nvPr/>
        </p:nvSpPr>
        <p:spPr>
          <a:xfrm>
            <a:off x="548640" y="2944368"/>
            <a:ext cx="8046720" cy="1353312"/>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9" name="Shape 7"/>
          <p:cNvSpPr/>
          <p:nvPr/>
        </p:nvSpPr>
        <p:spPr>
          <a:xfrm>
            <a:off x="548640" y="2944368"/>
            <a:ext cx="91440" cy="1353312"/>
          </a:xfrm>
          <a:prstGeom prst="rect">
            <a:avLst/>
          </a:prstGeom>
          <a:solidFill>
            <a:srgbClr val="FF6B35"/>
          </a:solidFill>
          <a:ln w="12700">
            <a:solidFill>
              <a:srgbClr val="FF6B35"/>
            </a:solidFill>
            <a:prstDash val="solid"/>
          </a:ln>
        </p:spPr>
      </p:sp>
      <p:sp>
        <p:nvSpPr>
          <p:cNvPr id="10" name="Text 8"/>
          <p:cNvSpPr/>
          <p:nvPr/>
        </p:nvSpPr>
        <p:spPr>
          <a:xfrm>
            <a:off x="777240" y="3035808"/>
            <a:ext cx="7589520" cy="347472"/>
          </a:xfrm>
          <a:prstGeom prst="rect">
            <a:avLst/>
          </a:prstGeom>
          <a:noFill/>
          <a:ln/>
        </p:spPr>
        <p:txBody>
          <a:bodyPr wrap="square" lIns="0" tIns="0" rIns="0" bIns="0" rtlCol="0" anchor="ctr"/>
          <a:lstStyle/>
          <a:p>
            <a:pPr indent="0" marL="0">
              <a:buNone/>
            </a:pPr>
            <a:r>
              <a:rPr lang="en-US" sz="1400" b="1" dirty="0">
                <a:solidFill>
                  <a:srgbClr val="FF6B35"/>
                </a:solidFill>
              </a:rPr>
              <a:t>Rules:</a:t>
            </a:r>
            <a:endParaRPr lang="en-US" sz="1400" dirty="0"/>
          </a:p>
        </p:txBody>
      </p:sp>
      <p:sp>
        <p:nvSpPr>
          <p:cNvPr id="11" name="Text 9"/>
          <p:cNvSpPr/>
          <p:nvPr/>
        </p:nvSpPr>
        <p:spPr>
          <a:xfrm>
            <a:off x="777240" y="3429000"/>
            <a:ext cx="7589520" cy="777240"/>
          </a:xfrm>
          <a:prstGeom prst="rect">
            <a:avLst/>
          </a:prstGeom>
          <a:noFill/>
          <a:ln/>
        </p:spPr>
        <p:txBody>
          <a:bodyPr wrap="square" lIns="0" tIns="0" rIns="0" bIns="0" rtlCol="0" anchor="ctr"/>
          <a:lstStyle/>
          <a:p>
            <a:pPr indent="0" marL="0">
              <a:buNone/>
            </a:pPr>
            <a:r>
              <a:rPr lang="en-US" sz="1400" dirty="0">
                <a:solidFill>
                  <a:srgbClr val="FFFFFF"/>
                </a:solidFill>
              </a:rPr>
              <a:t>I show you something. You shout AI if you think it uses AI, or NOT AI if you think it doesn't.</a:t>
            </a:r>
            <a:endParaRPr lang="en-US" sz="1400" dirty="0"/>
          </a:p>
          <a:p>
            <a:pPr indent="0" marL="0">
              <a:buNone/>
            </a:pPr>
            <a:r>
              <a:rPr lang="en-US" sz="1400" dirty="0">
                <a:solidFill>
                  <a:srgbClr val="FFFFFF"/>
                </a:solidFill>
              </a:rPr>
              <a:t>No wrong answers — just your best guess!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5E"/>
        </a:solidFill>
      </p:bgPr>
    </p:bg>
    <p:spTree>
      <p:nvGrpSpPr>
        <p:cNvPr id="1" name=""/>
        <p:cNvGrpSpPr/>
        <p:nvPr/>
      </p:nvGrpSpPr>
      <p:grpSpPr>
        <a:xfrm>
          <a:off x="0" y="0"/>
          <a:ext cx="0" cy="0"/>
          <a:chOff x="0" y="0"/>
          <a:chExt cx="0" cy="0"/>
        </a:xfrm>
      </p:grpSpPr>
      <p:sp>
        <p:nvSpPr>
          <p:cNvPr id="2" name="Shape 0"/>
          <p:cNvSpPr/>
          <p:nvPr/>
        </p:nvSpPr>
        <p:spPr>
          <a:xfrm>
            <a:off x="7772400" y="-457200"/>
            <a:ext cx="3200400" cy="3200400"/>
          </a:xfrm>
          <a:prstGeom prst="ellipse">
            <a:avLst/>
          </a:prstGeom>
          <a:solidFill>
            <a:srgbClr val="2D3A8C"/>
          </a:solidFill>
          <a:ln w="12700">
            <a:solidFill>
              <a:srgbClr val="2D3A8C"/>
            </a:solidFill>
            <a:prstDash val="solid"/>
          </a:ln>
        </p:spPr>
      </p:sp>
      <p:sp>
        <p:nvSpPr>
          <p:cNvPr id="3" name="Shape 1"/>
          <p:cNvSpPr/>
          <p:nvPr/>
        </p:nvSpPr>
        <p:spPr>
          <a:xfrm>
            <a:off x="-457200" y="4114800"/>
            <a:ext cx="2286000" cy="2286000"/>
          </a:xfrm>
          <a:prstGeom prst="ellipse">
            <a:avLst/>
          </a:prstGeom>
          <a:solidFill>
            <a:srgbClr val="2D3A8C"/>
          </a:solidFill>
          <a:ln w="12700">
            <a:solidFill>
              <a:srgbClr val="2D3A8C"/>
            </a:solidFill>
            <a:prstDash val="solid"/>
          </a:ln>
        </p:spPr>
      </p:sp>
      <p:sp>
        <p:nvSpPr>
          <p:cNvPr id="4" name="Text 2"/>
          <p:cNvSpPr/>
          <p:nvPr/>
        </p:nvSpPr>
        <p:spPr>
          <a:xfrm>
            <a:off x="548640" y="137160"/>
            <a:ext cx="8229600" cy="502920"/>
          </a:xfrm>
          <a:prstGeom prst="rect">
            <a:avLst/>
          </a:prstGeom>
          <a:noFill/>
          <a:ln/>
        </p:spPr>
        <p:txBody>
          <a:bodyPr wrap="square" lIns="0" tIns="0" rIns="0" bIns="0" rtlCol="0" anchor="ctr"/>
          <a:lstStyle/>
          <a:p>
            <a:pPr indent="0" marL="0">
              <a:buNone/>
            </a:pPr>
            <a:r>
              <a:rPr lang="en-US" sz="2400" b="1" dirty="0">
                <a:solidFill>
                  <a:srgbClr val="FFFFFF"/>
                </a:solidFill>
              </a:rPr>
              <a:t>AI or Not AI? 🎯</a:t>
            </a:r>
            <a:endParaRPr lang="en-US" sz="2400" dirty="0"/>
          </a:p>
        </p:txBody>
      </p:sp>
      <p:sp>
        <p:nvSpPr>
          <p:cNvPr id="5" name="Shape 3"/>
          <p:cNvSpPr/>
          <p:nvPr/>
        </p:nvSpPr>
        <p:spPr>
          <a:xfrm>
            <a:off x="457200" y="822960"/>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6" name="Text 4"/>
          <p:cNvSpPr/>
          <p:nvPr/>
        </p:nvSpPr>
        <p:spPr>
          <a:xfrm>
            <a:off x="457200" y="914400"/>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7" name="Text 5"/>
          <p:cNvSpPr/>
          <p:nvPr/>
        </p:nvSpPr>
        <p:spPr>
          <a:xfrm>
            <a:off x="1371600" y="987552"/>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Doctor's X-Ray Scan</a:t>
            </a:r>
            <a:endParaRPr lang="en-US" sz="1300" dirty="0"/>
          </a:p>
        </p:txBody>
      </p:sp>
      <p:sp>
        <p:nvSpPr>
          <p:cNvPr id="8" name="Shape 6"/>
          <p:cNvSpPr/>
          <p:nvPr/>
        </p:nvSpPr>
        <p:spPr>
          <a:xfrm>
            <a:off x="1353312" y="1737360"/>
            <a:ext cx="1371600" cy="475488"/>
          </a:xfrm>
          <a:prstGeom prst="roundRect">
            <a:avLst>
              <a:gd name="adj" fmla="val 34615"/>
            </a:avLst>
          </a:prstGeom>
          <a:solidFill>
            <a:srgbClr val="06D6A0"/>
          </a:solidFill>
          <a:ln w="12700">
            <a:solidFill>
              <a:srgbClr val="06D6A0"/>
            </a:solidFill>
            <a:prstDash val="solid"/>
          </a:ln>
        </p:spPr>
      </p:sp>
      <p:sp>
        <p:nvSpPr>
          <p:cNvPr id="9" name="Text 7"/>
          <p:cNvSpPr/>
          <p:nvPr/>
        </p:nvSpPr>
        <p:spPr>
          <a:xfrm>
            <a:off x="1353312" y="1737360"/>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10" name="Shape 8"/>
          <p:cNvSpPr/>
          <p:nvPr/>
        </p:nvSpPr>
        <p:spPr>
          <a:xfrm>
            <a:off x="3364992" y="822960"/>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Text 9"/>
          <p:cNvSpPr/>
          <p:nvPr/>
        </p:nvSpPr>
        <p:spPr>
          <a:xfrm>
            <a:off x="3364992" y="914400"/>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12" name="Text 10"/>
          <p:cNvSpPr/>
          <p:nvPr/>
        </p:nvSpPr>
        <p:spPr>
          <a:xfrm>
            <a:off x="4279392" y="987552"/>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WhatsApp Sticker Maker</a:t>
            </a:r>
            <a:endParaRPr lang="en-US" sz="1300" dirty="0"/>
          </a:p>
        </p:txBody>
      </p:sp>
      <p:sp>
        <p:nvSpPr>
          <p:cNvPr id="13" name="Shape 11"/>
          <p:cNvSpPr/>
          <p:nvPr/>
        </p:nvSpPr>
        <p:spPr>
          <a:xfrm>
            <a:off x="4261104" y="1737360"/>
            <a:ext cx="1371600" cy="475488"/>
          </a:xfrm>
          <a:prstGeom prst="roundRect">
            <a:avLst>
              <a:gd name="adj" fmla="val 34615"/>
            </a:avLst>
          </a:prstGeom>
          <a:solidFill>
            <a:srgbClr val="06D6A0"/>
          </a:solidFill>
          <a:ln w="12700">
            <a:solidFill>
              <a:srgbClr val="06D6A0"/>
            </a:solidFill>
            <a:prstDash val="solid"/>
          </a:ln>
        </p:spPr>
      </p:sp>
      <p:sp>
        <p:nvSpPr>
          <p:cNvPr id="14" name="Text 12"/>
          <p:cNvSpPr/>
          <p:nvPr/>
        </p:nvSpPr>
        <p:spPr>
          <a:xfrm>
            <a:off x="4261104" y="1737360"/>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15" name="Shape 13"/>
          <p:cNvSpPr/>
          <p:nvPr/>
        </p:nvSpPr>
        <p:spPr>
          <a:xfrm>
            <a:off x="6272784" y="822960"/>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6" name="Text 14"/>
          <p:cNvSpPr/>
          <p:nvPr/>
        </p:nvSpPr>
        <p:spPr>
          <a:xfrm>
            <a:off x="6272784" y="914400"/>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17" name="Text 15"/>
          <p:cNvSpPr/>
          <p:nvPr/>
        </p:nvSpPr>
        <p:spPr>
          <a:xfrm>
            <a:off x="7187184" y="987552"/>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Self-Driving Car</a:t>
            </a:r>
            <a:endParaRPr lang="en-US" sz="1300" dirty="0"/>
          </a:p>
        </p:txBody>
      </p:sp>
      <p:sp>
        <p:nvSpPr>
          <p:cNvPr id="18" name="Shape 16"/>
          <p:cNvSpPr/>
          <p:nvPr/>
        </p:nvSpPr>
        <p:spPr>
          <a:xfrm>
            <a:off x="7168896" y="1737360"/>
            <a:ext cx="1371600" cy="475488"/>
          </a:xfrm>
          <a:prstGeom prst="roundRect">
            <a:avLst>
              <a:gd name="adj" fmla="val 34615"/>
            </a:avLst>
          </a:prstGeom>
          <a:solidFill>
            <a:srgbClr val="06D6A0"/>
          </a:solidFill>
          <a:ln w="12700">
            <a:solidFill>
              <a:srgbClr val="06D6A0"/>
            </a:solidFill>
            <a:prstDash val="solid"/>
          </a:ln>
        </p:spPr>
      </p:sp>
      <p:sp>
        <p:nvSpPr>
          <p:cNvPr id="19" name="Text 17"/>
          <p:cNvSpPr/>
          <p:nvPr/>
        </p:nvSpPr>
        <p:spPr>
          <a:xfrm>
            <a:off x="7168896" y="1737360"/>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20" name="Shape 18"/>
          <p:cNvSpPr/>
          <p:nvPr/>
        </p:nvSpPr>
        <p:spPr>
          <a:xfrm>
            <a:off x="457200" y="2761488"/>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1" name="Text 19"/>
          <p:cNvSpPr/>
          <p:nvPr/>
        </p:nvSpPr>
        <p:spPr>
          <a:xfrm>
            <a:off x="457200" y="2852928"/>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22" name="Text 20"/>
          <p:cNvSpPr/>
          <p:nvPr/>
        </p:nvSpPr>
        <p:spPr>
          <a:xfrm>
            <a:off x="1371600" y="2926080"/>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Chess vs Computer</a:t>
            </a:r>
            <a:endParaRPr lang="en-US" sz="1300" dirty="0"/>
          </a:p>
        </p:txBody>
      </p:sp>
      <p:sp>
        <p:nvSpPr>
          <p:cNvPr id="23" name="Shape 21"/>
          <p:cNvSpPr/>
          <p:nvPr/>
        </p:nvSpPr>
        <p:spPr>
          <a:xfrm>
            <a:off x="1353312" y="3675888"/>
            <a:ext cx="1371600" cy="475488"/>
          </a:xfrm>
          <a:prstGeom prst="roundRect">
            <a:avLst>
              <a:gd name="adj" fmla="val 34615"/>
            </a:avLst>
          </a:prstGeom>
          <a:solidFill>
            <a:srgbClr val="06D6A0"/>
          </a:solidFill>
          <a:ln w="12700">
            <a:solidFill>
              <a:srgbClr val="06D6A0"/>
            </a:solidFill>
            <a:prstDash val="solid"/>
          </a:ln>
        </p:spPr>
      </p:sp>
      <p:sp>
        <p:nvSpPr>
          <p:cNvPr id="24" name="Text 22"/>
          <p:cNvSpPr/>
          <p:nvPr/>
        </p:nvSpPr>
        <p:spPr>
          <a:xfrm>
            <a:off x="1353312" y="3675888"/>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25" name="Shape 23"/>
          <p:cNvSpPr/>
          <p:nvPr/>
        </p:nvSpPr>
        <p:spPr>
          <a:xfrm>
            <a:off x="3364992" y="2761488"/>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6" name="Text 24"/>
          <p:cNvSpPr/>
          <p:nvPr/>
        </p:nvSpPr>
        <p:spPr>
          <a:xfrm>
            <a:off x="3364992" y="2852928"/>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27" name="Text 25"/>
          <p:cNvSpPr/>
          <p:nvPr/>
        </p:nvSpPr>
        <p:spPr>
          <a:xfrm>
            <a:off x="4279392" y="2926080"/>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YouTube "Up Next"</a:t>
            </a:r>
            <a:endParaRPr lang="en-US" sz="1300" dirty="0"/>
          </a:p>
        </p:txBody>
      </p:sp>
      <p:sp>
        <p:nvSpPr>
          <p:cNvPr id="28" name="Shape 26"/>
          <p:cNvSpPr/>
          <p:nvPr/>
        </p:nvSpPr>
        <p:spPr>
          <a:xfrm>
            <a:off x="4261104" y="3675888"/>
            <a:ext cx="1371600" cy="475488"/>
          </a:xfrm>
          <a:prstGeom prst="roundRect">
            <a:avLst>
              <a:gd name="adj" fmla="val 34615"/>
            </a:avLst>
          </a:prstGeom>
          <a:solidFill>
            <a:srgbClr val="06D6A0"/>
          </a:solidFill>
          <a:ln w="12700">
            <a:solidFill>
              <a:srgbClr val="06D6A0"/>
            </a:solidFill>
            <a:prstDash val="solid"/>
          </a:ln>
        </p:spPr>
      </p:sp>
      <p:sp>
        <p:nvSpPr>
          <p:cNvPr id="29" name="Text 27"/>
          <p:cNvSpPr/>
          <p:nvPr/>
        </p:nvSpPr>
        <p:spPr>
          <a:xfrm>
            <a:off x="4261104" y="3675888"/>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30" name="Shape 28"/>
          <p:cNvSpPr/>
          <p:nvPr/>
        </p:nvSpPr>
        <p:spPr>
          <a:xfrm>
            <a:off x="6272784" y="2761488"/>
            <a:ext cx="2743200" cy="169164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1" name="Text 29"/>
          <p:cNvSpPr/>
          <p:nvPr/>
        </p:nvSpPr>
        <p:spPr>
          <a:xfrm>
            <a:off x="6272784" y="2852928"/>
            <a:ext cx="914400" cy="146304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32" name="Text 30"/>
          <p:cNvSpPr/>
          <p:nvPr/>
        </p:nvSpPr>
        <p:spPr>
          <a:xfrm>
            <a:off x="7187184" y="2926080"/>
            <a:ext cx="1719072" cy="713232"/>
          </a:xfrm>
          <a:prstGeom prst="rect">
            <a:avLst/>
          </a:prstGeom>
          <a:noFill/>
          <a:ln/>
        </p:spPr>
        <p:txBody>
          <a:bodyPr wrap="square" lIns="0" tIns="0" rIns="0" bIns="0" rtlCol="0" anchor="ctr"/>
          <a:lstStyle/>
          <a:p>
            <a:pPr indent="0" marL="0">
              <a:buNone/>
            </a:pPr>
            <a:r>
              <a:rPr lang="en-US" sz="1300" b="1" dirty="0">
                <a:solidFill>
                  <a:srgbClr val="FFFFFF"/>
                </a:solidFill>
              </a:rPr>
              <a:t>Weather Forecast App</a:t>
            </a:r>
            <a:endParaRPr lang="en-US" sz="1300" dirty="0"/>
          </a:p>
        </p:txBody>
      </p:sp>
      <p:sp>
        <p:nvSpPr>
          <p:cNvPr id="33" name="Shape 31"/>
          <p:cNvSpPr/>
          <p:nvPr/>
        </p:nvSpPr>
        <p:spPr>
          <a:xfrm>
            <a:off x="7168896" y="3675888"/>
            <a:ext cx="1371600" cy="475488"/>
          </a:xfrm>
          <a:prstGeom prst="roundRect">
            <a:avLst>
              <a:gd name="adj" fmla="val 34615"/>
            </a:avLst>
          </a:prstGeom>
          <a:solidFill>
            <a:srgbClr val="06D6A0"/>
          </a:solidFill>
          <a:ln w="12700">
            <a:solidFill>
              <a:srgbClr val="06D6A0"/>
            </a:solidFill>
            <a:prstDash val="solid"/>
          </a:ln>
        </p:spPr>
      </p:sp>
      <p:sp>
        <p:nvSpPr>
          <p:cNvPr id="34" name="Text 32"/>
          <p:cNvSpPr/>
          <p:nvPr/>
        </p:nvSpPr>
        <p:spPr>
          <a:xfrm>
            <a:off x="7168896" y="3675888"/>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rPr>
              <a:t>ALL AI! ✓</a:t>
            </a:r>
            <a:endParaRPr lang="en-US" sz="1100" dirty="0"/>
          </a:p>
        </p:txBody>
      </p:sp>
      <p:sp>
        <p:nvSpPr>
          <p:cNvPr id="35" name="Text 33"/>
          <p:cNvSpPr/>
          <p:nvPr/>
        </p:nvSpPr>
        <p:spPr>
          <a:xfrm>
            <a:off x="457200" y="4736592"/>
            <a:ext cx="8229600" cy="310896"/>
          </a:xfrm>
          <a:prstGeom prst="rect">
            <a:avLst/>
          </a:prstGeom>
          <a:noFill/>
          <a:ln/>
        </p:spPr>
        <p:txBody>
          <a:bodyPr wrap="square" lIns="0" tIns="0" rIns="0" bIns="0" rtlCol="0" anchor="ctr"/>
          <a:lstStyle/>
          <a:p>
            <a:pPr algn="ctr" indent="0" marL="0">
              <a:buNone/>
            </a:pPr>
            <a:r>
              <a:rPr lang="en-US" sz="1300" b="1" i="1" dirty="0">
                <a:solidFill>
                  <a:srgbClr val="FFD166"/>
                </a:solidFill>
              </a:rPr>
              <a:t>"AI is not in the future. It is already in your breakfast."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0" y="-731520"/>
            <a:ext cx="4572000" cy="4572000"/>
          </a:xfrm>
          <a:prstGeom prst="ellipse">
            <a:avLst/>
          </a:prstGeom>
          <a:solidFill>
            <a:srgbClr val="1A2468"/>
          </a:solidFill>
          <a:ln w="12700">
            <a:solidFill>
              <a:srgbClr val="1A2468"/>
            </a:solidFill>
            <a:prstDash val="solid"/>
          </a:ln>
        </p:spPr>
      </p:sp>
      <p:sp>
        <p:nvSpPr>
          <p:cNvPr id="3" name="Shape 1"/>
          <p:cNvSpPr/>
          <p:nvPr/>
        </p:nvSpPr>
        <p:spPr>
          <a:xfrm>
            <a:off x="-457200" y="3657600"/>
            <a:ext cx="3200400" cy="3200400"/>
          </a:xfrm>
          <a:prstGeom prst="ellipse">
            <a:avLst/>
          </a:prstGeom>
          <a:solidFill>
            <a:srgbClr val="1A2468"/>
          </a:solidFill>
          <a:ln w="12700">
            <a:solidFill>
              <a:srgbClr val="1A2468"/>
            </a:solidFill>
            <a:prstDash val="solid"/>
          </a:ln>
        </p:spPr>
      </p:sp>
      <p:sp>
        <p:nvSpPr>
          <p:cNvPr id="4" name="Shape 2"/>
          <p:cNvSpPr/>
          <p:nvPr/>
        </p:nvSpPr>
        <p:spPr>
          <a:xfrm>
            <a:off x="8686800" y="4114800"/>
            <a:ext cx="1828800" cy="1828800"/>
          </a:xfrm>
          <a:prstGeom prst="ellipse">
            <a:avLst/>
          </a:prstGeom>
          <a:solidFill>
            <a:srgbClr val="2D3A8C"/>
          </a:solidFill>
          <a:ln w="12700">
            <a:solidFill>
              <a:srgbClr val="2D3A8C"/>
            </a:solidFill>
            <a:prstDash val="solid"/>
          </a:ln>
        </p:spPr>
      </p:sp>
      <p:sp>
        <p:nvSpPr>
          <p:cNvPr id="5" name="Shape 3"/>
          <p:cNvSpPr/>
          <p:nvPr/>
        </p:nvSpPr>
        <p:spPr>
          <a:xfrm>
            <a:off x="457200" y="365760"/>
            <a:ext cx="457200" cy="457200"/>
          </a:xfrm>
          <a:prstGeom prst="ellipse">
            <a:avLst/>
          </a:prstGeom>
          <a:solidFill>
            <a:srgbClr val="06D6A0"/>
          </a:solidFill>
          <a:ln w="12700">
            <a:solidFill>
              <a:srgbClr val="06D6A0"/>
            </a:solidFill>
            <a:prstDash val="solid"/>
          </a:ln>
        </p:spPr>
      </p:sp>
      <p:sp>
        <p:nvSpPr>
          <p:cNvPr id="6" name="Shape 4"/>
          <p:cNvSpPr/>
          <p:nvPr/>
        </p:nvSpPr>
        <p:spPr>
          <a:xfrm>
            <a:off x="548640" y="411480"/>
            <a:ext cx="2286000" cy="347472"/>
          </a:xfrm>
          <a:prstGeom prst="roundRect">
            <a:avLst>
              <a:gd name="adj" fmla="val 47368"/>
            </a:avLst>
          </a:prstGeom>
          <a:solidFill>
            <a:srgbClr val="2D3A8C"/>
          </a:solidFill>
          <a:ln w="12700">
            <a:solidFill>
              <a:srgbClr val="2D3A8C"/>
            </a:solidFill>
            <a:prstDash val="solid"/>
          </a:ln>
        </p:spPr>
      </p:sp>
      <p:sp>
        <p:nvSpPr>
          <p:cNvPr id="7" name="Text 5"/>
          <p:cNvSpPr/>
          <p:nvPr/>
        </p:nvSpPr>
        <p:spPr>
          <a:xfrm>
            <a:off x="548640" y="41148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MODULE 1  ·  15 – 60 MIN</a:t>
            </a:r>
            <a:endParaRPr lang="en-US" sz="1000" dirty="0"/>
          </a:p>
        </p:txBody>
      </p:sp>
      <p:sp>
        <p:nvSpPr>
          <p:cNvPr id="8" name="Text 6"/>
          <p:cNvSpPr/>
          <p:nvPr/>
        </p:nvSpPr>
        <p:spPr>
          <a:xfrm>
            <a:off x="457200" y="868680"/>
            <a:ext cx="1280160" cy="1005840"/>
          </a:xfrm>
          <a:prstGeom prst="rect">
            <a:avLst/>
          </a:prstGeom>
          <a:noFill/>
          <a:ln/>
        </p:spPr>
        <p:txBody>
          <a:bodyPr wrap="square" lIns="0" tIns="0" rIns="0" bIns="0" rtlCol="0" anchor="ctr"/>
          <a:lstStyle/>
          <a:p>
            <a:pPr algn="l" indent="0" marL="0">
              <a:buNone/>
            </a:pPr>
            <a:r>
              <a:rPr lang="en-US" sz="5800" dirty="0">
                <a:solidFill>
                  <a:srgbClr val="000000"/>
                </a:solidFill>
              </a:rPr>
              <a:t>🧠</a:t>
            </a:r>
            <a:endParaRPr lang="en-US" sz="5800" dirty="0"/>
          </a:p>
        </p:txBody>
      </p:sp>
      <p:sp>
        <p:nvSpPr>
          <p:cNvPr id="9" name="Text 7"/>
          <p:cNvSpPr/>
          <p:nvPr/>
        </p:nvSpPr>
        <p:spPr>
          <a:xfrm>
            <a:off x="548640" y="914400"/>
            <a:ext cx="8229600" cy="2377440"/>
          </a:xfrm>
          <a:prstGeom prst="rect">
            <a:avLst/>
          </a:prstGeom>
          <a:noFill/>
          <a:ln/>
        </p:spPr>
        <p:txBody>
          <a:bodyPr wrap="square" lIns="0" tIns="0" rIns="0" bIns="0" rtlCol="0" anchor="ctr"/>
          <a:lstStyle/>
          <a:p>
            <a:pPr algn="l" indent="0" marL="0">
              <a:buNone/>
            </a:pPr>
            <a:r>
              <a:rPr lang="en-US" sz="5800" b="1" dirty="0">
                <a:solidFill>
                  <a:srgbClr val="FFFFFF"/>
                </a:solidFill>
              </a:rPr>
              <a:t>How Does</a:t>
            </a:r>
            <a:endParaRPr lang="en-US" sz="5800" dirty="0"/>
          </a:p>
          <a:p>
            <a:pPr algn="l" indent="0" marL="0">
              <a:buNone/>
            </a:pPr>
            <a:r>
              <a:rPr lang="en-US" sz="5800" b="1" dirty="0">
                <a:solidFill>
                  <a:srgbClr val="FFFFFF"/>
                </a:solidFill>
              </a:rPr>
              <a:t>AI Learn?</a:t>
            </a:r>
            <a:endParaRPr lang="en-US" sz="5800" dirty="0"/>
          </a:p>
        </p:txBody>
      </p:sp>
      <p:sp>
        <p:nvSpPr>
          <p:cNvPr id="10" name="Text 8"/>
          <p:cNvSpPr/>
          <p:nvPr/>
        </p:nvSpPr>
        <p:spPr>
          <a:xfrm>
            <a:off x="548640" y="3401568"/>
            <a:ext cx="7772400" cy="457200"/>
          </a:xfrm>
          <a:prstGeom prst="rect">
            <a:avLst/>
          </a:prstGeom>
          <a:noFill/>
          <a:ln/>
        </p:spPr>
        <p:txBody>
          <a:bodyPr wrap="square" lIns="0" tIns="0" rIns="0" bIns="0" rtlCol="0" anchor="ctr"/>
          <a:lstStyle/>
          <a:p>
            <a:pPr algn="l" indent="0" marL="0">
              <a:buNone/>
            </a:pPr>
            <a:r>
              <a:rPr lang="en-US" sz="1800" i="1" dirty="0">
                <a:solidFill>
                  <a:srgbClr val="8B9FD4"/>
                </a:solidFill>
              </a:rPr>
              <a:t>No school. No parents. No eyes. And yet…</a:t>
            </a:r>
            <a:endParaRPr lang="en-US" sz="1800" dirty="0"/>
          </a:p>
        </p:txBody>
      </p:sp>
      <p:sp>
        <p:nvSpPr>
          <p:cNvPr id="11" name="Shape 9"/>
          <p:cNvSpPr/>
          <p:nvPr/>
        </p:nvSpPr>
        <p:spPr>
          <a:xfrm>
            <a:off x="0" y="4663440"/>
            <a:ext cx="9144000" cy="480060"/>
          </a:xfrm>
          <a:prstGeom prst="rect">
            <a:avLst/>
          </a:prstGeom>
          <a:solidFill>
            <a:srgbClr val="2D3A8C"/>
          </a:solidFill>
          <a:ln w="12700">
            <a:solidFill>
              <a:srgbClr val="2D3A8C"/>
            </a:solidFill>
            <a:prstDash val="solid"/>
          </a:ln>
        </p:spPr>
      </p:sp>
      <p:sp>
        <p:nvSpPr>
          <p:cNvPr id="12" name="Text 10"/>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06D6A0"/>
                </a:solidFill>
              </a:rPr>
              <a:t>Superpower activate? → ACTIVATE!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1F5E"/>
          </a:solidFill>
          <a:ln w="12700">
            <a:solidFill>
              <a:srgbClr val="1A1F5E"/>
            </a:solidFill>
            <a:prstDash val="solid"/>
          </a:ln>
        </p:spPr>
      </p:sp>
      <p:sp>
        <p:nvSpPr>
          <p:cNvPr id="3" name="Shape 1"/>
          <p:cNvSpPr/>
          <p:nvPr/>
        </p:nvSpPr>
        <p:spPr>
          <a:xfrm>
            <a:off x="548640" y="201168"/>
            <a:ext cx="8046720" cy="1664208"/>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4" name="Shape 2"/>
          <p:cNvSpPr/>
          <p:nvPr/>
        </p:nvSpPr>
        <p:spPr>
          <a:xfrm>
            <a:off x="548640" y="201168"/>
            <a:ext cx="8046720" cy="91440"/>
          </a:xfrm>
          <a:prstGeom prst="rect">
            <a:avLst/>
          </a:prstGeom>
          <a:solidFill>
            <a:srgbClr val="1A1F5E"/>
          </a:solidFill>
          <a:ln w="12700">
            <a:solidFill>
              <a:srgbClr val="1A1F5E"/>
            </a:solidFill>
            <a:prstDash val="solid"/>
          </a:ln>
        </p:spPr>
      </p:sp>
      <p:sp>
        <p:nvSpPr>
          <p:cNvPr id="5" name="Text 3"/>
          <p:cNvSpPr/>
          <p:nvPr/>
        </p:nvSpPr>
        <p:spPr>
          <a:xfrm>
            <a:off x="731520" y="347472"/>
            <a:ext cx="7680960" cy="1371600"/>
          </a:xfrm>
          <a:prstGeom prst="rect">
            <a:avLst/>
          </a:prstGeom>
          <a:noFill/>
          <a:ln/>
        </p:spPr>
        <p:txBody>
          <a:bodyPr wrap="square" lIns="0" tIns="0" rIns="0" bIns="0" rtlCol="0" anchor="ctr"/>
          <a:lstStyle/>
          <a:p>
            <a:pPr algn="ctr" indent="0" marL="0">
              <a:buNone/>
            </a:pPr>
            <a:r>
              <a:rPr lang="en-US" sz="2600" b="1" dirty="0">
                <a:solidFill>
                  <a:srgbClr val="1A1F5E"/>
                </a:solidFill>
              </a:rPr>
              <a:t>"If a computer has no feelings, no eyes, no school —</a:t>
            </a:r>
            <a:endParaRPr lang="en-US" sz="2600" dirty="0"/>
          </a:p>
          <a:p>
            <a:pPr algn="ctr" indent="0" marL="0">
              <a:buNone/>
            </a:pPr>
            <a:r>
              <a:rPr lang="en-US" sz="2600" b="1" dirty="0">
                <a:solidFill>
                  <a:srgbClr val="1A1F5E"/>
                </a:solidFill>
              </a:rPr>
              <a:t>how does it learn anything?"</a:t>
            </a:r>
            <a:endParaRPr lang="en-US" sz="2600" dirty="0"/>
          </a:p>
        </p:txBody>
      </p:sp>
      <p:sp>
        <p:nvSpPr>
          <p:cNvPr id="6" name="Shape 4"/>
          <p:cNvSpPr/>
          <p:nvPr/>
        </p:nvSpPr>
        <p:spPr>
          <a:xfrm>
            <a:off x="548640" y="2103120"/>
            <a:ext cx="3977640" cy="713232"/>
          </a:xfrm>
          <a:prstGeom prst="rect">
            <a:avLst/>
          </a:prstGeom>
          <a:solidFill>
            <a:srgbClr val="F0F4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548640" y="2103120"/>
            <a:ext cx="73152" cy="713232"/>
          </a:xfrm>
          <a:prstGeom prst="rect">
            <a:avLst/>
          </a:prstGeom>
          <a:solidFill>
            <a:srgbClr val="FF6B35"/>
          </a:solidFill>
          <a:ln w="12700">
            <a:solidFill>
              <a:srgbClr val="FF6B35"/>
            </a:solidFill>
            <a:prstDash val="solid"/>
          </a:ln>
        </p:spPr>
      </p:sp>
      <p:sp>
        <p:nvSpPr>
          <p:cNvPr id="8" name="Text 6"/>
          <p:cNvSpPr/>
          <p:nvPr/>
        </p:nvSpPr>
        <p:spPr>
          <a:xfrm>
            <a:off x="731520" y="2103120"/>
            <a:ext cx="3657600" cy="713232"/>
          </a:xfrm>
          <a:prstGeom prst="rect">
            <a:avLst/>
          </a:prstGeom>
          <a:noFill/>
          <a:ln/>
        </p:spPr>
        <p:txBody>
          <a:bodyPr wrap="square" lIns="0" tIns="0" rIns="0" bIns="0" rtlCol="0" anchor="ctr"/>
          <a:lstStyle/>
          <a:p>
            <a:pPr indent="0" marL="0">
              <a:buNone/>
            </a:pPr>
            <a:r>
              <a:rPr lang="en-US" sz="1400" b="1" dirty="0">
                <a:solidFill>
                  <a:srgbClr val="1A1F5E"/>
                </a:solidFill>
              </a:rPr>
              <a:t>❓  No mummy-papa</a:t>
            </a:r>
            <a:endParaRPr lang="en-US" sz="1400" dirty="0"/>
          </a:p>
          <a:p>
            <a:pPr indent="0" marL="0">
              <a:buNone/>
            </a:pPr>
            <a:r>
              <a:rPr lang="en-US" sz="1400" b="1" dirty="0">
                <a:solidFill>
                  <a:srgbClr val="1A1F5E"/>
                </a:solidFill>
              </a:rPr>
              <a:t>to teach it</a:t>
            </a:r>
            <a:endParaRPr lang="en-US" sz="1400" dirty="0"/>
          </a:p>
        </p:txBody>
      </p:sp>
      <p:sp>
        <p:nvSpPr>
          <p:cNvPr id="9" name="Shape 7"/>
          <p:cNvSpPr/>
          <p:nvPr/>
        </p:nvSpPr>
        <p:spPr>
          <a:xfrm>
            <a:off x="4846320" y="2103120"/>
            <a:ext cx="3977640" cy="713232"/>
          </a:xfrm>
          <a:prstGeom prst="rect">
            <a:avLst/>
          </a:prstGeom>
          <a:solidFill>
            <a:srgbClr val="F0F4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0" name="Shape 8"/>
          <p:cNvSpPr/>
          <p:nvPr/>
        </p:nvSpPr>
        <p:spPr>
          <a:xfrm>
            <a:off x="4846320" y="2103120"/>
            <a:ext cx="73152" cy="713232"/>
          </a:xfrm>
          <a:prstGeom prst="rect">
            <a:avLst/>
          </a:prstGeom>
          <a:solidFill>
            <a:srgbClr val="2D3A8C"/>
          </a:solidFill>
          <a:ln w="12700">
            <a:solidFill>
              <a:srgbClr val="2D3A8C"/>
            </a:solidFill>
            <a:prstDash val="solid"/>
          </a:ln>
        </p:spPr>
      </p:sp>
      <p:sp>
        <p:nvSpPr>
          <p:cNvPr id="11" name="Text 9"/>
          <p:cNvSpPr/>
          <p:nvPr/>
        </p:nvSpPr>
        <p:spPr>
          <a:xfrm>
            <a:off x="5029200" y="2103120"/>
            <a:ext cx="3657600" cy="713232"/>
          </a:xfrm>
          <a:prstGeom prst="rect">
            <a:avLst/>
          </a:prstGeom>
          <a:noFill/>
          <a:ln/>
        </p:spPr>
        <p:txBody>
          <a:bodyPr wrap="square" lIns="0" tIns="0" rIns="0" bIns="0" rtlCol="0" anchor="ctr"/>
          <a:lstStyle/>
          <a:p>
            <a:pPr indent="0" marL="0">
              <a:buNone/>
            </a:pPr>
            <a:r>
              <a:rPr lang="en-US" sz="1400" b="1" dirty="0">
                <a:solidFill>
                  <a:srgbClr val="1A1F5E"/>
                </a:solidFill>
              </a:rPr>
              <a:t>❓  No eyes to see</a:t>
            </a:r>
            <a:endParaRPr lang="en-US" sz="1400" dirty="0"/>
          </a:p>
          <a:p>
            <a:pPr indent="0" marL="0">
              <a:buNone/>
            </a:pPr>
            <a:r>
              <a:rPr lang="en-US" sz="1400" b="1" dirty="0">
                <a:solidFill>
                  <a:srgbClr val="1A1F5E"/>
                </a:solidFill>
              </a:rPr>
              <a:t>the world</a:t>
            </a:r>
            <a:endParaRPr lang="en-US" sz="1400" dirty="0"/>
          </a:p>
        </p:txBody>
      </p:sp>
      <p:sp>
        <p:nvSpPr>
          <p:cNvPr id="12" name="Shape 10"/>
          <p:cNvSpPr/>
          <p:nvPr/>
        </p:nvSpPr>
        <p:spPr>
          <a:xfrm>
            <a:off x="548640" y="2944368"/>
            <a:ext cx="3977640" cy="713232"/>
          </a:xfrm>
          <a:prstGeom prst="rect">
            <a:avLst/>
          </a:prstGeom>
          <a:solidFill>
            <a:srgbClr val="F0F4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3" name="Shape 11"/>
          <p:cNvSpPr/>
          <p:nvPr/>
        </p:nvSpPr>
        <p:spPr>
          <a:xfrm>
            <a:off x="548640" y="2944368"/>
            <a:ext cx="73152" cy="713232"/>
          </a:xfrm>
          <a:prstGeom prst="rect">
            <a:avLst/>
          </a:prstGeom>
          <a:solidFill>
            <a:srgbClr val="06D6A0"/>
          </a:solidFill>
          <a:ln w="12700">
            <a:solidFill>
              <a:srgbClr val="06D6A0"/>
            </a:solidFill>
            <a:prstDash val="solid"/>
          </a:ln>
        </p:spPr>
      </p:sp>
      <p:sp>
        <p:nvSpPr>
          <p:cNvPr id="14" name="Text 12"/>
          <p:cNvSpPr/>
          <p:nvPr/>
        </p:nvSpPr>
        <p:spPr>
          <a:xfrm>
            <a:off x="731520" y="2944368"/>
            <a:ext cx="3657600" cy="713232"/>
          </a:xfrm>
          <a:prstGeom prst="rect">
            <a:avLst/>
          </a:prstGeom>
          <a:noFill/>
          <a:ln/>
        </p:spPr>
        <p:txBody>
          <a:bodyPr wrap="square" lIns="0" tIns="0" rIns="0" bIns="0" rtlCol="0" anchor="ctr"/>
          <a:lstStyle/>
          <a:p>
            <a:pPr indent="0" marL="0">
              <a:buNone/>
            </a:pPr>
            <a:r>
              <a:rPr lang="en-US" sz="1400" b="1" dirty="0">
                <a:solidFill>
                  <a:srgbClr val="1A1F5E"/>
                </a:solidFill>
              </a:rPr>
              <a:t>❓  No school</a:t>
            </a:r>
            <a:endParaRPr lang="en-US" sz="1400" dirty="0"/>
          </a:p>
          <a:p>
            <a:pPr indent="0" marL="0">
              <a:buNone/>
            </a:pPr>
            <a:r>
              <a:rPr lang="en-US" sz="1400" b="1" dirty="0">
                <a:solidFill>
                  <a:srgbClr val="1A1F5E"/>
                </a:solidFill>
              </a:rPr>
              <a:t>to attend</a:t>
            </a:r>
            <a:endParaRPr lang="en-US" sz="1400" dirty="0"/>
          </a:p>
        </p:txBody>
      </p:sp>
      <p:sp>
        <p:nvSpPr>
          <p:cNvPr id="15" name="Shape 13"/>
          <p:cNvSpPr/>
          <p:nvPr/>
        </p:nvSpPr>
        <p:spPr>
          <a:xfrm>
            <a:off x="4846320" y="2944368"/>
            <a:ext cx="3977640" cy="713232"/>
          </a:xfrm>
          <a:prstGeom prst="rect">
            <a:avLst/>
          </a:prstGeom>
          <a:solidFill>
            <a:srgbClr val="F0F4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6" name="Shape 14"/>
          <p:cNvSpPr/>
          <p:nvPr/>
        </p:nvSpPr>
        <p:spPr>
          <a:xfrm>
            <a:off x="4846320" y="2944368"/>
            <a:ext cx="73152" cy="713232"/>
          </a:xfrm>
          <a:prstGeom prst="rect">
            <a:avLst/>
          </a:prstGeom>
          <a:solidFill>
            <a:srgbClr val="EF4444"/>
          </a:solidFill>
          <a:ln w="12700">
            <a:solidFill>
              <a:srgbClr val="EF4444"/>
            </a:solidFill>
            <a:prstDash val="solid"/>
          </a:ln>
        </p:spPr>
      </p:sp>
      <p:sp>
        <p:nvSpPr>
          <p:cNvPr id="17" name="Text 15"/>
          <p:cNvSpPr/>
          <p:nvPr/>
        </p:nvSpPr>
        <p:spPr>
          <a:xfrm>
            <a:off x="5029200" y="2944368"/>
            <a:ext cx="3657600" cy="713232"/>
          </a:xfrm>
          <a:prstGeom prst="rect">
            <a:avLst/>
          </a:prstGeom>
          <a:noFill/>
          <a:ln/>
        </p:spPr>
        <p:txBody>
          <a:bodyPr wrap="square" lIns="0" tIns="0" rIns="0" bIns="0" rtlCol="0" anchor="ctr"/>
          <a:lstStyle/>
          <a:p>
            <a:pPr indent="0" marL="0">
              <a:buNone/>
            </a:pPr>
            <a:r>
              <a:rPr lang="en-US" sz="1400" b="1" dirty="0">
                <a:solidFill>
                  <a:srgbClr val="1A1F5E"/>
                </a:solidFill>
              </a:rPr>
              <a:t>❓  No feelings</a:t>
            </a:r>
            <a:endParaRPr lang="en-US" sz="1400" dirty="0"/>
          </a:p>
          <a:p>
            <a:pPr indent="0" marL="0">
              <a:buNone/>
            </a:pPr>
            <a:r>
              <a:rPr lang="en-US" sz="1400" b="1" dirty="0">
                <a:solidFill>
                  <a:srgbClr val="1A1F5E"/>
                </a:solidFill>
              </a:rPr>
              <a:t>to feel</a:t>
            </a:r>
            <a:endParaRPr lang="en-US" sz="1400" dirty="0"/>
          </a:p>
        </p:txBody>
      </p:sp>
      <p:sp>
        <p:nvSpPr>
          <p:cNvPr id="18" name="Text 16"/>
          <p:cNvSpPr/>
          <p:nvPr/>
        </p:nvSpPr>
        <p:spPr>
          <a:xfrm>
            <a:off x="0" y="3950208"/>
            <a:ext cx="9144000" cy="914400"/>
          </a:xfrm>
          <a:prstGeom prst="rect">
            <a:avLst/>
          </a:prstGeom>
          <a:noFill/>
          <a:ln/>
        </p:spPr>
        <p:txBody>
          <a:bodyPr wrap="square" lIns="0" tIns="0" rIns="0" bIns="0" rtlCol="0" anchor="ctr"/>
          <a:lstStyle/>
          <a:p>
            <a:pPr algn="ctr" indent="0" marL="0">
              <a:buNone/>
            </a:pPr>
            <a:r>
              <a:rPr lang="en-US" sz="5400" b="1" dirty="0">
                <a:solidFill>
                  <a:srgbClr val="FF6B35"/>
                </a:solidFill>
              </a:rPr>
              <a:t>...so how?</a:t>
            </a:r>
            <a:endParaRPr lang="en-US" sz="5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3A8C"/>
          </a:solidFill>
          <a:ln w="12700">
            <a:solidFill>
              <a:srgbClr val="2D3A8C"/>
            </a:solidFill>
            <a:prstDash val="solid"/>
          </a:ln>
        </p:spPr>
      </p:sp>
      <p:sp>
        <p:nvSpPr>
          <p:cNvPr id="3" name="Shape 1"/>
          <p:cNvSpPr/>
          <p:nvPr/>
        </p:nvSpPr>
        <p:spPr>
          <a:xfrm>
            <a:off x="548640" y="164592"/>
            <a:ext cx="2011680" cy="320040"/>
          </a:xfrm>
          <a:prstGeom prst="roundRect">
            <a:avLst>
              <a:gd name="adj" fmla="val 51429"/>
            </a:avLst>
          </a:prstGeom>
          <a:solidFill>
            <a:srgbClr val="2D3A8C"/>
          </a:solidFill>
          <a:ln w="12700">
            <a:solidFill>
              <a:srgbClr val="2D3A8C"/>
            </a:solidFill>
            <a:prstDash val="solid"/>
          </a:ln>
        </p:spPr>
      </p:sp>
      <p:sp>
        <p:nvSpPr>
          <p:cNvPr id="4" name="Text 2"/>
          <p:cNvSpPr/>
          <p:nvPr/>
        </p:nvSpPr>
        <p:spPr>
          <a:xfrm>
            <a:off x="548640" y="164592"/>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rPr>
              <a:t>ANALOGY 1 · 10 MIN</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600" b="1" dirty="0">
                <a:solidFill>
                  <a:srgbClr val="1A1F5E"/>
                </a:solidFill>
              </a:rPr>
              <a:t>👶  The Baby Brain</a:t>
            </a:r>
            <a:endParaRPr lang="en-US" sz="3600" dirty="0"/>
          </a:p>
        </p:txBody>
      </p:sp>
      <p:sp>
        <p:nvSpPr>
          <p:cNvPr id="6" name="Text 4"/>
          <p:cNvSpPr/>
          <p:nvPr/>
        </p:nvSpPr>
        <p:spPr>
          <a:xfrm>
            <a:off x="548640" y="1371600"/>
            <a:ext cx="8229600" cy="566928"/>
          </a:xfrm>
          <a:prstGeom prst="rect">
            <a:avLst/>
          </a:prstGeom>
          <a:noFill/>
          <a:ln/>
        </p:spPr>
        <p:txBody>
          <a:bodyPr wrap="square" lIns="0" tIns="0" rIns="0" bIns="0" rtlCol="0" anchor="ctr"/>
          <a:lstStyle/>
          <a:p>
            <a:pPr indent="0" marL="0">
              <a:buNone/>
            </a:pPr>
            <a:r>
              <a:rPr lang="en-US" sz="2200" dirty="0">
                <a:solidFill>
                  <a:srgbClr val="1A1F5E"/>
                </a:solidFill>
              </a:rPr>
              <a:t>Think about a baby seeing a cat for the first time.</a:t>
            </a:r>
            <a:endParaRPr lang="en-US" sz="2200" dirty="0"/>
          </a:p>
        </p:txBody>
      </p:sp>
      <p:sp>
        <p:nvSpPr>
          <p:cNvPr id="7" name="Shape 5"/>
          <p:cNvSpPr/>
          <p:nvPr/>
        </p:nvSpPr>
        <p:spPr>
          <a:xfrm>
            <a:off x="457200" y="2084832"/>
            <a:ext cx="8229600" cy="2176272"/>
          </a:xfrm>
          <a:prstGeom prst="rect">
            <a:avLst/>
          </a:prstGeom>
          <a:solidFill>
            <a:srgbClr val="FFF4EE"/>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8" name="Shape 6"/>
          <p:cNvSpPr/>
          <p:nvPr/>
        </p:nvSpPr>
        <p:spPr>
          <a:xfrm>
            <a:off x="457200" y="2084832"/>
            <a:ext cx="8229600" cy="91440"/>
          </a:xfrm>
          <a:prstGeom prst="rect">
            <a:avLst/>
          </a:prstGeom>
          <a:solidFill>
            <a:srgbClr val="FF6B35"/>
          </a:solidFill>
          <a:ln w="12700">
            <a:solidFill>
              <a:srgbClr val="FF6B35"/>
            </a:solidFill>
            <a:prstDash val="solid"/>
          </a:ln>
        </p:spPr>
      </p:sp>
      <p:sp>
        <p:nvSpPr>
          <p:cNvPr id="9" name="Text 7"/>
          <p:cNvSpPr/>
          <p:nvPr/>
        </p:nvSpPr>
        <p:spPr>
          <a:xfrm>
            <a:off x="457200" y="2240280"/>
            <a:ext cx="1828800" cy="1828800"/>
          </a:xfrm>
          <a:prstGeom prst="rect">
            <a:avLst/>
          </a:prstGeom>
          <a:noFill/>
          <a:ln/>
        </p:spPr>
        <p:txBody>
          <a:bodyPr wrap="square" lIns="0" tIns="0" rIns="0" bIns="0" rtlCol="0" anchor="ctr"/>
          <a:lstStyle/>
          <a:p>
            <a:pPr algn="ctr" indent="0" marL="0">
              <a:buNone/>
            </a:pPr>
            <a:r>
              <a:rPr lang="en-US" sz="7200" dirty="0">
                <a:solidFill>
                  <a:srgbClr val="000000"/>
                </a:solidFill>
              </a:rPr>
              <a:t>🐱</a:t>
            </a:r>
            <a:endParaRPr lang="en-US" sz="7200" dirty="0"/>
          </a:p>
        </p:txBody>
      </p:sp>
      <p:sp>
        <p:nvSpPr>
          <p:cNvPr id="10" name="Text 8"/>
          <p:cNvSpPr/>
          <p:nvPr/>
        </p:nvSpPr>
        <p:spPr>
          <a:xfrm>
            <a:off x="2423160" y="2331720"/>
            <a:ext cx="5943600" cy="1645920"/>
          </a:xfrm>
          <a:prstGeom prst="rect">
            <a:avLst/>
          </a:prstGeom>
          <a:noFill/>
          <a:ln/>
        </p:spPr>
        <p:txBody>
          <a:bodyPr wrap="square" lIns="0" tIns="0" rIns="0" bIns="0" rtlCol="0" anchor="ctr"/>
          <a:lstStyle/>
          <a:p>
            <a:pPr indent="0" marL="0">
              <a:buNone/>
            </a:pPr>
            <a:r>
              <a:rPr lang="en-US" sz="1800" b="1" dirty="0">
                <a:solidFill>
                  <a:srgbClr val="1A1F5E"/>
                </a:solidFill>
              </a:rPr>
              <a:t>The baby has NEVER seen a cat before.</a:t>
            </a:r>
            <a:endParaRPr lang="en-US" sz="1800" dirty="0"/>
          </a:p>
          <a:p>
            <a:pPr indent="0" marL="0">
              <a:buNone/>
            </a:pPr>
            <a:r>
              <a:rPr lang="en-US" sz="1800" b="1" dirty="0">
                <a:solidFill>
                  <a:srgbClr val="1A1F5E"/>
                </a:solidFill>
              </a:rPr>
              <a:t>It has no word for it.</a:t>
            </a:r>
            <a:endParaRPr lang="en-US" sz="1800" dirty="0"/>
          </a:p>
          <a:p>
            <a:pPr indent="0" marL="0">
              <a:buNone/>
            </a:pPr>
            <a:r>
              <a:rPr lang="en-US" sz="1800" b="1" dirty="0">
                <a:solidFill>
                  <a:srgbClr val="1A1F5E"/>
                </a:solidFill>
              </a:rPr>
              <a:t>No concept. No label. Nothing.</a:t>
            </a:r>
            <a:endParaRPr lang="en-US" sz="1800" dirty="0"/>
          </a:p>
        </p:txBody>
      </p:sp>
      <p:sp>
        <p:nvSpPr>
          <p:cNvPr id="11" name="Text 9"/>
          <p:cNvSpPr/>
          <p:nvPr/>
        </p:nvSpPr>
        <p:spPr>
          <a:xfrm>
            <a:off x="457200" y="4434840"/>
            <a:ext cx="8229600" cy="457200"/>
          </a:xfrm>
          <a:prstGeom prst="rect">
            <a:avLst/>
          </a:prstGeom>
          <a:noFill/>
          <a:ln/>
        </p:spPr>
        <p:txBody>
          <a:bodyPr wrap="square" lIns="0" tIns="0" rIns="0" bIns="0" rtlCol="0" anchor="ctr"/>
          <a:lstStyle/>
          <a:p>
            <a:pPr algn="ctr" indent="0" marL="0">
              <a:buNone/>
            </a:pPr>
            <a:r>
              <a:rPr lang="en-US" sz="1500" i="1" dirty="0">
                <a:solidFill>
                  <a:srgbClr val="94A3B8"/>
                </a:solidFill>
              </a:rPr>
              <a:t>What does the baby do?  →  It watches. It absorbs. It waits.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3A8C"/>
          </a:solidFill>
          <a:ln w="12700">
            <a:solidFill>
              <a:srgbClr val="2D3A8C"/>
            </a:solidFill>
            <a:prstDash val="solid"/>
          </a:ln>
        </p:spPr>
      </p:sp>
      <p:sp>
        <p:nvSpPr>
          <p:cNvPr id="3" name="Shape 1"/>
          <p:cNvSpPr/>
          <p:nvPr/>
        </p:nvSpPr>
        <p:spPr>
          <a:xfrm>
            <a:off x="548640" y="164592"/>
            <a:ext cx="2011680" cy="320040"/>
          </a:xfrm>
          <a:prstGeom prst="roundRect">
            <a:avLst>
              <a:gd name="adj" fmla="val 51429"/>
            </a:avLst>
          </a:prstGeom>
          <a:solidFill>
            <a:srgbClr val="2D3A8C"/>
          </a:solidFill>
          <a:ln w="12700">
            <a:solidFill>
              <a:srgbClr val="2D3A8C"/>
            </a:solidFill>
            <a:prstDash val="solid"/>
          </a:ln>
        </p:spPr>
      </p:sp>
      <p:sp>
        <p:nvSpPr>
          <p:cNvPr id="4" name="Text 2"/>
          <p:cNvSpPr/>
          <p:nvPr/>
        </p:nvSpPr>
        <p:spPr>
          <a:xfrm>
            <a:off x="548640" y="164592"/>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rPr>
              <a:t>ANALOGY 1 · 10 MIN</a:t>
            </a:r>
            <a:endParaRPr lang="en-US" sz="1000" dirty="0"/>
          </a:p>
        </p:txBody>
      </p:sp>
      <p:sp>
        <p:nvSpPr>
          <p:cNvPr id="5" name="Text 3"/>
          <p:cNvSpPr/>
          <p:nvPr/>
        </p:nvSpPr>
        <p:spPr>
          <a:xfrm>
            <a:off x="548640" y="566928"/>
            <a:ext cx="8229600" cy="566928"/>
          </a:xfrm>
          <a:prstGeom prst="rect">
            <a:avLst/>
          </a:prstGeom>
          <a:noFill/>
          <a:ln/>
        </p:spPr>
        <p:txBody>
          <a:bodyPr wrap="square" lIns="0" tIns="0" rIns="0" bIns="0" rtlCol="0" anchor="ctr"/>
          <a:lstStyle/>
          <a:p>
            <a:pPr indent="0" marL="0">
              <a:buNone/>
            </a:pPr>
            <a:r>
              <a:rPr lang="en-US" sz="2600" b="1" dirty="0">
                <a:solidFill>
                  <a:srgbClr val="1A1F5E"/>
                </a:solidFill>
              </a:rPr>
              <a:t>👶  The Baby Brain — How learning actually works</a:t>
            </a:r>
            <a:endParaRPr lang="en-US" sz="2600" dirty="0"/>
          </a:p>
        </p:txBody>
      </p:sp>
      <p:sp>
        <p:nvSpPr>
          <p:cNvPr id="6" name="Shape 4"/>
          <p:cNvSpPr/>
          <p:nvPr/>
        </p:nvSpPr>
        <p:spPr>
          <a:xfrm>
            <a:off x="457200" y="1325880"/>
            <a:ext cx="1920240" cy="2633472"/>
          </a:xfrm>
          <a:prstGeom prst="rect">
            <a:avLst/>
          </a:prstGeom>
          <a:solidFill>
            <a:srgbClr val="FFF4EE"/>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325880"/>
            <a:ext cx="1920240" cy="73152"/>
          </a:xfrm>
          <a:prstGeom prst="rect">
            <a:avLst/>
          </a:prstGeom>
          <a:solidFill>
            <a:srgbClr val="FF6B35"/>
          </a:solidFill>
          <a:ln w="12700">
            <a:solidFill>
              <a:srgbClr val="FF6B35"/>
            </a:solidFill>
            <a:prstDash val="solid"/>
          </a:ln>
        </p:spPr>
      </p:sp>
      <p:sp>
        <p:nvSpPr>
          <p:cNvPr id="8" name="Text 6"/>
          <p:cNvSpPr/>
          <p:nvPr/>
        </p:nvSpPr>
        <p:spPr>
          <a:xfrm>
            <a:off x="457200" y="1444752"/>
            <a:ext cx="1920240" cy="658368"/>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9" name="Text 7"/>
          <p:cNvSpPr/>
          <p:nvPr/>
        </p:nvSpPr>
        <p:spPr>
          <a:xfrm>
            <a:off x="548640" y="2148840"/>
            <a:ext cx="1737360" cy="502920"/>
          </a:xfrm>
          <a:prstGeom prst="rect">
            <a:avLst/>
          </a:prstGeom>
          <a:noFill/>
          <a:ln/>
        </p:spPr>
        <p:txBody>
          <a:bodyPr wrap="square" lIns="0" tIns="0" rIns="0" bIns="0" rtlCol="0" anchor="ctr"/>
          <a:lstStyle/>
          <a:p>
            <a:pPr algn="ctr" indent="0" marL="0">
              <a:buNone/>
            </a:pPr>
            <a:r>
              <a:rPr lang="en-US" sz="1300" b="1" dirty="0">
                <a:solidFill>
                  <a:srgbClr val="1A1F5E"/>
                </a:solidFill>
              </a:rPr>
              <a:t>Baby sees a cat.</a:t>
            </a:r>
            <a:endParaRPr lang="en-US" sz="1300" dirty="0"/>
          </a:p>
        </p:txBody>
      </p:sp>
      <p:sp>
        <p:nvSpPr>
          <p:cNvPr id="10" name="Text 8"/>
          <p:cNvSpPr/>
          <p:nvPr/>
        </p:nvSpPr>
        <p:spPr>
          <a:xfrm>
            <a:off x="548640" y="2697480"/>
            <a:ext cx="1737360" cy="1078992"/>
          </a:xfrm>
          <a:prstGeom prst="rect">
            <a:avLst/>
          </a:prstGeom>
          <a:noFill/>
          <a:ln/>
        </p:spPr>
        <p:txBody>
          <a:bodyPr wrap="square" lIns="0" tIns="0" rIns="0" bIns="0" rtlCol="0" anchor="ctr"/>
          <a:lstStyle/>
          <a:p>
            <a:pPr algn="ctr" indent="0" marL="0">
              <a:buNone/>
            </a:pPr>
            <a:r>
              <a:rPr lang="en-US" sz="1100" dirty="0">
                <a:solidFill>
                  <a:srgbClr val="475569"/>
                </a:solidFill>
              </a:rPr>
              <a:t>Has NO clue what it is.</a:t>
            </a:r>
            <a:endParaRPr lang="en-US" sz="1100" dirty="0"/>
          </a:p>
        </p:txBody>
      </p:sp>
      <p:sp>
        <p:nvSpPr>
          <p:cNvPr id="11" name="Shape 9"/>
          <p:cNvSpPr/>
          <p:nvPr/>
        </p:nvSpPr>
        <p:spPr>
          <a:xfrm>
            <a:off x="2542032" y="1325880"/>
            <a:ext cx="1920240" cy="2633472"/>
          </a:xfrm>
          <a:prstGeom prst="rect">
            <a:avLst/>
          </a:prstGeom>
          <a:solidFill>
            <a:srgbClr val="FEF2F2"/>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Shape 10"/>
          <p:cNvSpPr/>
          <p:nvPr/>
        </p:nvSpPr>
        <p:spPr>
          <a:xfrm>
            <a:off x="2542032" y="1325880"/>
            <a:ext cx="1920240" cy="73152"/>
          </a:xfrm>
          <a:prstGeom prst="rect">
            <a:avLst/>
          </a:prstGeom>
          <a:solidFill>
            <a:srgbClr val="EF4444"/>
          </a:solidFill>
          <a:ln w="12700">
            <a:solidFill>
              <a:srgbClr val="EF4444"/>
            </a:solidFill>
            <a:prstDash val="solid"/>
          </a:ln>
        </p:spPr>
      </p:sp>
      <p:sp>
        <p:nvSpPr>
          <p:cNvPr id="13" name="Text 11"/>
          <p:cNvSpPr/>
          <p:nvPr/>
        </p:nvSpPr>
        <p:spPr>
          <a:xfrm>
            <a:off x="2542032" y="1444752"/>
            <a:ext cx="1920240" cy="658368"/>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2633472" y="2148840"/>
            <a:ext cx="1737360" cy="502920"/>
          </a:xfrm>
          <a:prstGeom prst="rect">
            <a:avLst/>
          </a:prstGeom>
          <a:noFill/>
          <a:ln/>
        </p:spPr>
        <p:txBody>
          <a:bodyPr wrap="square" lIns="0" tIns="0" rIns="0" bIns="0" rtlCol="0" anchor="ctr"/>
          <a:lstStyle/>
          <a:p>
            <a:pPr algn="ctr" indent="0" marL="0">
              <a:buNone/>
            </a:pPr>
            <a:r>
              <a:rPr lang="en-US" sz="1300" b="1" dirty="0">
                <a:solidFill>
                  <a:srgbClr val="1A1F5E"/>
                </a:solidFill>
              </a:rPr>
              <a:t>Says 'cat!' to a dog.</a:t>
            </a:r>
            <a:endParaRPr lang="en-US" sz="1300" dirty="0"/>
          </a:p>
        </p:txBody>
      </p:sp>
      <p:sp>
        <p:nvSpPr>
          <p:cNvPr id="15" name="Text 13"/>
          <p:cNvSpPr/>
          <p:nvPr/>
        </p:nvSpPr>
        <p:spPr>
          <a:xfrm>
            <a:off x="2633472" y="2697480"/>
            <a:ext cx="1737360" cy="1078992"/>
          </a:xfrm>
          <a:prstGeom prst="rect">
            <a:avLst/>
          </a:prstGeom>
          <a:noFill/>
          <a:ln/>
        </p:spPr>
        <p:txBody>
          <a:bodyPr wrap="square" lIns="0" tIns="0" rIns="0" bIns="0" rtlCol="0" anchor="ctr"/>
          <a:lstStyle/>
          <a:p>
            <a:pPr algn="ctr" indent="0" marL="0">
              <a:buNone/>
            </a:pPr>
            <a:r>
              <a:rPr lang="en-US" sz="1100" dirty="0">
                <a:solidFill>
                  <a:srgbClr val="475569"/>
                </a:solidFill>
              </a:rPr>
              <a:t>Parent corrects → correction signal!</a:t>
            </a:r>
            <a:endParaRPr lang="en-US" sz="1100" dirty="0"/>
          </a:p>
        </p:txBody>
      </p:sp>
      <p:sp>
        <p:nvSpPr>
          <p:cNvPr id="16" name="Shape 14"/>
          <p:cNvSpPr/>
          <p:nvPr/>
        </p:nvSpPr>
        <p:spPr>
          <a:xfrm>
            <a:off x="4626864" y="1325880"/>
            <a:ext cx="1920240" cy="2633472"/>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7" name="Shape 15"/>
          <p:cNvSpPr/>
          <p:nvPr/>
        </p:nvSpPr>
        <p:spPr>
          <a:xfrm>
            <a:off x="4626864" y="1325880"/>
            <a:ext cx="1920240" cy="73152"/>
          </a:xfrm>
          <a:prstGeom prst="rect">
            <a:avLst/>
          </a:prstGeom>
          <a:solidFill>
            <a:srgbClr val="2D3A8C"/>
          </a:solidFill>
          <a:ln w="12700">
            <a:solidFill>
              <a:srgbClr val="2D3A8C"/>
            </a:solidFill>
            <a:prstDash val="solid"/>
          </a:ln>
        </p:spPr>
      </p:sp>
      <p:sp>
        <p:nvSpPr>
          <p:cNvPr id="18" name="Text 16"/>
          <p:cNvSpPr/>
          <p:nvPr/>
        </p:nvSpPr>
        <p:spPr>
          <a:xfrm>
            <a:off x="4626864" y="1444752"/>
            <a:ext cx="1920240" cy="658368"/>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9" name="Text 17"/>
          <p:cNvSpPr/>
          <p:nvPr/>
        </p:nvSpPr>
        <p:spPr>
          <a:xfrm>
            <a:off x="4718304" y="2148840"/>
            <a:ext cx="1737360" cy="502920"/>
          </a:xfrm>
          <a:prstGeom prst="rect">
            <a:avLst/>
          </a:prstGeom>
          <a:noFill/>
          <a:ln/>
        </p:spPr>
        <p:txBody>
          <a:bodyPr wrap="square" lIns="0" tIns="0" rIns="0" bIns="0" rtlCol="0" anchor="ctr"/>
          <a:lstStyle/>
          <a:p>
            <a:pPr algn="ctr" indent="0" marL="0">
              <a:buNone/>
            </a:pPr>
            <a:r>
              <a:rPr lang="en-US" sz="1300" b="1" dirty="0">
                <a:solidFill>
                  <a:srgbClr val="1A1F5E"/>
                </a:solidFill>
              </a:rPr>
              <a:t>1,000 examples later.</a:t>
            </a:r>
            <a:endParaRPr lang="en-US" sz="1300" dirty="0"/>
          </a:p>
        </p:txBody>
      </p:sp>
      <p:sp>
        <p:nvSpPr>
          <p:cNvPr id="20" name="Text 18"/>
          <p:cNvSpPr/>
          <p:nvPr/>
        </p:nvSpPr>
        <p:spPr>
          <a:xfrm>
            <a:off x="4718304" y="2697480"/>
            <a:ext cx="1737360" cy="1078992"/>
          </a:xfrm>
          <a:prstGeom prst="rect">
            <a:avLst/>
          </a:prstGeom>
          <a:noFill/>
          <a:ln/>
        </p:spPr>
        <p:txBody>
          <a:bodyPr wrap="square" lIns="0" tIns="0" rIns="0" bIns="0" rtlCol="0" anchor="ctr"/>
          <a:lstStyle/>
          <a:p>
            <a:pPr algn="ctr" indent="0" marL="0">
              <a:buNone/>
            </a:pPr>
            <a:r>
              <a:rPr lang="en-US" sz="1100" dirty="0">
                <a:solidFill>
                  <a:srgbClr val="475569"/>
                </a:solidFill>
              </a:rPr>
              <a:t>Baby recognises ANY cat — emoji, cartoon, photo.</a:t>
            </a:r>
            <a:endParaRPr lang="en-US" sz="1100" dirty="0"/>
          </a:p>
        </p:txBody>
      </p:sp>
      <p:sp>
        <p:nvSpPr>
          <p:cNvPr id="21" name="Shape 19"/>
          <p:cNvSpPr/>
          <p:nvPr/>
        </p:nvSpPr>
        <p:spPr>
          <a:xfrm>
            <a:off x="6711696" y="1325880"/>
            <a:ext cx="1920240" cy="2633472"/>
          </a:xfrm>
          <a:prstGeom prst="rect">
            <a:avLst/>
          </a:prstGeom>
          <a:solidFill>
            <a:srgbClr val="ECFDF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2" name="Shape 20"/>
          <p:cNvSpPr/>
          <p:nvPr/>
        </p:nvSpPr>
        <p:spPr>
          <a:xfrm>
            <a:off x="6711696" y="1325880"/>
            <a:ext cx="1920240" cy="73152"/>
          </a:xfrm>
          <a:prstGeom prst="rect">
            <a:avLst/>
          </a:prstGeom>
          <a:solidFill>
            <a:srgbClr val="06D6A0"/>
          </a:solidFill>
          <a:ln w="12700">
            <a:solidFill>
              <a:srgbClr val="06D6A0"/>
            </a:solidFill>
            <a:prstDash val="solid"/>
          </a:ln>
        </p:spPr>
      </p:sp>
      <p:sp>
        <p:nvSpPr>
          <p:cNvPr id="23" name="Text 21"/>
          <p:cNvSpPr/>
          <p:nvPr/>
        </p:nvSpPr>
        <p:spPr>
          <a:xfrm>
            <a:off x="6711696" y="1444752"/>
            <a:ext cx="1920240" cy="658368"/>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4" name="Text 22"/>
          <p:cNvSpPr/>
          <p:nvPr/>
        </p:nvSpPr>
        <p:spPr>
          <a:xfrm>
            <a:off x="6803136" y="2148840"/>
            <a:ext cx="1737360" cy="502920"/>
          </a:xfrm>
          <a:prstGeom prst="rect">
            <a:avLst/>
          </a:prstGeom>
          <a:noFill/>
          <a:ln/>
        </p:spPr>
        <p:txBody>
          <a:bodyPr wrap="square" lIns="0" tIns="0" rIns="0" bIns="0" rtlCol="0" anchor="ctr"/>
          <a:lstStyle/>
          <a:p>
            <a:pPr algn="ctr" indent="0" marL="0">
              <a:buNone/>
            </a:pPr>
            <a:r>
              <a:rPr lang="en-US" sz="1300" b="1" dirty="0">
                <a:solidFill>
                  <a:srgbClr val="1A1F5E"/>
                </a:solidFill>
              </a:rPr>
              <a:t>AI works the same way.</a:t>
            </a:r>
            <a:endParaRPr lang="en-US" sz="1300" dirty="0"/>
          </a:p>
        </p:txBody>
      </p:sp>
      <p:sp>
        <p:nvSpPr>
          <p:cNvPr id="25" name="Text 23"/>
          <p:cNvSpPr/>
          <p:nvPr/>
        </p:nvSpPr>
        <p:spPr>
          <a:xfrm>
            <a:off x="6803136" y="2697480"/>
            <a:ext cx="1737360" cy="1078992"/>
          </a:xfrm>
          <a:prstGeom prst="rect">
            <a:avLst/>
          </a:prstGeom>
          <a:noFill/>
          <a:ln/>
        </p:spPr>
        <p:txBody>
          <a:bodyPr wrap="square" lIns="0" tIns="0" rIns="0" bIns="0" rtlCol="0" anchor="ctr"/>
          <a:lstStyle/>
          <a:p>
            <a:pPr algn="ctr" indent="0" marL="0">
              <a:buNone/>
            </a:pPr>
            <a:r>
              <a:rPr lang="en-US" sz="1100" dirty="0">
                <a:solidFill>
                  <a:srgbClr val="475569"/>
                </a:solidFill>
              </a:rPr>
              <a:t>Data = childhood. Corrections = teachers.</a:t>
            </a:r>
            <a:endParaRPr lang="en-US" sz="1100" dirty="0"/>
          </a:p>
        </p:txBody>
      </p:sp>
      <p:sp>
        <p:nvSpPr>
          <p:cNvPr id="26" name="Shape 24"/>
          <p:cNvSpPr/>
          <p:nvPr/>
        </p:nvSpPr>
        <p:spPr>
          <a:xfrm>
            <a:off x="457200" y="4133088"/>
            <a:ext cx="8229600" cy="658368"/>
          </a:xfrm>
          <a:prstGeom prst="rect">
            <a:avLst/>
          </a:prstGeom>
          <a:solidFill>
            <a:srgbClr val="E0E7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7" name="Text 25"/>
          <p:cNvSpPr/>
          <p:nvPr/>
        </p:nvSpPr>
        <p:spPr>
          <a:xfrm>
            <a:off x="457200" y="4133088"/>
            <a:ext cx="8229600" cy="658368"/>
          </a:xfrm>
          <a:prstGeom prst="rect">
            <a:avLst/>
          </a:prstGeom>
          <a:noFill/>
          <a:ln/>
        </p:spPr>
        <p:txBody>
          <a:bodyPr wrap="square" lIns="0" tIns="0" rIns="0" bIns="0" rtlCol="0" anchor="ctr"/>
          <a:lstStyle/>
          <a:p>
            <a:pPr algn="ctr" indent="0" marL="0">
              <a:buNone/>
            </a:pPr>
            <a:r>
              <a:rPr lang="en-US" sz="1500" b="1" dirty="0">
                <a:solidFill>
                  <a:srgbClr val="2D3A8C"/>
                </a:solidFill>
              </a:rPr>
              <a:t>Data = AI's childhood  ·  Corrections = AI's parents  ·  Repetition = AI's school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w="12700">
            <a:solidFill>
              <a:srgbClr val="06D6A0"/>
            </a:solidFill>
            <a:prstDash val="solid"/>
          </a:ln>
        </p:spPr>
      </p:sp>
      <p:sp>
        <p:nvSpPr>
          <p:cNvPr id="3" name="Shape 1"/>
          <p:cNvSpPr/>
          <p:nvPr/>
        </p:nvSpPr>
        <p:spPr>
          <a:xfrm>
            <a:off x="548640" y="164592"/>
            <a:ext cx="2743200" cy="320040"/>
          </a:xfrm>
          <a:prstGeom prst="roundRect">
            <a:avLst>
              <a:gd name="adj" fmla="val 51429"/>
            </a:avLst>
          </a:prstGeom>
          <a:solidFill>
            <a:srgbClr val="06D6A0"/>
          </a:solidFill>
          <a:ln w="12700">
            <a:solidFill>
              <a:srgbClr val="06D6A0"/>
            </a:solidFill>
            <a:prstDash val="solid"/>
          </a:ln>
        </p:spPr>
      </p:sp>
      <p:sp>
        <p:nvSpPr>
          <p:cNvPr id="4" name="Text 2"/>
          <p:cNvSpPr/>
          <p:nvPr/>
        </p:nvSpPr>
        <p:spPr>
          <a:xfrm>
            <a:off x="548640" y="16459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rPr>
              <a:t>ACTIVITY · 8 MIN · GET READY!</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600" b="1" dirty="0">
                <a:solidFill>
                  <a:srgbClr val="1A1F5E"/>
                </a:solidFill>
              </a:rPr>
              <a:t>🐕  The Puppy Game</a:t>
            </a:r>
            <a:endParaRPr lang="en-US" sz="3600" dirty="0"/>
          </a:p>
        </p:txBody>
      </p:sp>
      <p:sp>
        <p:nvSpPr>
          <p:cNvPr id="6" name="Shape 4"/>
          <p:cNvSpPr/>
          <p:nvPr/>
        </p:nvSpPr>
        <p:spPr>
          <a:xfrm>
            <a:off x="457200" y="1389888"/>
            <a:ext cx="4114800" cy="2944368"/>
          </a:xfrm>
          <a:prstGeom prst="rect">
            <a:avLst/>
          </a:prstGeom>
          <a:solidFill>
            <a:srgbClr val="ECFDF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389888"/>
            <a:ext cx="4114800" cy="73152"/>
          </a:xfrm>
          <a:prstGeom prst="rect">
            <a:avLst/>
          </a:prstGeom>
          <a:solidFill>
            <a:srgbClr val="06D6A0"/>
          </a:solidFill>
          <a:ln w="12700">
            <a:solidFill>
              <a:srgbClr val="06D6A0"/>
            </a:solidFill>
            <a:prstDash val="solid"/>
          </a:ln>
        </p:spPr>
      </p:sp>
      <p:sp>
        <p:nvSpPr>
          <p:cNvPr id="8" name="Text 6"/>
          <p:cNvSpPr/>
          <p:nvPr/>
        </p:nvSpPr>
        <p:spPr>
          <a:xfrm>
            <a:off x="640080" y="1508760"/>
            <a:ext cx="3657600" cy="384048"/>
          </a:xfrm>
          <a:prstGeom prst="rect">
            <a:avLst/>
          </a:prstGeom>
          <a:noFill/>
          <a:ln/>
        </p:spPr>
        <p:txBody>
          <a:bodyPr wrap="square" lIns="0" tIns="0" rIns="0" bIns="0" rtlCol="0" anchor="ctr"/>
          <a:lstStyle/>
          <a:p>
            <a:pPr indent="0" marL="0">
              <a:buNone/>
            </a:pPr>
            <a:r>
              <a:rPr lang="en-US" sz="1500" b="1" dirty="0">
                <a:solidFill>
                  <a:srgbClr val="06D6A0"/>
                </a:solidFill>
              </a:rPr>
              <a:t>The AI Puppy 🐕</a:t>
            </a:r>
            <a:endParaRPr lang="en-US" sz="1500" dirty="0"/>
          </a:p>
        </p:txBody>
      </p:sp>
      <p:sp>
        <p:nvSpPr>
          <p:cNvPr id="9" name="Text 7"/>
          <p:cNvSpPr/>
          <p:nvPr/>
        </p:nvSpPr>
        <p:spPr>
          <a:xfrm>
            <a:off x="640080" y="1965960"/>
            <a:ext cx="3657600" cy="2176272"/>
          </a:xfrm>
          <a:prstGeom prst="rect">
            <a:avLst/>
          </a:prstGeom>
          <a:noFill/>
          <a:ln/>
        </p:spPr>
        <p:txBody>
          <a:bodyPr wrap="square" lIns="0" tIns="0" rIns="0" bIns="0" rtlCol="0" anchor="ctr"/>
          <a:lstStyle/>
          <a:p>
            <a:pPr indent="0" marL="0">
              <a:buNone/>
            </a:pPr>
            <a:r>
              <a:rPr lang="en-US" sz="1400" dirty="0">
                <a:solidFill>
                  <a:srgbClr val="1A1F5E"/>
                </a:solidFill>
              </a:rPr>
              <a:t>One student = The Puppy</a:t>
            </a:r>
            <a:endParaRPr lang="en-US" sz="1400" dirty="0"/>
          </a:p>
          <a:p>
            <a:pPr indent="0" marL="0">
              <a:buNone/>
            </a:pPr>
            <a:r>
              <a:rPr lang="en-US" sz="1400" dirty="0">
                <a:solidFill>
                  <a:srgbClr val="1A1F5E"/>
                </a:solidFill>
              </a:rPr>
              <a:t>(AI with zero training)</a:t>
            </a:r>
            <a:endParaRPr lang="en-US" sz="1400" dirty="0"/>
          </a:p>
          <a:p>
            <a:pPr indent="0" marL="0">
              <a:buNone/>
            </a:pPr>
            <a:endParaRPr lang="en-US" sz="1400" dirty="0"/>
          </a:p>
          <a:p>
            <a:pPr indent="0" marL="0">
              <a:buNone/>
            </a:pPr>
            <a:r>
              <a:rPr lang="en-US" sz="1400" dirty="0">
                <a:solidFill>
                  <a:srgbClr val="1A1F5E"/>
                </a:solidFill>
              </a:rPr>
              <a:t>Try different actions.</a:t>
            </a:r>
            <a:endParaRPr lang="en-US" sz="1400" dirty="0"/>
          </a:p>
          <a:p>
            <a:pPr indent="0" marL="0">
              <a:buNone/>
            </a:pPr>
            <a:r>
              <a:rPr lang="en-US" sz="1400" dirty="0">
                <a:solidFill>
                  <a:srgbClr val="1A1F5E"/>
                </a:solidFill>
              </a:rPr>
              <a:t>Watch for 👍 or 👎 from the class.</a:t>
            </a:r>
            <a:endParaRPr lang="en-US" sz="1400" dirty="0"/>
          </a:p>
          <a:p>
            <a:pPr indent="0" marL="0">
              <a:buNone/>
            </a:pPr>
            <a:r>
              <a:rPr lang="en-US" sz="1400" dirty="0">
                <a:solidFill>
                  <a:srgbClr val="1A1F5E"/>
                </a:solidFill>
              </a:rPr>
              <a:t>Crack the pattern!</a:t>
            </a:r>
            <a:endParaRPr lang="en-US" sz="1400" dirty="0"/>
          </a:p>
        </p:txBody>
      </p:sp>
      <p:sp>
        <p:nvSpPr>
          <p:cNvPr id="10" name="Shape 8"/>
          <p:cNvSpPr/>
          <p:nvPr/>
        </p:nvSpPr>
        <p:spPr>
          <a:xfrm>
            <a:off x="4846320" y="1389888"/>
            <a:ext cx="3840480" cy="2944368"/>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Shape 9"/>
          <p:cNvSpPr/>
          <p:nvPr/>
        </p:nvSpPr>
        <p:spPr>
          <a:xfrm>
            <a:off x="4846320" y="1389888"/>
            <a:ext cx="3840480" cy="73152"/>
          </a:xfrm>
          <a:prstGeom prst="rect">
            <a:avLst/>
          </a:prstGeom>
          <a:solidFill>
            <a:srgbClr val="2D3A8C"/>
          </a:solidFill>
          <a:ln w="12700">
            <a:solidFill>
              <a:srgbClr val="2D3A8C"/>
            </a:solidFill>
            <a:prstDash val="solid"/>
          </a:ln>
        </p:spPr>
      </p:sp>
      <p:sp>
        <p:nvSpPr>
          <p:cNvPr id="12" name="Text 10"/>
          <p:cNvSpPr/>
          <p:nvPr/>
        </p:nvSpPr>
        <p:spPr>
          <a:xfrm>
            <a:off x="5029200" y="1508760"/>
            <a:ext cx="3474720" cy="384048"/>
          </a:xfrm>
          <a:prstGeom prst="rect">
            <a:avLst/>
          </a:prstGeom>
          <a:noFill/>
          <a:ln/>
        </p:spPr>
        <p:txBody>
          <a:bodyPr wrap="square" lIns="0" tIns="0" rIns="0" bIns="0" rtlCol="0" anchor="ctr"/>
          <a:lstStyle/>
          <a:p>
            <a:pPr indent="0" marL="0">
              <a:buNone/>
            </a:pPr>
            <a:r>
              <a:rPr lang="en-US" sz="1500" b="1" dirty="0">
                <a:solidFill>
                  <a:srgbClr val="2D3A8C"/>
                </a:solidFill>
              </a:rPr>
              <a:t>The Class = Training Data 📊</a:t>
            </a:r>
            <a:endParaRPr lang="en-US" sz="1500" dirty="0"/>
          </a:p>
        </p:txBody>
      </p:sp>
      <p:sp>
        <p:nvSpPr>
          <p:cNvPr id="13" name="Text 11"/>
          <p:cNvSpPr/>
          <p:nvPr/>
        </p:nvSpPr>
        <p:spPr>
          <a:xfrm>
            <a:off x="5029200" y="1965960"/>
            <a:ext cx="3474720" cy="2176272"/>
          </a:xfrm>
          <a:prstGeom prst="rect">
            <a:avLst/>
          </a:prstGeom>
          <a:noFill/>
          <a:ln/>
        </p:spPr>
        <p:txBody>
          <a:bodyPr wrap="square" lIns="0" tIns="0" rIns="0" bIns="0" rtlCol="0" anchor="ctr"/>
          <a:lstStyle/>
          <a:p>
            <a:pPr indent="0" marL="0">
              <a:buNone/>
            </a:pPr>
            <a:r>
              <a:rPr lang="en-US" sz="1400" dirty="0">
                <a:solidFill>
                  <a:srgbClr val="1A1F5E"/>
                </a:solidFill>
              </a:rPr>
              <a:t>You hold the secret.</a:t>
            </a:r>
            <a:endParaRPr lang="en-US" sz="1400" dirty="0"/>
          </a:p>
          <a:p>
            <a:pPr indent="0" marL="0">
              <a:buNone/>
            </a:pPr>
            <a:endParaRPr lang="en-US" sz="1400" dirty="0"/>
          </a:p>
          <a:p>
            <a:pPr indent="0" marL="0">
              <a:buNone/>
            </a:pPr>
            <a:r>
              <a:rPr lang="en-US" sz="1400" dirty="0">
                <a:solidFill>
                  <a:srgbClr val="1A1F5E"/>
                </a:solidFill>
              </a:rPr>
              <a:t>Give 👍 when Puppy is close.</a:t>
            </a:r>
            <a:endParaRPr lang="en-US" sz="1400" dirty="0"/>
          </a:p>
          <a:p>
            <a:pPr indent="0" marL="0">
              <a:buNone/>
            </a:pPr>
            <a:r>
              <a:rPr lang="en-US" sz="1400" dirty="0">
                <a:solidFill>
                  <a:srgbClr val="1A1F5E"/>
                </a:solidFill>
              </a:rPr>
              <a:t>Give 👎 when Puppy is wrong.</a:t>
            </a:r>
            <a:endParaRPr lang="en-US" sz="1400" dirty="0"/>
          </a:p>
          <a:p>
            <a:pPr indent="0" marL="0">
              <a:buNone/>
            </a:pPr>
            <a:endParaRPr lang="en-US" sz="1400" dirty="0"/>
          </a:p>
          <a:p>
            <a:pPr indent="0" marL="0">
              <a:buNone/>
            </a:pPr>
            <a:r>
              <a:rPr lang="en-US" sz="1400" dirty="0">
                <a:solidFill>
                  <a:srgbClr val="1A1F5E"/>
                </a:solidFill>
              </a:rPr>
              <a:t>⚡ This is called</a:t>
            </a:r>
            <a:endParaRPr lang="en-US" sz="1400" dirty="0"/>
          </a:p>
          <a:p>
            <a:pPr indent="0" marL="0">
              <a:buNone/>
            </a:pPr>
            <a:r>
              <a:rPr lang="en-US" sz="1400" dirty="0">
                <a:solidFill>
                  <a:srgbClr val="1A1F5E"/>
                </a:solidFill>
              </a:rPr>
              <a:t>Reinforcement Learning!</a:t>
            </a:r>
            <a:endParaRPr lang="en-US" sz="1400" dirty="0"/>
          </a:p>
        </p:txBody>
      </p:sp>
      <p:sp>
        <p:nvSpPr>
          <p:cNvPr id="14" name="Text 12"/>
          <p:cNvSpPr/>
          <p:nvPr/>
        </p:nvSpPr>
        <p:spPr>
          <a:xfrm>
            <a:off x="457200" y="4498848"/>
            <a:ext cx="8229600" cy="365760"/>
          </a:xfrm>
          <a:prstGeom prst="rect">
            <a:avLst/>
          </a:prstGeom>
          <a:noFill/>
          <a:ln/>
        </p:spPr>
        <p:txBody>
          <a:bodyPr wrap="square" lIns="0" tIns="0" rIns="0" bIns="0" rtlCol="0" anchor="ctr"/>
          <a:lstStyle/>
          <a:p>
            <a:pPr algn="ctr" indent="0" marL="0">
              <a:buNone/>
            </a:pPr>
            <a:r>
              <a:rPr lang="en-US" sz="1200" b="1" i="1" dirty="0">
                <a:solidFill>
                  <a:srgbClr val="FF6B35"/>
                </a:solidFill>
              </a:rPr>
              <a:t>ChatGPT was trained EXACTLY this way — millions of humans giving thumbs up / thumbs down.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7772400" y="-457200"/>
            <a:ext cx="4114800" cy="4114800"/>
          </a:xfrm>
          <a:prstGeom prst="ellipse">
            <a:avLst/>
          </a:prstGeom>
          <a:solidFill>
            <a:srgbClr val="1E2761"/>
          </a:solidFill>
          <a:ln w="12700">
            <a:solidFill>
              <a:srgbClr val="1E2761"/>
            </a:solidFill>
            <a:prstDash val="solid"/>
          </a:ln>
        </p:spPr>
      </p:sp>
      <p:sp>
        <p:nvSpPr>
          <p:cNvPr id="3" name="Shape 1"/>
          <p:cNvSpPr/>
          <p:nvPr/>
        </p:nvSpPr>
        <p:spPr>
          <a:xfrm>
            <a:off x="-457200" y="4114800"/>
            <a:ext cx="2286000" cy="2286000"/>
          </a:xfrm>
          <a:prstGeom prst="ellipse">
            <a:avLst/>
          </a:prstGeom>
          <a:solidFill>
            <a:srgbClr val="1E2761"/>
          </a:solidFill>
          <a:ln w="12700">
            <a:solidFill>
              <a:srgbClr val="1E2761"/>
            </a:solidFill>
            <a:prstDash val="solid"/>
          </a:ln>
        </p:spPr>
      </p:sp>
      <p:sp>
        <p:nvSpPr>
          <p:cNvPr id="4" name="Shape 2"/>
          <p:cNvSpPr/>
          <p:nvPr/>
        </p:nvSpPr>
        <p:spPr>
          <a:xfrm>
            <a:off x="8412480" y="4114800"/>
            <a:ext cx="1371600" cy="1371600"/>
          </a:xfrm>
          <a:prstGeom prst="ellipse">
            <a:avLst/>
          </a:prstGeom>
          <a:solidFill>
            <a:srgbClr val="06D6A0"/>
          </a:solidFill>
          <a:ln w="12700">
            <a:solidFill>
              <a:srgbClr val="06D6A0"/>
            </a:solidFill>
            <a:prstDash val="solid"/>
          </a:ln>
        </p:spPr>
      </p:sp>
      <p:sp>
        <p:nvSpPr>
          <p:cNvPr id="5" name="Shape 3"/>
          <p:cNvSpPr/>
          <p:nvPr/>
        </p:nvSpPr>
        <p:spPr>
          <a:xfrm>
            <a:off x="548640" y="274320"/>
            <a:ext cx="2286000" cy="347472"/>
          </a:xfrm>
          <a:prstGeom prst="roundRect">
            <a:avLst>
              <a:gd name="adj" fmla="val 47368"/>
            </a:avLst>
          </a:prstGeom>
          <a:solidFill>
            <a:srgbClr val="06D6A0"/>
          </a:solidFill>
          <a:ln w="12700">
            <a:solidFill>
              <a:srgbClr val="06D6A0"/>
            </a:solidFill>
            <a:prstDash val="solid"/>
          </a:ln>
        </p:spPr>
      </p:sp>
      <p:sp>
        <p:nvSpPr>
          <p:cNvPr id="6" name="Text 4"/>
          <p:cNvSpPr/>
          <p:nvPr/>
        </p:nvSpPr>
        <p:spPr>
          <a:xfrm>
            <a:off x="548640" y="27432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LIVE DEMO · WATCH THIS!</a:t>
            </a:r>
            <a:endParaRPr lang="en-US" sz="1000" dirty="0"/>
          </a:p>
        </p:txBody>
      </p:sp>
      <p:sp>
        <p:nvSpPr>
          <p:cNvPr id="7" name="Text 5"/>
          <p:cNvSpPr/>
          <p:nvPr/>
        </p:nvSpPr>
        <p:spPr>
          <a:xfrm>
            <a:off x="548640" y="777240"/>
            <a:ext cx="8229600" cy="1828800"/>
          </a:xfrm>
          <a:prstGeom prst="rect">
            <a:avLst/>
          </a:prstGeom>
          <a:noFill/>
          <a:ln/>
        </p:spPr>
        <p:txBody>
          <a:bodyPr wrap="square" lIns="0" tIns="0" rIns="0" bIns="0" rtlCol="0" anchor="ctr"/>
          <a:lstStyle/>
          <a:p>
            <a:pPr algn="l" indent="0" marL="0">
              <a:buNone/>
            </a:pPr>
            <a:r>
              <a:rPr lang="en-US" sz="5200" b="1" dirty="0">
                <a:solidFill>
                  <a:srgbClr val="FFFFFF"/>
                </a:solidFill>
              </a:rPr>
              <a:t>Watch a brain</a:t>
            </a:r>
            <a:endParaRPr lang="en-US" sz="5200" dirty="0"/>
          </a:p>
          <a:p>
            <a:pPr algn="l" indent="0" marL="0">
              <a:buNone/>
            </a:pPr>
            <a:r>
              <a:rPr lang="en-US" sz="5200" b="1" dirty="0">
                <a:solidFill>
                  <a:srgbClr val="FFFFFF"/>
                </a:solidFill>
              </a:rPr>
              <a:t>grow in 30 sec.</a:t>
            </a:r>
            <a:endParaRPr lang="en-US" sz="5200" dirty="0"/>
          </a:p>
        </p:txBody>
      </p:sp>
      <p:sp>
        <p:nvSpPr>
          <p:cNvPr id="8" name="Text 6"/>
          <p:cNvSpPr/>
          <p:nvPr/>
        </p:nvSpPr>
        <p:spPr>
          <a:xfrm>
            <a:off x="548640" y="2743200"/>
            <a:ext cx="8229600" cy="594360"/>
          </a:xfrm>
          <a:prstGeom prst="rect">
            <a:avLst/>
          </a:prstGeom>
          <a:noFill/>
          <a:ln/>
        </p:spPr>
        <p:txBody>
          <a:bodyPr wrap="square" lIns="0" tIns="0" rIns="0" bIns="0" rtlCol="0" anchor="ctr"/>
          <a:lstStyle/>
          <a:p>
            <a:pPr algn="l" indent="0" marL="0">
              <a:buNone/>
            </a:pPr>
            <a:r>
              <a:rPr lang="en-US" sz="2800" b="1" dirty="0">
                <a:solidFill>
                  <a:srgbClr val="FFD166"/>
                </a:solidFill>
              </a:rPr>
              <a:t>Open hand  ✋  vs  Fist  ✊</a:t>
            </a:r>
            <a:endParaRPr lang="en-US" sz="2800" dirty="0"/>
          </a:p>
        </p:txBody>
      </p:sp>
      <p:sp>
        <p:nvSpPr>
          <p:cNvPr id="9" name="Shape 7">
            <a:hlinkClick r:id="rId1" tooltip=""/>
          </p:cNvPr>
          <p:cNvSpPr/>
          <p:nvPr/>
        </p:nvSpPr>
        <p:spPr>
          <a:xfrm>
            <a:off x="548640" y="3493008"/>
            <a:ext cx="5486400" cy="749808"/>
          </a:xfrm>
          <a:prstGeom prst="roundRect">
            <a:avLst>
              <a:gd name="adj" fmla="val 17073"/>
            </a:avLst>
          </a:prstGeom>
          <a:solidFill>
            <a:srgbClr val="06D6A0"/>
          </a:solidFill>
          <a:ln w="12700">
            <a:solidFill>
              <a:srgbClr val="06D6A0"/>
            </a:solidFill>
            <a:prstDash val="solid"/>
          </a:ln>
        </p:spPr>
      </p:sp>
      <p:sp>
        <p:nvSpPr>
          <p:cNvPr id="10" name="Text 8">
            <a:hlinkClick r:id="rId2" tooltip=""/>
          </p:cNvPr>
          <p:cNvSpPr/>
          <p:nvPr/>
        </p:nvSpPr>
        <p:spPr>
          <a:xfrm>
            <a:off x="548640" y="3493008"/>
            <a:ext cx="5486400" cy="749808"/>
          </a:xfrm>
          <a:prstGeom prst="rect">
            <a:avLst/>
          </a:prstGeom>
          <a:noFill/>
          <a:ln/>
        </p:spPr>
        <p:txBody>
          <a:bodyPr wrap="square" lIns="0" tIns="0" rIns="0" bIns="0" rtlCol="0" anchor="ctr"/>
          <a:lstStyle/>
          <a:p>
            <a:pPr algn="ctr" indent="0" marL="0">
              <a:buNone/>
            </a:pPr>
            <a:r>
              <a:rPr lang="en-US" sz="2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Teachable Machine</a:t>
            </a:r>
            <a:endParaRPr lang="en-US" sz="2000" dirty="0"/>
          </a:p>
        </p:txBody>
      </p:sp>
      <p:sp>
        <p:nvSpPr>
          <p:cNvPr id="11" name="Shape 9"/>
          <p:cNvSpPr/>
          <p:nvPr/>
        </p:nvSpPr>
        <p:spPr>
          <a:xfrm>
            <a:off x="548640" y="4434840"/>
            <a:ext cx="8046720" cy="502920"/>
          </a:xfrm>
          <a:prstGeom prst="rect">
            <a:avLst/>
          </a:prstGeom>
          <a:solidFill>
            <a:srgbClr val="1E2761"/>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Text 10"/>
          <p:cNvSpPr/>
          <p:nvPr/>
        </p:nvSpPr>
        <p:spPr>
          <a:xfrm>
            <a:off x="640080" y="4434840"/>
            <a:ext cx="7863840" cy="502920"/>
          </a:xfrm>
          <a:prstGeom prst="rect">
            <a:avLst/>
          </a:prstGeom>
          <a:noFill/>
          <a:ln/>
        </p:spPr>
        <p:txBody>
          <a:bodyPr wrap="square" lIns="0" tIns="0" rIns="0" bIns="0" rtlCol="0" anchor="ctr"/>
          <a:lstStyle/>
          <a:p>
            <a:pPr indent="0" marL="0">
              <a:buNone/>
            </a:pPr>
            <a:r>
              <a:rPr lang="en-US" sz="1300" b="1" i="1" dirty="0">
                <a:solidFill>
                  <a:srgbClr val="06D6A0"/>
                </a:solidFill>
              </a:rPr>
              <a:t>"That just happened. You watched a brain grow. THAT is Machine Learning."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B2FBE"/>
          </a:solidFill>
          <a:ln w="12700">
            <a:solidFill>
              <a:srgbClr val="7B2FBE"/>
            </a:solidFill>
            <a:prstDash val="solid"/>
          </a:ln>
        </p:spPr>
      </p:sp>
      <p:sp>
        <p:nvSpPr>
          <p:cNvPr id="3" name="Shape 1"/>
          <p:cNvSpPr/>
          <p:nvPr/>
        </p:nvSpPr>
        <p:spPr>
          <a:xfrm>
            <a:off x="548640" y="164592"/>
            <a:ext cx="2286000" cy="320040"/>
          </a:xfrm>
          <a:prstGeom prst="roundRect">
            <a:avLst>
              <a:gd name="adj" fmla="val 51429"/>
            </a:avLst>
          </a:prstGeom>
          <a:solidFill>
            <a:srgbClr val="7B2FBE"/>
          </a:solidFill>
          <a:ln w="12700">
            <a:solidFill>
              <a:srgbClr val="7B2FBE"/>
            </a:solidFill>
            <a:prstDash val="solid"/>
          </a:ln>
        </p:spPr>
      </p:sp>
      <p:sp>
        <p:nvSpPr>
          <p:cNvPr id="4" name="Text 2"/>
          <p:cNvSpPr/>
          <p:nvPr/>
        </p:nvSpPr>
        <p:spPr>
          <a:xfrm>
            <a:off x="548640" y="164592"/>
            <a:ext cx="2286000" cy="320040"/>
          </a:xfrm>
          <a:prstGeom prst="rect">
            <a:avLst/>
          </a:prstGeom>
          <a:noFill/>
          <a:ln/>
        </p:spPr>
        <p:txBody>
          <a:bodyPr wrap="square" lIns="0" tIns="0" rIns="0" bIns="0" rtlCol="0" anchor="ctr"/>
          <a:lstStyle/>
          <a:p>
            <a:pPr algn="ctr" indent="0" marL="0">
              <a:buNone/>
            </a:pPr>
            <a:r>
              <a:rPr lang="en-US" sz="1000" b="1" dirty="0">
                <a:solidFill>
                  <a:srgbClr val="FFFFFF"/>
                </a:solidFill>
              </a:rPr>
              <a:t>BONUS GAME · 5 MIN</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200" b="1" dirty="0">
                <a:solidFill>
                  <a:srgbClr val="1A1F5E"/>
                </a:solidFill>
              </a:rPr>
              <a:t>✏️  Can AI Guess Your Drawing?</a:t>
            </a:r>
            <a:endParaRPr lang="en-US" sz="3200" dirty="0"/>
          </a:p>
        </p:txBody>
      </p:sp>
      <p:sp>
        <p:nvSpPr>
          <p:cNvPr id="6" name="Shape 4"/>
          <p:cNvSpPr/>
          <p:nvPr/>
        </p:nvSpPr>
        <p:spPr>
          <a:xfrm>
            <a:off x="548640" y="1389888"/>
            <a:ext cx="5029200" cy="228600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Text 5"/>
          <p:cNvSpPr/>
          <p:nvPr/>
        </p:nvSpPr>
        <p:spPr>
          <a:xfrm>
            <a:off x="731520" y="1508760"/>
            <a:ext cx="4572000" cy="384048"/>
          </a:xfrm>
          <a:prstGeom prst="rect">
            <a:avLst/>
          </a:prstGeom>
          <a:noFill/>
          <a:ln/>
        </p:spPr>
        <p:txBody>
          <a:bodyPr wrap="square" lIns="0" tIns="0" rIns="0" bIns="0" rtlCol="0" anchor="ctr"/>
          <a:lstStyle/>
          <a:p>
            <a:pPr indent="0" marL="0">
              <a:buNone/>
            </a:pPr>
            <a:r>
              <a:rPr lang="en-US" sz="1500" b="1" dirty="0">
                <a:solidFill>
                  <a:srgbClr val="7B2FBE"/>
                </a:solidFill>
              </a:rPr>
              <a:t>How it works:</a:t>
            </a:r>
            <a:endParaRPr lang="en-US" sz="1500" dirty="0"/>
          </a:p>
        </p:txBody>
      </p:sp>
      <p:sp>
        <p:nvSpPr>
          <p:cNvPr id="8" name="Shape 6"/>
          <p:cNvSpPr/>
          <p:nvPr/>
        </p:nvSpPr>
        <p:spPr>
          <a:xfrm>
            <a:off x="731520" y="1965960"/>
            <a:ext cx="384048" cy="384048"/>
          </a:xfrm>
          <a:prstGeom prst="ellipse">
            <a:avLst/>
          </a:prstGeom>
          <a:solidFill>
            <a:srgbClr val="7B2FBE"/>
          </a:solidFill>
          <a:ln w="12700">
            <a:solidFill>
              <a:srgbClr val="7B2FBE"/>
            </a:solidFill>
            <a:prstDash val="solid"/>
          </a:ln>
        </p:spPr>
      </p:sp>
      <p:sp>
        <p:nvSpPr>
          <p:cNvPr id="9" name="Text 7"/>
          <p:cNvSpPr/>
          <p:nvPr/>
        </p:nvSpPr>
        <p:spPr>
          <a:xfrm>
            <a:off x="731520" y="1965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1261872" y="1965960"/>
            <a:ext cx="4114800" cy="457200"/>
          </a:xfrm>
          <a:prstGeom prst="rect">
            <a:avLst/>
          </a:prstGeom>
          <a:noFill/>
          <a:ln/>
        </p:spPr>
        <p:txBody>
          <a:bodyPr wrap="square" lIns="0" tIns="0" rIns="0" bIns="0" rtlCol="0" anchor="ctr"/>
          <a:lstStyle/>
          <a:p>
            <a:pPr indent="0" marL="0">
              <a:buNone/>
            </a:pPr>
            <a:r>
              <a:rPr lang="en-US" sz="1250" dirty="0">
                <a:solidFill>
                  <a:srgbClr val="1A1F5E"/>
                </a:solidFill>
              </a:rPr>
              <a:t>You get 20 seconds to draw something</a:t>
            </a:r>
            <a:endParaRPr lang="en-US" sz="1250" dirty="0"/>
          </a:p>
        </p:txBody>
      </p:sp>
      <p:sp>
        <p:nvSpPr>
          <p:cNvPr id="11" name="Shape 9"/>
          <p:cNvSpPr/>
          <p:nvPr/>
        </p:nvSpPr>
        <p:spPr>
          <a:xfrm>
            <a:off x="731520" y="2441448"/>
            <a:ext cx="384048" cy="384048"/>
          </a:xfrm>
          <a:prstGeom prst="ellipse">
            <a:avLst/>
          </a:prstGeom>
          <a:solidFill>
            <a:srgbClr val="7B2FBE"/>
          </a:solidFill>
          <a:ln w="12700">
            <a:solidFill>
              <a:srgbClr val="7B2FBE"/>
            </a:solidFill>
            <a:prstDash val="solid"/>
          </a:ln>
        </p:spPr>
      </p:sp>
      <p:sp>
        <p:nvSpPr>
          <p:cNvPr id="12" name="Text 10"/>
          <p:cNvSpPr/>
          <p:nvPr/>
        </p:nvSpPr>
        <p:spPr>
          <a:xfrm>
            <a:off x="731520" y="24414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p:nvPr/>
        </p:nvSpPr>
        <p:spPr>
          <a:xfrm>
            <a:off x="1261872" y="2441448"/>
            <a:ext cx="4114800" cy="457200"/>
          </a:xfrm>
          <a:prstGeom prst="rect">
            <a:avLst/>
          </a:prstGeom>
          <a:noFill/>
          <a:ln/>
        </p:spPr>
        <p:txBody>
          <a:bodyPr wrap="square" lIns="0" tIns="0" rIns="0" bIns="0" rtlCol="0" anchor="ctr"/>
          <a:lstStyle/>
          <a:p>
            <a:pPr indent="0" marL="0">
              <a:buNone/>
            </a:pPr>
            <a:r>
              <a:rPr lang="en-US" sz="1250" dirty="0">
                <a:solidFill>
                  <a:srgbClr val="1A1F5E"/>
                </a:solidFill>
              </a:rPr>
              <a:t>AI watches your drawing build stroke by stroke</a:t>
            </a:r>
            <a:endParaRPr lang="en-US" sz="1250" dirty="0"/>
          </a:p>
        </p:txBody>
      </p:sp>
      <p:sp>
        <p:nvSpPr>
          <p:cNvPr id="14" name="Shape 12"/>
          <p:cNvSpPr/>
          <p:nvPr/>
        </p:nvSpPr>
        <p:spPr>
          <a:xfrm>
            <a:off x="731520" y="2916936"/>
            <a:ext cx="384048" cy="384048"/>
          </a:xfrm>
          <a:prstGeom prst="ellipse">
            <a:avLst/>
          </a:prstGeom>
          <a:solidFill>
            <a:srgbClr val="7B2FBE"/>
          </a:solidFill>
          <a:ln w="12700">
            <a:solidFill>
              <a:srgbClr val="7B2FBE"/>
            </a:solidFill>
            <a:prstDash val="solid"/>
          </a:ln>
        </p:spPr>
      </p:sp>
      <p:sp>
        <p:nvSpPr>
          <p:cNvPr id="15" name="Text 13"/>
          <p:cNvSpPr/>
          <p:nvPr/>
        </p:nvSpPr>
        <p:spPr>
          <a:xfrm>
            <a:off x="731520" y="2916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p:nvPr/>
        </p:nvSpPr>
        <p:spPr>
          <a:xfrm>
            <a:off x="1261872" y="2916936"/>
            <a:ext cx="4114800" cy="457200"/>
          </a:xfrm>
          <a:prstGeom prst="rect">
            <a:avLst/>
          </a:prstGeom>
          <a:noFill/>
          <a:ln/>
        </p:spPr>
        <p:txBody>
          <a:bodyPr wrap="square" lIns="0" tIns="0" rIns="0" bIns="0" rtlCol="0" anchor="ctr"/>
          <a:lstStyle/>
          <a:p>
            <a:pPr indent="0" marL="0">
              <a:buNone/>
            </a:pPr>
            <a:r>
              <a:rPr lang="en-US" sz="1250" dirty="0">
                <a:solidFill>
                  <a:srgbClr val="1A1F5E"/>
                </a:solidFill>
              </a:rPr>
              <a:t>It guesses what you're drawing — LIVE</a:t>
            </a:r>
            <a:endParaRPr lang="en-US" sz="1250" dirty="0"/>
          </a:p>
        </p:txBody>
      </p:sp>
      <p:sp>
        <p:nvSpPr>
          <p:cNvPr id="17" name="Shape 15"/>
          <p:cNvSpPr/>
          <p:nvPr/>
        </p:nvSpPr>
        <p:spPr>
          <a:xfrm>
            <a:off x="731520" y="3392424"/>
            <a:ext cx="384048" cy="384048"/>
          </a:xfrm>
          <a:prstGeom prst="ellipse">
            <a:avLst/>
          </a:prstGeom>
          <a:solidFill>
            <a:srgbClr val="7B2FBE"/>
          </a:solidFill>
          <a:ln w="12700">
            <a:solidFill>
              <a:srgbClr val="7B2FBE"/>
            </a:solidFill>
            <a:prstDash val="solid"/>
          </a:ln>
        </p:spPr>
      </p:sp>
      <p:sp>
        <p:nvSpPr>
          <p:cNvPr id="18" name="Text 16"/>
          <p:cNvSpPr/>
          <p:nvPr/>
        </p:nvSpPr>
        <p:spPr>
          <a:xfrm>
            <a:off x="731520" y="33924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 17"/>
          <p:cNvSpPr/>
          <p:nvPr/>
        </p:nvSpPr>
        <p:spPr>
          <a:xfrm>
            <a:off x="1261872" y="3392424"/>
            <a:ext cx="4114800" cy="457200"/>
          </a:xfrm>
          <a:prstGeom prst="rect">
            <a:avLst/>
          </a:prstGeom>
          <a:noFill/>
          <a:ln/>
        </p:spPr>
        <p:txBody>
          <a:bodyPr wrap="square" lIns="0" tIns="0" rIns="0" bIns="0" rtlCol="0" anchor="ctr"/>
          <a:lstStyle/>
          <a:p>
            <a:pPr indent="0" marL="0">
              <a:buNone/>
            </a:pPr>
            <a:r>
              <a:rPr lang="en-US" sz="1250" dirty="0">
                <a:solidFill>
                  <a:srgbClr val="1A1F5E"/>
                </a:solidFill>
              </a:rPr>
              <a:t>Trained on 50 million drawings from across the world</a:t>
            </a:r>
            <a:endParaRPr lang="en-US" sz="1250" dirty="0"/>
          </a:p>
        </p:txBody>
      </p:sp>
      <p:sp>
        <p:nvSpPr>
          <p:cNvPr id="20" name="Shape 18"/>
          <p:cNvSpPr/>
          <p:nvPr/>
        </p:nvSpPr>
        <p:spPr>
          <a:xfrm>
            <a:off x="5852160" y="1389888"/>
            <a:ext cx="2880360" cy="2286000"/>
          </a:xfrm>
          <a:prstGeom prst="rect">
            <a:avLst/>
          </a:prstGeom>
          <a:solidFill>
            <a:srgbClr val="F5F3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1" name="Text 19"/>
          <p:cNvSpPr/>
          <p:nvPr/>
        </p:nvSpPr>
        <p:spPr>
          <a:xfrm>
            <a:off x="6035040" y="1600200"/>
            <a:ext cx="2514600" cy="1828800"/>
          </a:xfrm>
          <a:prstGeom prst="rect">
            <a:avLst/>
          </a:prstGeom>
          <a:noFill/>
          <a:ln/>
        </p:spPr>
        <p:txBody>
          <a:bodyPr wrap="square" lIns="0" tIns="0" rIns="0" bIns="0" rtlCol="0" anchor="ctr"/>
          <a:lstStyle/>
          <a:p>
            <a:pPr indent="0" marL="0">
              <a:buNone/>
            </a:pPr>
            <a:r>
              <a:rPr lang="en-US" sz="1300" b="1" dirty="0">
                <a:solidFill>
                  <a:srgbClr val="7B2FBE"/>
                </a:solidFill>
              </a:rPr>
              <a:t>This AI never went to art school.</a:t>
            </a:r>
            <a:endParaRPr lang="en-US" sz="1300" dirty="0"/>
          </a:p>
          <a:p>
            <a:pPr indent="0" marL="0">
              <a:buNone/>
            </a:pPr>
            <a:r>
              <a:rPr lang="en-US" sz="1300" b="1" dirty="0">
                <a:solidFill>
                  <a:srgbClr val="7B2FBE"/>
                </a:solidFill>
              </a:rPr>
              <a:t>It only learned from humans — just like you.</a:t>
            </a:r>
            <a:endParaRPr lang="en-US" sz="1300" dirty="0"/>
          </a:p>
        </p:txBody>
      </p:sp>
      <p:sp>
        <p:nvSpPr>
          <p:cNvPr id="22" name="Shape 20">
            <a:hlinkClick r:id="rId1" tooltip=""/>
          </p:cNvPr>
          <p:cNvSpPr/>
          <p:nvPr/>
        </p:nvSpPr>
        <p:spPr>
          <a:xfrm>
            <a:off x="548640" y="3858768"/>
            <a:ext cx="4114800" cy="658368"/>
          </a:xfrm>
          <a:prstGeom prst="roundRect">
            <a:avLst>
              <a:gd name="adj" fmla="val 19444"/>
            </a:avLst>
          </a:prstGeom>
          <a:solidFill>
            <a:srgbClr val="7B2FBE"/>
          </a:solidFill>
          <a:ln w="12700">
            <a:solidFill>
              <a:srgbClr val="7B2FBE"/>
            </a:solidFill>
            <a:prstDash val="solid"/>
          </a:ln>
        </p:spPr>
      </p:sp>
      <p:sp>
        <p:nvSpPr>
          <p:cNvPr id="23" name="Text 21">
            <a:hlinkClick r:id="rId2" tooltip=""/>
          </p:cNvPr>
          <p:cNvSpPr/>
          <p:nvPr/>
        </p:nvSpPr>
        <p:spPr>
          <a:xfrm>
            <a:off x="548640" y="3858768"/>
            <a:ext cx="4114800" cy="658368"/>
          </a:xfrm>
          <a:prstGeom prst="rect">
            <a:avLst/>
          </a:prstGeom>
          <a:noFill/>
          <a:ln/>
        </p:spPr>
        <p:txBody>
          <a:bodyPr wrap="square" lIns="0" tIns="0" rIns="0" bIns="0" rtlCol="0" anchor="ctr"/>
          <a:lstStyle/>
          <a:p>
            <a:pPr algn="ctr" indent="0" marL="0">
              <a:buNone/>
            </a:pPr>
            <a:r>
              <a:rPr lang="en-US" sz="18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Quick, Draw!</a:t>
            </a:r>
            <a:endParaRPr lang="en-US" sz="1800" dirty="0"/>
          </a:p>
        </p:txBody>
      </p:sp>
      <p:sp>
        <p:nvSpPr>
          <p:cNvPr id="24" name="Text 22"/>
          <p:cNvSpPr/>
          <p:nvPr/>
        </p:nvSpPr>
        <p:spPr>
          <a:xfrm>
            <a:off x="4846320" y="3858768"/>
            <a:ext cx="3840480" cy="658368"/>
          </a:xfrm>
          <a:prstGeom prst="rect">
            <a:avLst/>
          </a:prstGeom>
          <a:noFill/>
          <a:ln/>
        </p:spPr>
        <p:txBody>
          <a:bodyPr wrap="square" lIns="0" tIns="0" rIns="0" bIns="0" rtlCol="0" anchor="ctr"/>
          <a:lstStyle/>
          <a:p>
            <a:pPr indent="0" marL="0">
              <a:buNone/>
            </a:pPr>
            <a:r>
              <a:rPr lang="en-US" sz="1300" b="1" i="1" dirty="0">
                <a:solidFill>
                  <a:srgbClr val="7B2FBE"/>
                </a:solidFill>
              </a:rPr>
              <a:t>"Your drawing just became part of someone's AI education."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0" y="914400"/>
            <a:ext cx="4572000" cy="4572000"/>
          </a:xfrm>
          <a:prstGeom prst="ellipse">
            <a:avLst/>
          </a:prstGeom>
          <a:solidFill>
            <a:srgbClr val="1E2A4A"/>
          </a:solidFill>
          <a:ln w="12700">
            <a:solidFill>
              <a:srgbClr val="1E2A4A"/>
            </a:solidFill>
            <a:prstDash val="solid"/>
          </a:ln>
        </p:spPr>
      </p:sp>
      <p:sp>
        <p:nvSpPr>
          <p:cNvPr id="3" name="Text 1"/>
          <p:cNvSpPr/>
          <p:nvPr/>
        </p:nvSpPr>
        <p:spPr>
          <a:xfrm>
            <a:off x="3474720" y="365760"/>
            <a:ext cx="2194560" cy="1828800"/>
          </a:xfrm>
          <a:prstGeom prst="rect">
            <a:avLst/>
          </a:prstGeom>
          <a:noFill/>
          <a:ln/>
        </p:spPr>
        <p:txBody>
          <a:bodyPr wrap="square" lIns="0" tIns="0" rIns="0" bIns="0" rtlCol="0" anchor="ctr"/>
          <a:lstStyle/>
          <a:p>
            <a:pPr algn="ctr" indent="0" marL="0">
              <a:buNone/>
            </a:pPr>
            <a:r>
              <a:rPr lang="en-US" sz="7200" dirty="0">
                <a:solidFill>
                  <a:srgbClr val="000000"/>
                </a:solidFill>
              </a:rPr>
              <a:t>☕</a:t>
            </a:r>
            <a:endParaRPr lang="en-US" sz="7200" dirty="0"/>
          </a:p>
        </p:txBody>
      </p:sp>
      <p:sp>
        <p:nvSpPr>
          <p:cNvPr id="4" name="Text 2"/>
          <p:cNvSpPr/>
          <p:nvPr/>
        </p:nvSpPr>
        <p:spPr>
          <a:xfrm>
            <a:off x="457200" y="2103120"/>
            <a:ext cx="8229600" cy="822960"/>
          </a:xfrm>
          <a:prstGeom prst="rect">
            <a:avLst/>
          </a:prstGeom>
          <a:noFill/>
          <a:ln/>
        </p:spPr>
        <p:txBody>
          <a:bodyPr wrap="square" lIns="0" tIns="0" rIns="0" bIns="0" rtlCol="0" anchor="ctr"/>
          <a:lstStyle/>
          <a:p>
            <a:pPr algn="ctr" indent="0" marL="0">
              <a:buNone/>
            </a:pPr>
            <a:r>
              <a:rPr lang="en-US" sz="4400" b="1" dirty="0">
                <a:solidFill>
                  <a:srgbClr val="FFFFFF"/>
                </a:solidFill>
              </a:rPr>
              <a:t>10-Minute Break</a:t>
            </a:r>
            <a:endParaRPr lang="en-US" sz="4400" dirty="0"/>
          </a:p>
        </p:txBody>
      </p:sp>
      <p:sp>
        <p:nvSpPr>
          <p:cNvPr id="5" name="Text 3"/>
          <p:cNvSpPr/>
          <p:nvPr/>
        </p:nvSpPr>
        <p:spPr>
          <a:xfrm>
            <a:off x="914400" y="3063240"/>
            <a:ext cx="7315200" cy="685800"/>
          </a:xfrm>
          <a:prstGeom prst="rect">
            <a:avLst/>
          </a:prstGeom>
          <a:noFill/>
          <a:ln/>
        </p:spPr>
        <p:txBody>
          <a:bodyPr wrap="square" lIns="0" tIns="0" rIns="0" bIns="0" rtlCol="0" anchor="ctr"/>
          <a:lstStyle/>
          <a:p>
            <a:pPr algn="ctr" indent="0" marL="0">
              <a:buNone/>
            </a:pPr>
            <a:r>
              <a:rPr lang="en-US" sz="1400" dirty="0">
                <a:solidFill>
                  <a:srgbClr val="8B9FD4"/>
                </a:solidFill>
              </a:rPr>
              <a:t>Hydrate. Stretch. Talk to a friend.</a:t>
            </a:r>
            <a:endParaRPr lang="en-US" sz="1400" dirty="0"/>
          </a:p>
          <a:p>
            <a:pPr algn="ctr" indent="0" marL="0">
              <a:buNone/>
            </a:pPr>
            <a:r>
              <a:rPr lang="en-US" sz="1400" dirty="0">
                <a:solidFill>
                  <a:srgbClr val="8B9FD4"/>
                </a:solidFill>
              </a:rPr>
              <a:t>Think about ONE thing that surprised you in Module 1.</a:t>
            </a:r>
            <a:endParaRPr lang="en-US" sz="1400" dirty="0"/>
          </a:p>
        </p:txBody>
      </p:sp>
      <p:sp>
        <p:nvSpPr>
          <p:cNvPr id="6" name="Shape 4"/>
          <p:cNvSpPr/>
          <p:nvPr/>
        </p:nvSpPr>
        <p:spPr>
          <a:xfrm>
            <a:off x="3200400" y="3977640"/>
            <a:ext cx="2743200" cy="411480"/>
          </a:xfrm>
          <a:prstGeom prst="roundRect">
            <a:avLst>
              <a:gd name="adj" fmla="val 40000"/>
            </a:avLst>
          </a:prstGeom>
          <a:solidFill>
            <a:srgbClr val="06D6A0"/>
          </a:solidFill>
          <a:ln w="12700">
            <a:solidFill>
              <a:srgbClr val="06D6A0"/>
            </a:solidFill>
            <a:prstDash val="solid"/>
          </a:ln>
        </p:spPr>
      </p:sp>
      <p:sp>
        <p:nvSpPr>
          <p:cNvPr id="7" name="Text 5"/>
          <p:cNvSpPr/>
          <p:nvPr/>
        </p:nvSpPr>
        <p:spPr>
          <a:xfrm>
            <a:off x="3200400" y="3977640"/>
            <a:ext cx="2743200" cy="411480"/>
          </a:xfrm>
          <a:prstGeom prst="rect">
            <a:avLst/>
          </a:prstGeom>
          <a:noFill/>
          <a:ln/>
        </p:spPr>
        <p:txBody>
          <a:bodyPr wrap="square" lIns="0" tIns="0" rIns="0" bIns="0" rtlCol="0" anchor="ctr"/>
          <a:lstStyle/>
          <a:p>
            <a:pPr algn="ctr" indent="0" marL="0">
              <a:buNone/>
            </a:pPr>
            <a:r>
              <a:rPr lang="en-US" sz="1200" b="1" dirty="0">
                <a:solidFill>
                  <a:srgbClr val="FFFFFF"/>
                </a:solidFill>
              </a:rPr>
              <a:t>Module 2 starts at the bell  🔔</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2E16"/>
        </a:solidFill>
      </p:bgPr>
    </p:bg>
    <p:spTree>
      <p:nvGrpSpPr>
        <p:cNvPr id="1" name=""/>
        <p:cNvGrpSpPr/>
        <p:nvPr/>
      </p:nvGrpSpPr>
      <p:grpSpPr>
        <a:xfrm>
          <a:off x="0" y="0"/>
          <a:ext cx="0" cy="0"/>
          <a:chOff x="0" y="0"/>
          <a:chExt cx="0" cy="0"/>
        </a:xfrm>
      </p:grpSpPr>
      <p:sp>
        <p:nvSpPr>
          <p:cNvPr id="2" name="Shape 0"/>
          <p:cNvSpPr/>
          <p:nvPr/>
        </p:nvSpPr>
        <p:spPr>
          <a:xfrm>
            <a:off x="7315200" y="-731520"/>
            <a:ext cx="4572000" cy="4572000"/>
          </a:xfrm>
          <a:prstGeom prst="ellipse">
            <a:avLst/>
          </a:prstGeom>
          <a:solidFill>
            <a:srgbClr val="065F46"/>
          </a:solidFill>
          <a:ln w="12700">
            <a:solidFill>
              <a:srgbClr val="065F46"/>
            </a:solidFill>
            <a:prstDash val="solid"/>
          </a:ln>
        </p:spPr>
      </p:sp>
      <p:sp>
        <p:nvSpPr>
          <p:cNvPr id="3" name="Shape 1"/>
          <p:cNvSpPr/>
          <p:nvPr/>
        </p:nvSpPr>
        <p:spPr>
          <a:xfrm>
            <a:off x="-457200" y="3840480"/>
            <a:ext cx="3200400" cy="3200400"/>
          </a:xfrm>
          <a:prstGeom prst="ellipse">
            <a:avLst/>
          </a:prstGeom>
          <a:solidFill>
            <a:srgbClr val="065F46"/>
          </a:solidFill>
          <a:ln w="12700">
            <a:solidFill>
              <a:srgbClr val="065F46"/>
            </a:solidFill>
            <a:prstDash val="solid"/>
          </a:ln>
        </p:spPr>
      </p:sp>
      <p:sp>
        <p:nvSpPr>
          <p:cNvPr id="4" name="Shape 2"/>
          <p:cNvSpPr/>
          <p:nvPr/>
        </p:nvSpPr>
        <p:spPr>
          <a:xfrm>
            <a:off x="8686800" y="3840480"/>
            <a:ext cx="1828800" cy="1828800"/>
          </a:xfrm>
          <a:prstGeom prst="ellipse">
            <a:avLst/>
          </a:prstGeom>
          <a:solidFill>
            <a:srgbClr val="06D6A0"/>
          </a:solidFill>
          <a:ln w="12700">
            <a:solidFill>
              <a:srgbClr val="06D6A0"/>
            </a:solidFill>
            <a:prstDash val="solid"/>
          </a:ln>
        </p:spPr>
      </p:sp>
      <p:sp>
        <p:nvSpPr>
          <p:cNvPr id="5" name="Shape 3"/>
          <p:cNvSpPr/>
          <p:nvPr/>
        </p:nvSpPr>
        <p:spPr>
          <a:xfrm>
            <a:off x="548640" y="411480"/>
            <a:ext cx="2286000" cy="347472"/>
          </a:xfrm>
          <a:prstGeom prst="roundRect">
            <a:avLst>
              <a:gd name="adj" fmla="val 47368"/>
            </a:avLst>
          </a:prstGeom>
          <a:solidFill>
            <a:srgbClr val="047857"/>
          </a:solidFill>
          <a:ln w="12700">
            <a:solidFill>
              <a:srgbClr val="047857"/>
            </a:solidFill>
            <a:prstDash val="solid"/>
          </a:ln>
        </p:spPr>
      </p:sp>
      <p:sp>
        <p:nvSpPr>
          <p:cNvPr id="6" name="Text 4"/>
          <p:cNvSpPr/>
          <p:nvPr/>
        </p:nvSpPr>
        <p:spPr>
          <a:xfrm>
            <a:off x="548640" y="41148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MODULE 2  ·  70 – 115 MIN</a:t>
            </a:r>
            <a:endParaRPr lang="en-US" sz="1000" dirty="0"/>
          </a:p>
        </p:txBody>
      </p:sp>
      <p:sp>
        <p:nvSpPr>
          <p:cNvPr id="7" name="Text 5"/>
          <p:cNvSpPr/>
          <p:nvPr/>
        </p:nvSpPr>
        <p:spPr>
          <a:xfrm>
            <a:off x="457200" y="841248"/>
            <a:ext cx="1280160" cy="1005840"/>
          </a:xfrm>
          <a:prstGeom prst="rect">
            <a:avLst/>
          </a:prstGeom>
          <a:noFill/>
          <a:ln/>
        </p:spPr>
        <p:txBody>
          <a:bodyPr wrap="square" lIns="0" tIns="0" rIns="0" bIns="0" rtlCol="0" anchor="ctr"/>
          <a:lstStyle/>
          <a:p>
            <a:pPr algn="l" indent="0" marL="0">
              <a:buNone/>
            </a:pPr>
            <a:r>
              <a:rPr lang="en-US" sz="5600" dirty="0">
                <a:solidFill>
                  <a:srgbClr val="000000"/>
                </a:solidFill>
              </a:rPr>
              <a:t>🌍</a:t>
            </a:r>
            <a:endParaRPr lang="en-US" sz="5600" dirty="0"/>
          </a:p>
        </p:txBody>
      </p:sp>
      <p:sp>
        <p:nvSpPr>
          <p:cNvPr id="8" name="Text 6"/>
          <p:cNvSpPr/>
          <p:nvPr/>
        </p:nvSpPr>
        <p:spPr>
          <a:xfrm>
            <a:off x="548640" y="896112"/>
            <a:ext cx="8229600" cy="2377440"/>
          </a:xfrm>
          <a:prstGeom prst="rect">
            <a:avLst/>
          </a:prstGeom>
          <a:noFill/>
          <a:ln/>
        </p:spPr>
        <p:txBody>
          <a:bodyPr wrap="square" lIns="0" tIns="0" rIns="0" bIns="0" rtlCol="0" anchor="ctr"/>
          <a:lstStyle/>
          <a:p>
            <a:pPr algn="l" indent="0" marL="0">
              <a:buNone/>
            </a:pPr>
            <a:r>
              <a:rPr lang="en-US" sz="5600" b="1" dirty="0">
                <a:solidFill>
                  <a:srgbClr val="FFFFFF"/>
                </a:solidFill>
              </a:rPr>
              <a:t>AI is Already</a:t>
            </a:r>
            <a:endParaRPr lang="en-US" sz="5600" dirty="0"/>
          </a:p>
          <a:p>
            <a:pPr algn="l" indent="0" marL="0">
              <a:buNone/>
            </a:pPr>
            <a:r>
              <a:rPr lang="en-US" sz="5600" b="1" dirty="0">
                <a:solidFill>
                  <a:srgbClr val="FFFFFF"/>
                </a:solidFill>
              </a:rPr>
              <a:t>Around You</a:t>
            </a:r>
            <a:endParaRPr lang="en-US" sz="5600" dirty="0"/>
          </a:p>
        </p:txBody>
      </p:sp>
      <p:sp>
        <p:nvSpPr>
          <p:cNvPr id="9" name="Text 7"/>
          <p:cNvSpPr/>
          <p:nvPr/>
        </p:nvSpPr>
        <p:spPr>
          <a:xfrm>
            <a:off x="548640" y="3401568"/>
            <a:ext cx="7772400" cy="475488"/>
          </a:xfrm>
          <a:prstGeom prst="rect">
            <a:avLst/>
          </a:prstGeom>
          <a:noFill/>
          <a:ln/>
        </p:spPr>
        <p:txBody>
          <a:bodyPr wrap="square" lIns="0" tIns="0" rIns="0" bIns="0" rtlCol="0" anchor="ctr"/>
          <a:lstStyle/>
          <a:p>
            <a:pPr algn="l" indent="0" marL="0">
              <a:buNone/>
            </a:pPr>
            <a:r>
              <a:rPr lang="en-US" sz="1800" b="1" i="1" dirty="0">
                <a:solidFill>
                  <a:srgbClr val="6EE7B7"/>
                </a:solidFill>
              </a:rPr>
              <a:t>"Not in Silicon Valley. In your gaon, gali, aur ghar."</a:t>
            </a:r>
            <a:endParaRPr lang="en-US" sz="1800" dirty="0"/>
          </a:p>
        </p:txBody>
      </p:sp>
      <p:sp>
        <p:nvSpPr>
          <p:cNvPr id="10" name="Shape 8"/>
          <p:cNvSpPr/>
          <p:nvPr/>
        </p:nvSpPr>
        <p:spPr>
          <a:xfrm>
            <a:off x="0" y="4663440"/>
            <a:ext cx="9144000" cy="480060"/>
          </a:xfrm>
          <a:prstGeom prst="rect">
            <a:avLst/>
          </a:prstGeom>
          <a:solidFill>
            <a:srgbClr val="047857"/>
          </a:solidFill>
          <a:ln w="12700">
            <a:solidFill>
              <a:srgbClr val="047857"/>
            </a:solidFill>
            <a:prstDash val="solid"/>
          </a:ln>
        </p:spPr>
      </p:sp>
      <p:sp>
        <p:nvSpPr>
          <p:cNvPr id="11" name="Text 9"/>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06D6A0"/>
                </a:solidFill>
              </a:rPr>
              <a:t>Superpower activate? → ACTIVATE! 🚀</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FDF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w="12700">
            <a:solidFill>
              <a:srgbClr val="06D6A0"/>
            </a:solidFill>
            <a:prstDash val="solid"/>
          </a:ln>
        </p:spPr>
      </p:sp>
      <p:sp>
        <p:nvSpPr>
          <p:cNvPr id="3" name="Shape 1"/>
          <p:cNvSpPr/>
          <p:nvPr/>
        </p:nvSpPr>
        <p:spPr>
          <a:xfrm>
            <a:off x="548640" y="164592"/>
            <a:ext cx="1645920" cy="320040"/>
          </a:xfrm>
          <a:prstGeom prst="roundRect">
            <a:avLst>
              <a:gd name="adj" fmla="val 51429"/>
            </a:avLst>
          </a:prstGeom>
          <a:solidFill>
            <a:srgbClr val="06D6A0"/>
          </a:solidFill>
          <a:ln w="12700">
            <a:solidFill>
              <a:srgbClr val="06D6A0"/>
            </a:solidFill>
            <a:prstDash val="solid"/>
          </a:ln>
        </p:spPr>
      </p:sp>
      <p:sp>
        <p:nvSpPr>
          <p:cNvPr id="4" name="Text 2"/>
          <p:cNvSpPr/>
          <p:nvPr/>
        </p:nvSpPr>
        <p:spPr>
          <a:xfrm>
            <a:off x="548640" y="164592"/>
            <a:ext cx="1645920" cy="320040"/>
          </a:xfrm>
          <a:prstGeom prst="rect">
            <a:avLst/>
          </a:prstGeom>
          <a:noFill/>
          <a:ln/>
        </p:spPr>
        <p:txBody>
          <a:bodyPr wrap="square" lIns="0" tIns="0" rIns="0" bIns="0" rtlCol="0" anchor="ctr"/>
          <a:lstStyle/>
          <a:p>
            <a:pPr algn="ctr" indent="0" marL="0">
              <a:buNone/>
            </a:pPr>
            <a:r>
              <a:rPr lang="en-US" sz="1000" b="1" dirty="0">
                <a:solidFill>
                  <a:srgbClr val="FFFFFF"/>
                </a:solidFill>
              </a:rPr>
              <a:t>01 · KHETI 🌾</a:t>
            </a:r>
            <a:endParaRPr lang="en-US" sz="1000" dirty="0"/>
          </a:p>
        </p:txBody>
      </p:sp>
      <p:sp>
        <p:nvSpPr>
          <p:cNvPr id="5" name="Text 3"/>
          <p:cNvSpPr/>
          <p:nvPr/>
        </p:nvSpPr>
        <p:spPr>
          <a:xfrm>
            <a:off x="548640" y="594360"/>
            <a:ext cx="8229600" cy="1188720"/>
          </a:xfrm>
          <a:prstGeom prst="rect">
            <a:avLst/>
          </a:prstGeom>
          <a:noFill/>
          <a:ln/>
        </p:spPr>
        <p:txBody>
          <a:bodyPr wrap="square" lIns="0" tIns="0" rIns="0" bIns="0" rtlCol="0" anchor="ctr"/>
          <a:lstStyle/>
          <a:p>
            <a:pPr indent="0" marL="0">
              <a:buNone/>
            </a:pPr>
            <a:r>
              <a:rPr lang="en-US" sz="3200" b="1" dirty="0">
                <a:solidFill>
                  <a:srgbClr val="1A1F5E"/>
                </a:solidFill>
              </a:rPr>
              <a:t>AI saves the crop</a:t>
            </a:r>
            <a:endParaRPr lang="en-US" sz="3200" dirty="0"/>
          </a:p>
          <a:p>
            <a:pPr indent="0" marL="0">
              <a:buNone/>
            </a:pPr>
            <a:r>
              <a:rPr lang="en-US" sz="3200" b="1" dirty="0">
                <a:solidFill>
                  <a:srgbClr val="1A1F5E"/>
                </a:solidFill>
              </a:rPr>
              <a:t>before you can see the disease.</a:t>
            </a:r>
            <a:endParaRPr lang="en-US" sz="3200" dirty="0"/>
          </a:p>
        </p:txBody>
      </p:sp>
      <p:sp>
        <p:nvSpPr>
          <p:cNvPr id="6" name="Shape 4"/>
          <p:cNvSpPr/>
          <p:nvPr/>
        </p:nvSpPr>
        <p:spPr>
          <a:xfrm>
            <a:off x="548640" y="1920240"/>
            <a:ext cx="2560320" cy="1298448"/>
          </a:xfrm>
          <a:prstGeom prst="rect">
            <a:avLst/>
          </a:prstGeom>
          <a:solidFill>
            <a:srgbClr val="D1FAE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Text 5"/>
          <p:cNvSpPr/>
          <p:nvPr/>
        </p:nvSpPr>
        <p:spPr>
          <a:xfrm>
            <a:off x="548640" y="1993392"/>
            <a:ext cx="2560320" cy="713232"/>
          </a:xfrm>
          <a:prstGeom prst="rect">
            <a:avLst/>
          </a:prstGeom>
          <a:noFill/>
          <a:ln/>
        </p:spPr>
        <p:txBody>
          <a:bodyPr wrap="square" lIns="0" tIns="0" rIns="0" bIns="0" rtlCol="0" anchor="ctr"/>
          <a:lstStyle/>
          <a:p>
            <a:pPr algn="ctr" indent="0" marL="0">
              <a:buNone/>
            </a:pPr>
            <a:r>
              <a:rPr lang="en-US" sz="3400" b="1" dirty="0">
                <a:solidFill>
                  <a:srgbClr val="06D6A0"/>
                </a:solidFill>
              </a:rPr>
              <a:t>10 days</a:t>
            </a:r>
            <a:endParaRPr lang="en-US" sz="3400" dirty="0"/>
          </a:p>
        </p:txBody>
      </p:sp>
      <p:sp>
        <p:nvSpPr>
          <p:cNvPr id="8" name="Text 6"/>
          <p:cNvSpPr/>
          <p:nvPr/>
        </p:nvSpPr>
        <p:spPr>
          <a:xfrm>
            <a:off x="548640" y="2724912"/>
            <a:ext cx="2560320" cy="402336"/>
          </a:xfrm>
          <a:prstGeom prst="rect">
            <a:avLst/>
          </a:prstGeom>
          <a:noFill/>
          <a:ln/>
        </p:spPr>
        <p:txBody>
          <a:bodyPr wrap="square" lIns="0" tIns="0" rIns="0" bIns="0" rtlCol="0" anchor="ctr"/>
          <a:lstStyle/>
          <a:p>
            <a:pPr algn="ctr" indent="0" marL="0">
              <a:buNone/>
            </a:pPr>
            <a:r>
              <a:rPr lang="en-US" sz="1100" dirty="0">
                <a:solidFill>
                  <a:srgbClr val="065F46"/>
                </a:solidFill>
              </a:rPr>
              <a:t>Early warning</a:t>
            </a:r>
            <a:endParaRPr lang="en-US" sz="1100" dirty="0"/>
          </a:p>
          <a:p>
            <a:pPr algn="ctr" indent="0" marL="0">
              <a:buNone/>
            </a:pPr>
            <a:r>
              <a:rPr lang="en-US" sz="1100" dirty="0">
                <a:solidFill>
                  <a:srgbClr val="065F46"/>
                </a:solidFill>
              </a:rPr>
              <a:t>from satellite AI</a:t>
            </a:r>
            <a:endParaRPr lang="en-US" sz="1100" dirty="0"/>
          </a:p>
        </p:txBody>
      </p:sp>
      <p:sp>
        <p:nvSpPr>
          <p:cNvPr id="9" name="Shape 7"/>
          <p:cNvSpPr/>
          <p:nvPr/>
        </p:nvSpPr>
        <p:spPr>
          <a:xfrm>
            <a:off x="3383280" y="1920240"/>
            <a:ext cx="2560320" cy="1298448"/>
          </a:xfrm>
          <a:prstGeom prst="rect">
            <a:avLst/>
          </a:prstGeom>
          <a:solidFill>
            <a:srgbClr val="D1FAE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0" name="Text 8"/>
          <p:cNvSpPr/>
          <p:nvPr/>
        </p:nvSpPr>
        <p:spPr>
          <a:xfrm>
            <a:off x="3383280" y="1993392"/>
            <a:ext cx="2560320" cy="713232"/>
          </a:xfrm>
          <a:prstGeom prst="rect">
            <a:avLst/>
          </a:prstGeom>
          <a:noFill/>
          <a:ln/>
        </p:spPr>
        <p:txBody>
          <a:bodyPr wrap="square" lIns="0" tIns="0" rIns="0" bIns="0" rtlCol="0" anchor="ctr"/>
          <a:lstStyle/>
          <a:p>
            <a:pPr algn="ctr" indent="0" marL="0">
              <a:buNone/>
            </a:pPr>
            <a:r>
              <a:rPr lang="en-US" sz="3400" b="1" dirty="0">
                <a:solidFill>
                  <a:srgbClr val="059669"/>
                </a:solidFill>
              </a:rPr>
              <a:t>22 languages</a:t>
            </a:r>
            <a:endParaRPr lang="en-US" sz="3400" dirty="0"/>
          </a:p>
        </p:txBody>
      </p:sp>
      <p:sp>
        <p:nvSpPr>
          <p:cNvPr id="11" name="Text 9"/>
          <p:cNvSpPr/>
          <p:nvPr/>
        </p:nvSpPr>
        <p:spPr>
          <a:xfrm>
            <a:off x="3383280" y="2724912"/>
            <a:ext cx="2560320" cy="402336"/>
          </a:xfrm>
          <a:prstGeom prst="rect">
            <a:avLst/>
          </a:prstGeom>
          <a:noFill/>
          <a:ln/>
        </p:spPr>
        <p:txBody>
          <a:bodyPr wrap="square" lIns="0" tIns="0" rIns="0" bIns="0" rtlCol="0" anchor="ctr"/>
          <a:lstStyle/>
          <a:p>
            <a:pPr algn="ctr" indent="0" marL="0">
              <a:buNone/>
            </a:pPr>
            <a:r>
              <a:rPr lang="en-US" sz="1100" dirty="0">
                <a:solidFill>
                  <a:srgbClr val="065F46"/>
                </a:solidFill>
              </a:rPr>
              <a:t>IFFCO Kisan app</a:t>
            </a:r>
            <a:endParaRPr lang="en-US" sz="1100" dirty="0"/>
          </a:p>
          <a:p>
            <a:pPr algn="ctr" indent="0" marL="0">
              <a:buNone/>
            </a:pPr>
            <a:r>
              <a:rPr lang="en-US" sz="1100" dirty="0">
                <a:solidFill>
                  <a:srgbClr val="065F46"/>
                </a:solidFill>
              </a:rPr>
              <a:t>works in</a:t>
            </a:r>
            <a:endParaRPr lang="en-US" sz="1100" dirty="0"/>
          </a:p>
        </p:txBody>
      </p:sp>
      <p:sp>
        <p:nvSpPr>
          <p:cNvPr id="12" name="Shape 10"/>
          <p:cNvSpPr/>
          <p:nvPr/>
        </p:nvSpPr>
        <p:spPr>
          <a:xfrm>
            <a:off x="6217920" y="1920240"/>
            <a:ext cx="2560320" cy="1298448"/>
          </a:xfrm>
          <a:prstGeom prst="rect">
            <a:avLst/>
          </a:prstGeom>
          <a:solidFill>
            <a:srgbClr val="D1FAE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3" name="Text 11"/>
          <p:cNvSpPr/>
          <p:nvPr/>
        </p:nvSpPr>
        <p:spPr>
          <a:xfrm>
            <a:off x="6217920" y="1993392"/>
            <a:ext cx="2560320" cy="713232"/>
          </a:xfrm>
          <a:prstGeom prst="rect">
            <a:avLst/>
          </a:prstGeom>
          <a:noFill/>
          <a:ln/>
        </p:spPr>
        <p:txBody>
          <a:bodyPr wrap="square" lIns="0" tIns="0" rIns="0" bIns="0" rtlCol="0" anchor="ctr"/>
          <a:lstStyle/>
          <a:p>
            <a:pPr algn="ctr" indent="0" marL="0">
              <a:buNone/>
            </a:pPr>
            <a:r>
              <a:rPr lang="en-US" sz="3400" b="1" dirty="0">
                <a:solidFill>
                  <a:srgbClr val="047857"/>
                </a:solidFill>
              </a:rPr>
              <a:t>₹0</a:t>
            </a:r>
            <a:endParaRPr lang="en-US" sz="3400" dirty="0"/>
          </a:p>
        </p:txBody>
      </p:sp>
      <p:sp>
        <p:nvSpPr>
          <p:cNvPr id="14" name="Text 12"/>
          <p:cNvSpPr/>
          <p:nvPr/>
        </p:nvSpPr>
        <p:spPr>
          <a:xfrm>
            <a:off x="6217920" y="2724912"/>
            <a:ext cx="2560320" cy="402336"/>
          </a:xfrm>
          <a:prstGeom prst="rect">
            <a:avLst/>
          </a:prstGeom>
          <a:noFill/>
          <a:ln/>
        </p:spPr>
        <p:txBody>
          <a:bodyPr wrap="square" lIns="0" tIns="0" rIns="0" bIns="0" rtlCol="0" anchor="ctr"/>
          <a:lstStyle/>
          <a:p>
            <a:pPr algn="ctr" indent="0" marL="0">
              <a:buNone/>
            </a:pPr>
            <a:r>
              <a:rPr lang="en-US" sz="1100" dirty="0">
                <a:solidFill>
                  <a:srgbClr val="065F46"/>
                </a:solidFill>
              </a:rPr>
              <a:t>Cost for a</a:t>
            </a:r>
            <a:endParaRPr lang="en-US" sz="1100" dirty="0"/>
          </a:p>
          <a:p>
            <a:pPr algn="ctr" indent="0" marL="0">
              <a:buNone/>
            </a:pPr>
            <a:r>
              <a:rPr lang="en-US" sz="1100" dirty="0">
                <a:solidFill>
                  <a:srgbClr val="065F46"/>
                </a:solidFill>
              </a:rPr>
              <a:t>farmer to use it</a:t>
            </a:r>
            <a:endParaRPr lang="en-US" sz="1100" dirty="0"/>
          </a:p>
        </p:txBody>
      </p:sp>
      <p:sp>
        <p:nvSpPr>
          <p:cNvPr id="15" name="Shape 13"/>
          <p:cNvSpPr/>
          <p:nvPr/>
        </p:nvSpPr>
        <p:spPr>
          <a:xfrm>
            <a:off x="548640" y="3401568"/>
            <a:ext cx="8046720" cy="91440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6" name="Shape 14"/>
          <p:cNvSpPr/>
          <p:nvPr/>
        </p:nvSpPr>
        <p:spPr>
          <a:xfrm>
            <a:off x="548640" y="3401568"/>
            <a:ext cx="91440" cy="914400"/>
          </a:xfrm>
          <a:prstGeom prst="rect">
            <a:avLst/>
          </a:prstGeom>
          <a:solidFill>
            <a:srgbClr val="06D6A0"/>
          </a:solidFill>
          <a:ln w="12700">
            <a:solidFill>
              <a:srgbClr val="06D6A0"/>
            </a:solidFill>
            <a:prstDash val="solid"/>
          </a:ln>
        </p:spPr>
      </p:sp>
      <p:sp>
        <p:nvSpPr>
          <p:cNvPr id="17" name="Text 15"/>
          <p:cNvSpPr/>
          <p:nvPr/>
        </p:nvSpPr>
        <p:spPr>
          <a:xfrm>
            <a:off x="777240" y="3474720"/>
            <a:ext cx="7680960" cy="777240"/>
          </a:xfrm>
          <a:prstGeom prst="rect">
            <a:avLst/>
          </a:prstGeom>
          <a:noFill/>
          <a:ln/>
        </p:spPr>
        <p:txBody>
          <a:bodyPr wrap="square" lIns="0" tIns="0" rIns="0" bIns="0" rtlCol="0" anchor="ctr"/>
          <a:lstStyle/>
          <a:p>
            <a:pPr indent="0" marL="0">
              <a:buNone/>
            </a:pPr>
            <a:r>
              <a:rPr lang="en-US" sz="1250" dirty="0">
                <a:solidFill>
                  <a:srgbClr val="064E3B"/>
                </a:solidFill>
              </a:rPr>
              <a:t>Satellites photograph farms every few days. AI compares them to 1 million past crop images, detects disease before it's visible, and sends a WhatsApp alert to the farmer 10 days early — in their own language.</a:t>
            </a:r>
            <a:endParaRPr lang="en-US" sz="1250" dirty="0"/>
          </a:p>
        </p:txBody>
      </p:sp>
      <p:sp>
        <p:nvSpPr>
          <p:cNvPr id="18" name="Text 16"/>
          <p:cNvSpPr/>
          <p:nvPr/>
        </p:nvSpPr>
        <p:spPr>
          <a:xfrm>
            <a:off x="548640" y="4480560"/>
            <a:ext cx="8046720" cy="365760"/>
          </a:xfrm>
          <a:prstGeom prst="rect">
            <a:avLst/>
          </a:prstGeom>
          <a:noFill/>
          <a:ln/>
        </p:spPr>
        <p:txBody>
          <a:bodyPr wrap="square" lIns="0" tIns="0" rIns="0" bIns="0" rtlCol="0" anchor="ctr"/>
          <a:lstStyle/>
          <a:p>
            <a:pPr indent="0" marL="0">
              <a:buNone/>
            </a:pPr>
            <a:r>
              <a:rPr lang="en-US" sz="1200" b="1" i="1" dirty="0">
                <a:solidFill>
                  <a:srgbClr val="06D6A0"/>
                </a:solidFill>
              </a:rPr>
              <a:t>"A farmer in Fatehpur gets a crop warning 10 days early. That's AI saving food on your thali."</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4899"/>
          </a:solidFill>
          <a:ln w="12700">
            <a:solidFill>
              <a:srgbClr val="EC4899"/>
            </a:solidFill>
            <a:prstDash val="solid"/>
          </a:ln>
        </p:spPr>
      </p:sp>
      <p:sp>
        <p:nvSpPr>
          <p:cNvPr id="3" name="Shape 1"/>
          <p:cNvSpPr/>
          <p:nvPr/>
        </p:nvSpPr>
        <p:spPr>
          <a:xfrm>
            <a:off x="548640" y="164592"/>
            <a:ext cx="2011680" cy="320040"/>
          </a:xfrm>
          <a:prstGeom prst="roundRect">
            <a:avLst>
              <a:gd name="adj" fmla="val 51429"/>
            </a:avLst>
          </a:prstGeom>
          <a:solidFill>
            <a:srgbClr val="EC4899"/>
          </a:solidFill>
          <a:ln w="12700">
            <a:solidFill>
              <a:srgbClr val="EC4899"/>
            </a:solidFill>
            <a:prstDash val="solid"/>
          </a:ln>
        </p:spPr>
      </p:sp>
      <p:sp>
        <p:nvSpPr>
          <p:cNvPr id="4" name="Text 2"/>
          <p:cNvSpPr/>
          <p:nvPr/>
        </p:nvSpPr>
        <p:spPr>
          <a:xfrm>
            <a:off x="548640" y="164592"/>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rPr>
              <a:t>02 · BOLLYWOOD 🎬</a:t>
            </a:r>
            <a:endParaRPr lang="en-US" sz="1000" dirty="0"/>
          </a:p>
        </p:txBody>
      </p:sp>
      <p:sp>
        <p:nvSpPr>
          <p:cNvPr id="5" name="Text 3"/>
          <p:cNvSpPr/>
          <p:nvPr/>
        </p:nvSpPr>
        <p:spPr>
          <a:xfrm>
            <a:off x="548640" y="594360"/>
            <a:ext cx="8229600" cy="1143000"/>
          </a:xfrm>
          <a:prstGeom prst="rect">
            <a:avLst/>
          </a:prstGeom>
          <a:noFill/>
          <a:ln/>
        </p:spPr>
        <p:txBody>
          <a:bodyPr wrap="square" lIns="0" tIns="0" rIns="0" bIns="0" rtlCol="0" anchor="ctr"/>
          <a:lstStyle/>
          <a:p>
            <a:pPr indent="0" marL="0">
              <a:buNone/>
            </a:pPr>
            <a:r>
              <a:rPr lang="en-US" sz="3000" b="1" dirty="0">
                <a:solidFill>
                  <a:srgbClr val="1A1F5E"/>
                </a:solidFill>
              </a:rPr>
              <a:t>The naale ki ladaai in RRR —</a:t>
            </a:r>
            <a:endParaRPr lang="en-US" sz="3000" dirty="0"/>
          </a:p>
          <a:p>
            <a:pPr indent="0" marL="0">
              <a:buNone/>
            </a:pPr>
            <a:r>
              <a:rPr lang="en-US" sz="3000" b="1" dirty="0">
                <a:solidFill>
                  <a:srgbClr val="1A1F5E"/>
                </a:solidFill>
              </a:rPr>
              <a:t>how many horses were real?</a:t>
            </a:r>
            <a:endParaRPr lang="en-US" sz="3000" dirty="0"/>
          </a:p>
        </p:txBody>
      </p:sp>
      <p:sp>
        <p:nvSpPr>
          <p:cNvPr id="6" name="Shape 4"/>
          <p:cNvSpPr/>
          <p:nvPr/>
        </p:nvSpPr>
        <p:spPr>
          <a:xfrm>
            <a:off x="457200" y="1874520"/>
            <a:ext cx="4069080" cy="1207008"/>
          </a:xfrm>
          <a:prstGeom prst="rect">
            <a:avLst/>
          </a:prstGeom>
          <a:solidFill>
            <a:srgbClr val="FDF2F8"/>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874520"/>
            <a:ext cx="91440" cy="1207008"/>
          </a:xfrm>
          <a:prstGeom prst="rect">
            <a:avLst/>
          </a:prstGeom>
          <a:solidFill>
            <a:srgbClr val="EC4899"/>
          </a:solidFill>
          <a:ln w="12700">
            <a:solidFill>
              <a:srgbClr val="EC4899"/>
            </a:solidFill>
            <a:prstDash val="solid"/>
          </a:ln>
        </p:spPr>
      </p:sp>
      <p:sp>
        <p:nvSpPr>
          <p:cNvPr id="8" name="Text 6"/>
          <p:cNvSpPr/>
          <p:nvPr/>
        </p:nvSpPr>
        <p:spPr>
          <a:xfrm>
            <a:off x="658368" y="1965960"/>
            <a:ext cx="3657600" cy="384048"/>
          </a:xfrm>
          <a:prstGeom prst="rect">
            <a:avLst/>
          </a:prstGeom>
          <a:noFill/>
          <a:ln/>
        </p:spPr>
        <p:txBody>
          <a:bodyPr wrap="square" lIns="0" tIns="0" rIns="0" bIns="0" rtlCol="0" anchor="ctr"/>
          <a:lstStyle/>
          <a:p>
            <a:pPr indent="0" marL="0">
              <a:buNone/>
            </a:pPr>
            <a:r>
              <a:rPr lang="en-US" sz="1300" b="1" dirty="0">
                <a:solidFill>
                  <a:srgbClr val="1A1F5E"/>
                </a:solidFill>
              </a:rPr>
              <a:t>💧  RRR Waterfall Battle</a:t>
            </a:r>
            <a:endParaRPr lang="en-US" sz="1300" dirty="0"/>
          </a:p>
        </p:txBody>
      </p:sp>
      <p:sp>
        <p:nvSpPr>
          <p:cNvPr id="9" name="Text 7"/>
          <p:cNvSpPr/>
          <p:nvPr/>
        </p:nvSpPr>
        <p:spPr>
          <a:xfrm>
            <a:off x="658368" y="2377440"/>
            <a:ext cx="3657600" cy="621792"/>
          </a:xfrm>
          <a:prstGeom prst="rect">
            <a:avLst/>
          </a:prstGeom>
          <a:noFill/>
          <a:ln/>
        </p:spPr>
        <p:txBody>
          <a:bodyPr wrap="square" lIns="0" tIns="0" rIns="0" bIns="0" rtlCol="0" anchor="ctr"/>
          <a:lstStyle/>
          <a:p>
            <a:pPr indent="0" marL="0">
              <a:buNone/>
            </a:pPr>
            <a:r>
              <a:rPr lang="en-US" sz="1100" dirty="0">
                <a:solidFill>
                  <a:srgbClr val="475569"/>
                </a:solidFill>
              </a:rPr>
              <a:t>98% AI-composited VFX. Nearly every horse was generated or composited.</a:t>
            </a:r>
            <a:endParaRPr lang="en-US" sz="1100" dirty="0"/>
          </a:p>
        </p:txBody>
      </p:sp>
      <p:sp>
        <p:nvSpPr>
          <p:cNvPr id="10" name="Shape 8"/>
          <p:cNvSpPr/>
          <p:nvPr/>
        </p:nvSpPr>
        <p:spPr>
          <a:xfrm>
            <a:off x="4800600" y="1874520"/>
            <a:ext cx="4069080" cy="1207008"/>
          </a:xfrm>
          <a:prstGeom prst="rect">
            <a:avLst/>
          </a:prstGeom>
          <a:solidFill>
            <a:srgbClr val="F5F3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Shape 9"/>
          <p:cNvSpPr/>
          <p:nvPr/>
        </p:nvSpPr>
        <p:spPr>
          <a:xfrm>
            <a:off x="4800600" y="1874520"/>
            <a:ext cx="91440" cy="1207008"/>
          </a:xfrm>
          <a:prstGeom prst="rect">
            <a:avLst/>
          </a:prstGeom>
          <a:solidFill>
            <a:srgbClr val="7B2FBE"/>
          </a:solidFill>
          <a:ln w="12700">
            <a:solidFill>
              <a:srgbClr val="7B2FBE"/>
            </a:solidFill>
            <a:prstDash val="solid"/>
          </a:ln>
        </p:spPr>
      </p:sp>
      <p:sp>
        <p:nvSpPr>
          <p:cNvPr id="12" name="Text 10"/>
          <p:cNvSpPr/>
          <p:nvPr/>
        </p:nvSpPr>
        <p:spPr>
          <a:xfrm>
            <a:off x="5001768" y="1965960"/>
            <a:ext cx="3657600" cy="384048"/>
          </a:xfrm>
          <a:prstGeom prst="rect">
            <a:avLst/>
          </a:prstGeom>
          <a:noFill/>
          <a:ln/>
        </p:spPr>
        <p:txBody>
          <a:bodyPr wrap="square" lIns="0" tIns="0" rIns="0" bIns="0" rtlCol="0" anchor="ctr"/>
          <a:lstStyle/>
          <a:p>
            <a:pPr indent="0" marL="0">
              <a:buNone/>
            </a:pPr>
            <a:r>
              <a:rPr lang="en-US" sz="1300" b="1" dirty="0">
                <a:solidFill>
                  <a:srgbClr val="1A1F5E"/>
                </a:solidFill>
              </a:rPr>
              <a:t>⚡  Brahmastra Beams</a:t>
            </a:r>
            <a:endParaRPr lang="en-US" sz="1300" dirty="0"/>
          </a:p>
        </p:txBody>
      </p:sp>
      <p:sp>
        <p:nvSpPr>
          <p:cNvPr id="13" name="Text 11"/>
          <p:cNvSpPr/>
          <p:nvPr/>
        </p:nvSpPr>
        <p:spPr>
          <a:xfrm>
            <a:off x="5001768" y="2377440"/>
            <a:ext cx="3657600" cy="621792"/>
          </a:xfrm>
          <a:prstGeom prst="rect">
            <a:avLst/>
          </a:prstGeom>
          <a:noFill/>
          <a:ln/>
        </p:spPr>
        <p:txBody>
          <a:bodyPr wrap="square" lIns="0" tIns="0" rIns="0" bIns="0" rtlCol="0" anchor="ctr"/>
          <a:lstStyle/>
          <a:p>
            <a:pPr indent="0" marL="0">
              <a:buNone/>
            </a:pPr>
            <a:r>
              <a:rPr lang="en-US" sz="1100" dirty="0">
                <a:solidFill>
                  <a:srgbClr val="475569"/>
                </a:solidFill>
              </a:rPr>
              <a:t>Supernatural energy effects built with AI rendering pipelines.</a:t>
            </a:r>
            <a:endParaRPr lang="en-US" sz="1100" dirty="0"/>
          </a:p>
        </p:txBody>
      </p:sp>
      <p:sp>
        <p:nvSpPr>
          <p:cNvPr id="14" name="Shape 12"/>
          <p:cNvSpPr/>
          <p:nvPr/>
        </p:nvSpPr>
        <p:spPr>
          <a:xfrm>
            <a:off x="457200" y="3200400"/>
            <a:ext cx="4069080" cy="1207008"/>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5" name="Shape 13"/>
          <p:cNvSpPr/>
          <p:nvPr/>
        </p:nvSpPr>
        <p:spPr>
          <a:xfrm>
            <a:off x="457200" y="3200400"/>
            <a:ext cx="91440" cy="1207008"/>
          </a:xfrm>
          <a:prstGeom prst="rect">
            <a:avLst/>
          </a:prstGeom>
          <a:solidFill>
            <a:srgbClr val="2D3A8C"/>
          </a:solidFill>
          <a:ln w="12700">
            <a:solidFill>
              <a:srgbClr val="2D3A8C"/>
            </a:solidFill>
            <a:prstDash val="solid"/>
          </a:ln>
        </p:spPr>
      </p:sp>
      <p:sp>
        <p:nvSpPr>
          <p:cNvPr id="16" name="Text 14"/>
          <p:cNvSpPr/>
          <p:nvPr/>
        </p:nvSpPr>
        <p:spPr>
          <a:xfrm>
            <a:off x="658368" y="3291840"/>
            <a:ext cx="3657600" cy="384048"/>
          </a:xfrm>
          <a:prstGeom prst="rect">
            <a:avLst/>
          </a:prstGeom>
          <a:noFill/>
          <a:ln/>
        </p:spPr>
        <p:txBody>
          <a:bodyPr wrap="square" lIns="0" tIns="0" rIns="0" bIns="0" rtlCol="0" anchor="ctr"/>
          <a:lstStyle/>
          <a:p>
            <a:pPr indent="0" marL="0">
              <a:buNone/>
            </a:pPr>
            <a:r>
              <a:rPr lang="en-US" sz="1300" b="1" dirty="0">
                <a:solidFill>
                  <a:srgbClr val="1A1F5E"/>
                </a:solidFill>
              </a:rPr>
              <a:t>👴  Shah Rukh De-aged</a:t>
            </a:r>
            <a:endParaRPr lang="en-US" sz="1300" dirty="0"/>
          </a:p>
        </p:txBody>
      </p:sp>
      <p:sp>
        <p:nvSpPr>
          <p:cNvPr id="17" name="Text 15"/>
          <p:cNvSpPr/>
          <p:nvPr/>
        </p:nvSpPr>
        <p:spPr>
          <a:xfrm>
            <a:off x="658368" y="3703320"/>
            <a:ext cx="3657600" cy="621792"/>
          </a:xfrm>
          <a:prstGeom prst="rect">
            <a:avLst/>
          </a:prstGeom>
          <a:noFill/>
          <a:ln/>
        </p:spPr>
        <p:txBody>
          <a:bodyPr wrap="square" lIns="0" tIns="0" rIns="0" bIns="0" rtlCol="0" anchor="ctr"/>
          <a:lstStyle/>
          <a:p>
            <a:pPr indent="0" marL="0">
              <a:buNone/>
            </a:pPr>
            <a:r>
              <a:rPr lang="en-US" sz="1100" dirty="0">
                <a:solidFill>
                  <a:srgbClr val="475569"/>
                </a:solidFill>
              </a:rPr>
              <a:t>Jawan &amp; other films use AI face-morphing to make actors look 20 years younger.</a:t>
            </a:r>
            <a:endParaRPr lang="en-US" sz="1100" dirty="0"/>
          </a:p>
        </p:txBody>
      </p:sp>
      <p:sp>
        <p:nvSpPr>
          <p:cNvPr id="18" name="Shape 16"/>
          <p:cNvSpPr/>
          <p:nvPr/>
        </p:nvSpPr>
        <p:spPr>
          <a:xfrm>
            <a:off x="4800600" y="3200400"/>
            <a:ext cx="4069080" cy="1207008"/>
          </a:xfrm>
          <a:prstGeom prst="rect">
            <a:avLst/>
          </a:prstGeom>
          <a:solidFill>
            <a:srgbClr val="ECFDF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9" name="Shape 17"/>
          <p:cNvSpPr/>
          <p:nvPr/>
        </p:nvSpPr>
        <p:spPr>
          <a:xfrm>
            <a:off x="4800600" y="3200400"/>
            <a:ext cx="91440" cy="1207008"/>
          </a:xfrm>
          <a:prstGeom prst="rect">
            <a:avLst/>
          </a:prstGeom>
          <a:solidFill>
            <a:srgbClr val="059669"/>
          </a:solidFill>
          <a:ln w="12700">
            <a:solidFill>
              <a:srgbClr val="059669"/>
            </a:solidFill>
            <a:prstDash val="solid"/>
          </a:ln>
        </p:spPr>
      </p:sp>
      <p:sp>
        <p:nvSpPr>
          <p:cNvPr id="20" name="Text 18"/>
          <p:cNvSpPr/>
          <p:nvPr/>
        </p:nvSpPr>
        <p:spPr>
          <a:xfrm>
            <a:off x="5001768" y="3291840"/>
            <a:ext cx="3657600" cy="384048"/>
          </a:xfrm>
          <a:prstGeom prst="rect">
            <a:avLst/>
          </a:prstGeom>
          <a:noFill/>
          <a:ln/>
        </p:spPr>
        <p:txBody>
          <a:bodyPr wrap="square" lIns="0" tIns="0" rIns="0" bIns="0" rtlCol="0" anchor="ctr"/>
          <a:lstStyle/>
          <a:p>
            <a:pPr indent="0" marL="0">
              <a:buNone/>
            </a:pPr>
            <a:r>
              <a:rPr lang="en-US" sz="1300" b="1" dirty="0">
                <a:solidFill>
                  <a:srgbClr val="1A1F5E"/>
                </a:solidFill>
              </a:rPr>
              <a:t>🏰  Mahishmati Kingdom</a:t>
            </a:r>
            <a:endParaRPr lang="en-US" sz="1300" dirty="0"/>
          </a:p>
        </p:txBody>
      </p:sp>
      <p:sp>
        <p:nvSpPr>
          <p:cNvPr id="21" name="Text 19"/>
          <p:cNvSpPr/>
          <p:nvPr/>
        </p:nvSpPr>
        <p:spPr>
          <a:xfrm>
            <a:off x="5001768" y="3703320"/>
            <a:ext cx="3657600" cy="621792"/>
          </a:xfrm>
          <a:prstGeom prst="rect">
            <a:avLst/>
          </a:prstGeom>
          <a:noFill/>
          <a:ln/>
        </p:spPr>
        <p:txBody>
          <a:bodyPr wrap="square" lIns="0" tIns="0" rIns="0" bIns="0" rtlCol="0" anchor="ctr"/>
          <a:lstStyle/>
          <a:p>
            <a:pPr indent="0" marL="0">
              <a:buNone/>
            </a:pPr>
            <a:r>
              <a:rPr lang="en-US" sz="1100" dirty="0">
                <a:solidFill>
                  <a:srgbClr val="475569"/>
                </a:solidFill>
              </a:rPr>
              <a:t>Bahubali's entire kingdom? AI + CGI. It was never a real place.</a:t>
            </a:r>
            <a:endParaRPr lang="en-US" sz="1100" dirty="0"/>
          </a:p>
        </p:txBody>
      </p:sp>
      <p:sp>
        <p:nvSpPr>
          <p:cNvPr id="22" name="Text 20"/>
          <p:cNvSpPr/>
          <p:nvPr/>
        </p:nvSpPr>
        <p:spPr>
          <a:xfrm>
            <a:off x="457200" y="4681728"/>
            <a:ext cx="8229600" cy="347472"/>
          </a:xfrm>
          <a:prstGeom prst="rect">
            <a:avLst/>
          </a:prstGeom>
          <a:noFill/>
          <a:ln/>
        </p:spPr>
        <p:txBody>
          <a:bodyPr wrap="square" lIns="0" tIns="0" rIns="0" bIns="0" rtlCol="0" anchor="ctr"/>
          <a:lstStyle/>
          <a:p>
            <a:pPr algn="ctr" indent="0" marL="0">
              <a:buNone/>
            </a:pPr>
            <a:r>
              <a:rPr lang="en-US" sz="1150" i="1" dirty="0">
                <a:solidFill>
                  <a:srgbClr val="94A3B8"/>
                </a:solidFill>
              </a:rPr>
              <a:t>Same technology that powers Bollywood VFX now powers the Bing Image Creator demo we did earlier.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D166"/>
          </a:solidFill>
          <a:ln w="12700">
            <a:solidFill>
              <a:srgbClr val="FFD166"/>
            </a:solidFill>
            <a:prstDash val="solid"/>
          </a:ln>
        </p:spPr>
      </p:sp>
      <p:sp>
        <p:nvSpPr>
          <p:cNvPr id="3" name="Shape 1"/>
          <p:cNvSpPr/>
          <p:nvPr/>
        </p:nvSpPr>
        <p:spPr>
          <a:xfrm>
            <a:off x="548640" y="164592"/>
            <a:ext cx="2286000" cy="320040"/>
          </a:xfrm>
          <a:prstGeom prst="roundRect">
            <a:avLst>
              <a:gd name="adj" fmla="val 51429"/>
            </a:avLst>
          </a:prstGeom>
          <a:solidFill>
            <a:srgbClr val="B45309"/>
          </a:solidFill>
          <a:ln w="12700">
            <a:solidFill>
              <a:srgbClr val="B45309"/>
            </a:solidFill>
            <a:prstDash val="solid"/>
          </a:ln>
        </p:spPr>
      </p:sp>
      <p:sp>
        <p:nvSpPr>
          <p:cNvPr id="4" name="Text 2"/>
          <p:cNvSpPr/>
          <p:nvPr/>
        </p:nvSpPr>
        <p:spPr>
          <a:xfrm>
            <a:off x="548640" y="164592"/>
            <a:ext cx="2286000" cy="320040"/>
          </a:xfrm>
          <a:prstGeom prst="rect">
            <a:avLst/>
          </a:prstGeom>
          <a:noFill/>
          <a:ln/>
        </p:spPr>
        <p:txBody>
          <a:bodyPr wrap="square" lIns="0" tIns="0" rIns="0" bIns="0" rtlCol="0" anchor="ctr"/>
          <a:lstStyle/>
          <a:p>
            <a:pPr algn="ctr" indent="0" marL="0">
              <a:buNone/>
            </a:pPr>
            <a:r>
              <a:rPr lang="en-US" sz="1000" b="1" dirty="0">
                <a:solidFill>
                  <a:srgbClr val="FFFFFF"/>
                </a:solidFill>
              </a:rPr>
              <a:t>03 · VOICE AI 🗣</a:t>
            </a:r>
            <a:endParaRPr lang="en-US" sz="1000" dirty="0"/>
          </a:p>
        </p:txBody>
      </p:sp>
      <p:sp>
        <p:nvSpPr>
          <p:cNvPr id="5" name="Text 3"/>
          <p:cNvSpPr/>
          <p:nvPr/>
        </p:nvSpPr>
        <p:spPr>
          <a:xfrm>
            <a:off x="548640" y="594360"/>
            <a:ext cx="8229600" cy="1097280"/>
          </a:xfrm>
          <a:prstGeom prst="rect">
            <a:avLst/>
          </a:prstGeom>
          <a:noFill/>
          <a:ln/>
        </p:spPr>
        <p:txBody>
          <a:bodyPr wrap="square" lIns="0" tIns="0" rIns="0" bIns="0" rtlCol="0" anchor="ctr"/>
          <a:lstStyle/>
          <a:p>
            <a:pPr indent="0" marL="0">
              <a:buNone/>
            </a:pPr>
            <a:r>
              <a:rPr lang="en-US" sz="3400" b="1" dirty="0">
                <a:solidFill>
                  <a:srgbClr val="1A1F5E"/>
                </a:solidFill>
              </a:rPr>
              <a:t>AI is learning to speak</a:t>
            </a:r>
            <a:endParaRPr lang="en-US" sz="3400" dirty="0"/>
          </a:p>
          <a:p>
            <a:pPr indent="0" marL="0">
              <a:buNone/>
            </a:pPr>
            <a:r>
              <a:rPr lang="en-US" sz="3400" b="1" dirty="0">
                <a:solidFill>
                  <a:srgbClr val="1A1F5E"/>
                </a:solidFill>
              </a:rPr>
              <a:t>your mother tongue.</a:t>
            </a:r>
            <a:endParaRPr lang="en-US" sz="3400" dirty="0"/>
          </a:p>
        </p:txBody>
      </p:sp>
      <p:sp>
        <p:nvSpPr>
          <p:cNvPr id="6" name="Shape 4"/>
          <p:cNvSpPr/>
          <p:nvPr/>
        </p:nvSpPr>
        <p:spPr>
          <a:xfrm>
            <a:off x="457200" y="1874520"/>
            <a:ext cx="2697480" cy="260604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874520"/>
            <a:ext cx="2697480" cy="73152"/>
          </a:xfrm>
          <a:prstGeom prst="rect">
            <a:avLst/>
          </a:prstGeom>
          <a:solidFill>
            <a:srgbClr val="B45309"/>
          </a:solidFill>
          <a:ln w="12700">
            <a:solidFill>
              <a:srgbClr val="B45309"/>
            </a:solidFill>
            <a:prstDash val="solid"/>
          </a:ln>
        </p:spPr>
      </p:sp>
      <p:sp>
        <p:nvSpPr>
          <p:cNvPr id="8" name="Text 6"/>
          <p:cNvSpPr/>
          <p:nvPr/>
        </p:nvSpPr>
        <p:spPr>
          <a:xfrm>
            <a:off x="457200" y="1993392"/>
            <a:ext cx="2697480" cy="658368"/>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9" name="Text 7"/>
          <p:cNvSpPr/>
          <p:nvPr/>
        </p:nvSpPr>
        <p:spPr>
          <a:xfrm>
            <a:off x="566928" y="2697480"/>
            <a:ext cx="2468880" cy="457200"/>
          </a:xfrm>
          <a:prstGeom prst="rect">
            <a:avLst/>
          </a:prstGeom>
          <a:noFill/>
          <a:ln/>
        </p:spPr>
        <p:txBody>
          <a:bodyPr wrap="square" lIns="0" tIns="0" rIns="0" bIns="0" rtlCol="0" anchor="ctr"/>
          <a:lstStyle/>
          <a:p>
            <a:pPr algn="ctr" indent="0" marL="0">
              <a:buNone/>
            </a:pPr>
            <a:r>
              <a:rPr lang="en-US" sz="1300" b="1" dirty="0">
                <a:solidFill>
                  <a:srgbClr val="B45309"/>
                </a:solidFill>
              </a:rPr>
              <a:t>22 Languages</a:t>
            </a:r>
            <a:endParaRPr lang="en-US" sz="1300" dirty="0"/>
          </a:p>
        </p:txBody>
      </p:sp>
      <p:sp>
        <p:nvSpPr>
          <p:cNvPr id="10" name="Text 8"/>
          <p:cNvSpPr/>
          <p:nvPr/>
        </p:nvSpPr>
        <p:spPr>
          <a:xfrm>
            <a:off x="566928" y="3182112"/>
            <a:ext cx="2468880" cy="1188720"/>
          </a:xfrm>
          <a:prstGeom prst="rect">
            <a:avLst/>
          </a:prstGeom>
          <a:noFill/>
          <a:ln/>
        </p:spPr>
        <p:txBody>
          <a:bodyPr wrap="square" lIns="0" tIns="0" rIns="0" bIns="0" rtlCol="0" anchor="ctr"/>
          <a:lstStyle/>
          <a:p>
            <a:pPr algn="ctr" indent="0" marL="0">
              <a:buNone/>
            </a:pPr>
            <a:r>
              <a:rPr lang="en-US" sz="1100" dirty="0">
                <a:solidFill>
                  <a:srgbClr val="1A1F5E"/>
                </a:solidFill>
              </a:rPr>
              <a:t>India's AI models like Krutrim are trained on all 22 official languages — including Bhojpuri, spoken right here in UP.</a:t>
            </a:r>
            <a:endParaRPr lang="en-US" sz="1100" dirty="0"/>
          </a:p>
        </p:txBody>
      </p:sp>
      <p:sp>
        <p:nvSpPr>
          <p:cNvPr id="11" name="Shape 9"/>
          <p:cNvSpPr/>
          <p:nvPr/>
        </p:nvSpPr>
        <p:spPr>
          <a:xfrm>
            <a:off x="3364992" y="1874520"/>
            <a:ext cx="2697480" cy="260604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Shape 10"/>
          <p:cNvSpPr/>
          <p:nvPr/>
        </p:nvSpPr>
        <p:spPr>
          <a:xfrm>
            <a:off x="3364992" y="1874520"/>
            <a:ext cx="2697480" cy="73152"/>
          </a:xfrm>
          <a:prstGeom prst="rect">
            <a:avLst/>
          </a:prstGeom>
          <a:solidFill>
            <a:srgbClr val="06D6A0"/>
          </a:solidFill>
          <a:ln w="12700">
            <a:solidFill>
              <a:srgbClr val="06D6A0"/>
            </a:solidFill>
            <a:prstDash val="solid"/>
          </a:ln>
        </p:spPr>
      </p:sp>
      <p:sp>
        <p:nvSpPr>
          <p:cNvPr id="13" name="Text 11"/>
          <p:cNvSpPr/>
          <p:nvPr/>
        </p:nvSpPr>
        <p:spPr>
          <a:xfrm>
            <a:off x="3364992" y="1993392"/>
            <a:ext cx="2697480" cy="658368"/>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4" name="Text 12"/>
          <p:cNvSpPr/>
          <p:nvPr/>
        </p:nvSpPr>
        <p:spPr>
          <a:xfrm>
            <a:off x="3474720" y="2697480"/>
            <a:ext cx="2468880" cy="457200"/>
          </a:xfrm>
          <a:prstGeom prst="rect">
            <a:avLst/>
          </a:prstGeom>
          <a:noFill/>
          <a:ln/>
        </p:spPr>
        <p:txBody>
          <a:bodyPr wrap="square" lIns="0" tIns="0" rIns="0" bIns="0" rtlCol="0" anchor="ctr"/>
          <a:lstStyle/>
          <a:p>
            <a:pPr algn="ctr" indent="0" marL="0">
              <a:buNone/>
            </a:pPr>
            <a:r>
              <a:rPr lang="en-US" sz="1300" b="1" dirty="0">
                <a:solidFill>
                  <a:srgbClr val="06D6A0"/>
                </a:solidFill>
              </a:rPr>
              <a:t>Google Translate Camera</a:t>
            </a:r>
            <a:endParaRPr lang="en-US" sz="1300" dirty="0"/>
          </a:p>
        </p:txBody>
      </p:sp>
      <p:sp>
        <p:nvSpPr>
          <p:cNvPr id="15" name="Text 13"/>
          <p:cNvSpPr/>
          <p:nvPr/>
        </p:nvSpPr>
        <p:spPr>
          <a:xfrm>
            <a:off x="3474720" y="3182112"/>
            <a:ext cx="2468880" cy="1188720"/>
          </a:xfrm>
          <a:prstGeom prst="rect">
            <a:avLst/>
          </a:prstGeom>
          <a:noFill/>
          <a:ln/>
        </p:spPr>
        <p:txBody>
          <a:bodyPr wrap="square" lIns="0" tIns="0" rIns="0" bIns="0" rtlCol="0" anchor="ctr"/>
          <a:lstStyle/>
          <a:p>
            <a:pPr algn="ctr" indent="0" marL="0">
              <a:buNone/>
            </a:pPr>
            <a:r>
              <a:rPr lang="en-US" sz="1100" dirty="0">
                <a:solidFill>
                  <a:srgbClr val="1A1F5E"/>
                </a:solidFill>
              </a:rPr>
              <a:t>Point your phone at a Hindi sign. AI reads Devanagari script and translates it live — character by character.</a:t>
            </a:r>
            <a:endParaRPr lang="en-US" sz="1100" dirty="0"/>
          </a:p>
        </p:txBody>
      </p:sp>
      <p:sp>
        <p:nvSpPr>
          <p:cNvPr id="16" name="Shape 14"/>
          <p:cNvSpPr/>
          <p:nvPr/>
        </p:nvSpPr>
        <p:spPr>
          <a:xfrm>
            <a:off x="6272784" y="1874520"/>
            <a:ext cx="2697480" cy="260604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7" name="Shape 15"/>
          <p:cNvSpPr/>
          <p:nvPr/>
        </p:nvSpPr>
        <p:spPr>
          <a:xfrm>
            <a:off x="6272784" y="1874520"/>
            <a:ext cx="2697480" cy="73152"/>
          </a:xfrm>
          <a:prstGeom prst="rect">
            <a:avLst/>
          </a:prstGeom>
          <a:solidFill>
            <a:srgbClr val="2D3A8C"/>
          </a:solidFill>
          <a:ln w="12700">
            <a:solidFill>
              <a:srgbClr val="2D3A8C"/>
            </a:solidFill>
            <a:prstDash val="solid"/>
          </a:ln>
        </p:spPr>
      </p:sp>
      <p:sp>
        <p:nvSpPr>
          <p:cNvPr id="18" name="Text 16"/>
          <p:cNvSpPr/>
          <p:nvPr/>
        </p:nvSpPr>
        <p:spPr>
          <a:xfrm>
            <a:off x="6272784" y="1993392"/>
            <a:ext cx="2697480" cy="658368"/>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9" name="Text 17"/>
          <p:cNvSpPr/>
          <p:nvPr/>
        </p:nvSpPr>
        <p:spPr>
          <a:xfrm>
            <a:off x="6382512" y="2697480"/>
            <a:ext cx="2468880" cy="457200"/>
          </a:xfrm>
          <a:prstGeom prst="rect">
            <a:avLst/>
          </a:prstGeom>
          <a:noFill/>
          <a:ln/>
        </p:spPr>
        <p:txBody>
          <a:bodyPr wrap="square" lIns="0" tIns="0" rIns="0" bIns="0" rtlCol="0" anchor="ctr"/>
          <a:lstStyle/>
          <a:p>
            <a:pPr algn="ctr" indent="0" marL="0">
              <a:buNone/>
            </a:pPr>
            <a:r>
              <a:rPr lang="en-US" sz="1300" b="1" dirty="0">
                <a:solidFill>
                  <a:srgbClr val="2D3A8C"/>
                </a:solidFill>
              </a:rPr>
              <a:t>Hey Google, aaj ka mausam?</a:t>
            </a:r>
            <a:endParaRPr lang="en-US" sz="1300" dirty="0"/>
          </a:p>
        </p:txBody>
      </p:sp>
      <p:sp>
        <p:nvSpPr>
          <p:cNvPr id="20" name="Text 18"/>
          <p:cNvSpPr/>
          <p:nvPr/>
        </p:nvSpPr>
        <p:spPr>
          <a:xfrm>
            <a:off x="6382512" y="3182112"/>
            <a:ext cx="2468880" cy="1188720"/>
          </a:xfrm>
          <a:prstGeom prst="rect">
            <a:avLst/>
          </a:prstGeom>
          <a:noFill/>
          <a:ln/>
        </p:spPr>
        <p:txBody>
          <a:bodyPr wrap="square" lIns="0" tIns="0" rIns="0" bIns="0" rtlCol="0" anchor="ctr"/>
          <a:lstStyle/>
          <a:p>
            <a:pPr algn="ctr" indent="0" marL="0">
              <a:buNone/>
            </a:pPr>
            <a:r>
              <a:rPr lang="en-US" sz="1100" dirty="0">
                <a:solidFill>
                  <a:srgbClr val="1A1F5E"/>
                </a:solidFill>
              </a:rPr>
              <a:t>Trained on millions of hours of Hindi speech, learning every accent and dialect — including yours.</a:t>
            </a:r>
            <a:endParaRPr lang="en-US" sz="1100" dirty="0"/>
          </a:p>
        </p:txBody>
      </p:sp>
      <p:sp>
        <p:nvSpPr>
          <p:cNvPr id="21" name="Text 19"/>
          <p:cNvSpPr/>
          <p:nvPr/>
        </p:nvSpPr>
        <p:spPr>
          <a:xfrm>
            <a:off x="0" y="4663440"/>
            <a:ext cx="9144000" cy="411480"/>
          </a:xfrm>
          <a:prstGeom prst="rect">
            <a:avLst/>
          </a:prstGeom>
          <a:noFill/>
          <a:ln/>
        </p:spPr>
        <p:txBody>
          <a:bodyPr wrap="square" lIns="0" tIns="0" rIns="0" bIns="0" rtlCol="0" anchor="ctr"/>
          <a:lstStyle/>
          <a:p>
            <a:pPr algn="ctr" indent="0" marL="0">
              <a:buNone/>
            </a:pPr>
            <a:r>
              <a:rPr lang="en-US" sz="1800" b="1" i="1" dirty="0">
                <a:solidFill>
                  <a:srgbClr val="B45309"/>
                </a:solidFill>
              </a:rPr>
              <a:t>Bharat ka AI. Bharat ki awaaz.</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EF2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548640" y="164592"/>
            <a:ext cx="2011680" cy="320040"/>
          </a:xfrm>
          <a:prstGeom prst="roundRect">
            <a:avLst>
              <a:gd name="adj" fmla="val 51429"/>
            </a:avLst>
          </a:prstGeom>
          <a:solidFill>
            <a:srgbClr val="EF4444"/>
          </a:solidFill>
          <a:ln w="12700">
            <a:solidFill>
              <a:srgbClr val="EF4444"/>
            </a:solidFill>
            <a:prstDash val="solid"/>
          </a:ln>
        </p:spPr>
      </p:sp>
      <p:sp>
        <p:nvSpPr>
          <p:cNvPr id="4" name="Text 2"/>
          <p:cNvSpPr/>
          <p:nvPr/>
        </p:nvSpPr>
        <p:spPr>
          <a:xfrm>
            <a:off x="548640" y="164592"/>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rPr>
              <a:t>04 · HEALTH AI 🏥</a:t>
            </a:r>
            <a:endParaRPr lang="en-US" sz="1000" dirty="0"/>
          </a:p>
        </p:txBody>
      </p:sp>
      <p:sp>
        <p:nvSpPr>
          <p:cNvPr id="5" name="Text 3"/>
          <p:cNvSpPr/>
          <p:nvPr/>
        </p:nvSpPr>
        <p:spPr>
          <a:xfrm>
            <a:off x="548640" y="594360"/>
            <a:ext cx="8229600" cy="1097280"/>
          </a:xfrm>
          <a:prstGeom prst="rect">
            <a:avLst/>
          </a:prstGeom>
          <a:noFill/>
          <a:ln/>
        </p:spPr>
        <p:txBody>
          <a:bodyPr wrap="square" lIns="0" tIns="0" rIns="0" bIns="0" rtlCol="0" anchor="ctr"/>
          <a:lstStyle/>
          <a:p>
            <a:pPr indent="0" marL="0">
              <a:buNone/>
            </a:pPr>
            <a:r>
              <a:rPr lang="en-US" sz="3400" b="1" dirty="0">
                <a:solidFill>
                  <a:srgbClr val="1A1F5E"/>
                </a:solidFill>
              </a:rPr>
              <a:t>What if your village has</a:t>
            </a:r>
            <a:endParaRPr lang="en-US" sz="3400" dirty="0"/>
          </a:p>
          <a:p>
            <a:pPr indent="0" marL="0">
              <a:buNone/>
            </a:pPr>
            <a:r>
              <a:rPr lang="en-US" sz="3400" b="1" dirty="0">
                <a:solidFill>
                  <a:srgbClr val="1A1F5E"/>
                </a:solidFill>
              </a:rPr>
              <a:t>no doctor?</a:t>
            </a:r>
            <a:endParaRPr lang="en-US" sz="3400" dirty="0"/>
          </a:p>
        </p:txBody>
      </p:sp>
      <p:sp>
        <p:nvSpPr>
          <p:cNvPr id="6" name="Shape 4"/>
          <p:cNvSpPr/>
          <p:nvPr/>
        </p:nvSpPr>
        <p:spPr>
          <a:xfrm>
            <a:off x="457200" y="1828800"/>
            <a:ext cx="4114800" cy="242316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828800"/>
            <a:ext cx="4114800" cy="73152"/>
          </a:xfrm>
          <a:prstGeom prst="rect">
            <a:avLst/>
          </a:prstGeom>
          <a:solidFill>
            <a:srgbClr val="EF4444"/>
          </a:solidFill>
          <a:ln w="12700">
            <a:solidFill>
              <a:srgbClr val="EF4444"/>
            </a:solidFill>
            <a:prstDash val="solid"/>
          </a:ln>
        </p:spPr>
      </p:sp>
      <p:sp>
        <p:nvSpPr>
          <p:cNvPr id="8" name="Text 6"/>
          <p:cNvSpPr/>
          <p:nvPr/>
        </p:nvSpPr>
        <p:spPr>
          <a:xfrm>
            <a:off x="640080" y="1965960"/>
            <a:ext cx="3657600" cy="384048"/>
          </a:xfrm>
          <a:prstGeom prst="rect">
            <a:avLst/>
          </a:prstGeom>
          <a:noFill/>
          <a:ln/>
        </p:spPr>
        <p:txBody>
          <a:bodyPr wrap="square" lIns="0" tIns="0" rIns="0" bIns="0" rtlCol="0" anchor="ctr"/>
          <a:lstStyle/>
          <a:p>
            <a:pPr indent="0" marL="0">
              <a:buNone/>
            </a:pPr>
            <a:r>
              <a:rPr lang="en-US" sz="1500" b="1" dirty="0">
                <a:solidFill>
                  <a:srgbClr val="EF4444"/>
                </a:solidFill>
              </a:rPr>
              <a:t>Wadhwani AI 🫁</a:t>
            </a:r>
            <a:endParaRPr lang="en-US" sz="1500" dirty="0"/>
          </a:p>
        </p:txBody>
      </p:sp>
      <p:sp>
        <p:nvSpPr>
          <p:cNvPr id="9" name="Text 7"/>
          <p:cNvSpPr/>
          <p:nvPr/>
        </p:nvSpPr>
        <p:spPr>
          <a:xfrm>
            <a:off x="640080" y="2423160"/>
            <a:ext cx="3657600" cy="1691640"/>
          </a:xfrm>
          <a:prstGeom prst="rect">
            <a:avLst/>
          </a:prstGeom>
          <a:noFill/>
          <a:ln/>
        </p:spPr>
        <p:txBody>
          <a:bodyPr wrap="square" lIns="0" tIns="0" rIns="0" bIns="0" rtlCol="0" anchor="ctr"/>
          <a:lstStyle/>
          <a:p>
            <a:pPr indent="0" marL="0">
              <a:buNone/>
            </a:pPr>
            <a:r>
              <a:rPr lang="en-US" sz="1200" dirty="0">
                <a:solidFill>
                  <a:srgbClr val="1A1F5E"/>
                </a:solidFill>
              </a:rPr>
              <a:t>A model that detects Tuberculosis from a cough recording on a basic smartphone.</a:t>
            </a:r>
            <a:endParaRPr lang="en-US" sz="1200" dirty="0"/>
          </a:p>
          <a:p>
            <a:pPr indent="0" marL="0">
              <a:buNone/>
            </a:pPr>
            <a:endParaRPr lang="en-US" sz="1200" dirty="0"/>
          </a:p>
          <a:p>
            <a:pPr indent="0" marL="0">
              <a:buNone/>
            </a:pPr>
            <a:r>
              <a:rPr lang="en-US" sz="1200" dirty="0">
                <a:solidFill>
                  <a:srgbClr val="1A1F5E"/>
                </a:solidFill>
              </a:rPr>
              <a:t>A health worker with a phone can screen an entire village in one morning. No doctor needed for the first diagnosis.</a:t>
            </a:r>
            <a:endParaRPr lang="en-US" sz="1200" dirty="0"/>
          </a:p>
        </p:txBody>
      </p:sp>
      <p:sp>
        <p:nvSpPr>
          <p:cNvPr id="10" name="Shape 8"/>
          <p:cNvSpPr/>
          <p:nvPr/>
        </p:nvSpPr>
        <p:spPr>
          <a:xfrm>
            <a:off x="4846320" y="1828800"/>
            <a:ext cx="3840480" cy="242316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Shape 9"/>
          <p:cNvSpPr/>
          <p:nvPr/>
        </p:nvSpPr>
        <p:spPr>
          <a:xfrm>
            <a:off x="4846320" y="1828800"/>
            <a:ext cx="3840480" cy="73152"/>
          </a:xfrm>
          <a:prstGeom prst="rect">
            <a:avLst/>
          </a:prstGeom>
          <a:solidFill>
            <a:srgbClr val="2D3A8C"/>
          </a:solidFill>
          <a:ln w="12700">
            <a:solidFill>
              <a:srgbClr val="2D3A8C"/>
            </a:solidFill>
            <a:prstDash val="solid"/>
          </a:ln>
        </p:spPr>
      </p:sp>
      <p:sp>
        <p:nvSpPr>
          <p:cNvPr id="12" name="Text 10"/>
          <p:cNvSpPr/>
          <p:nvPr/>
        </p:nvSpPr>
        <p:spPr>
          <a:xfrm>
            <a:off x="5029200" y="1965960"/>
            <a:ext cx="3474720" cy="384048"/>
          </a:xfrm>
          <a:prstGeom prst="rect">
            <a:avLst/>
          </a:prstGeom>
          <a:noFill/>
          <a:ln/>
        </p:spPr>
        <p:txBody>
          <a:bodyPr wrap="square" lIns="0" tIns="0" rIns="0" bIns="0" rtlCol="0" anchor="ctr"/>
          <a:lstStyle/>
          <a:p>
            <a:pPr indent="0" marL="0">
              <a:buNone/>
            </a:pPr>
            <a:r>
              <a:rPr lang="en-US" sz="1500" b="1" dirty="0">
                <a:solidFill>
                  <a:srgbClr val="2D3A8C"/>
                </a:solidFill>
              </a:rPr>
              <a:t>AIIMS Delhi + AI 👁</a:t>
            </a:r>
            <a:endParaRPr lang="en-US" sz="1500" dirty="0"/>
          </a:p>
        </p:txBody>
      </p:sp>
      <p:sp>
        <p:nvSpPr>
          <p:cNvPr id="13" name="Text 11"/>
          <p:cNvSpPr/>
          <p:nvPr/>
        </p:nvSpPr>
        <p:spPr>
          <a:xfrm>
            <a:off x="5029200" y="2423160"/>
            <a:ext cx="3474720" cy="1691640"/>
          </a:xfrm>
          <a:prstGeom prst="rect">
            <a:avLst/>
          </a:prstGeom>
          <a:noFill/>
          <a:ln/>
        </p:spPr>
        <p:txBody>
          <a:bodyPr wrap="square" lIns="0" tIns="0" rIns="0" bIns="0" rtlCol="0" anchor="ctr"/>
          <a:lstStyle/>
          <a:p>
            <a:pPr indent="0" marL="0">
              <a:buNone/>
            </a:pPr>
            <a:r>
              <a:rPr lang="en-US" sz="1200" dirty="0">
                <a:solidFill>
                  <a:srgbClr val="1A1F5E"/>
                </a:solidFill>
              </a:rPr>
              <a:t>AI analyses retina scans and detects diabetic blindness — a condition that causes permanent blindness if missed.</a:t>
            </a:r>
            <a:endParaRPr lang="en-US" sz="1200" dirty="0"/>
          </a:p>
          <a:p>
            <a:pPr indent="0" marL="0">
              <a:buNone/>
            </a:pPr>
            <a:endParaRPr lang="en-US" sz="1200" dirty="0"/>
          </a:p>
          <a:p>
            <a:pPr indent="0" marL="0">
              <a:buNone/>
            </a:pPr>
            <a:r>
              <a:rPr lang="en-US" sz="1200" dirty="0">
                <a:solidFill>
                  <a:srgbClr val="1A1F5E"/>
                </a:solidFill>
              </a:rPr>
              <a:t>AI spots the signs 3 years before a human doctor would notice them.</a:t>
            </a:r>
            <a:endParaRPr lang="en-US" sz="1200" dirty="0"/>
          </a:p>
        </p:txBody>
      </p:sp>
      <p:sp>
        <p:nvSpPr>
          <p:cNvPr id="14" name="Shape 12"/>
          <p:cNvSpPr/>
          <p:nvPr/>
        </p:nvSpPr>
        <p:spPr>
          <a:xfrm>
            <a:off x="457200" y="4434840"/>
            <a:ext cx="8229600" cy="594360"/>
          </a:xfrm>
          <a:prstGeom prst="rect">
            <a:avLst/>
          </a:prstGeom>
          <a:solidFill>
            <a:srgbClr val="FEF2F2"/>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5" name="Shape 13"/>
          <p:cNvSpPr/>
          <p:nvPr/>
        </p:nvSpPr>
        <p:spPr>
          <a:xfrm>
            <a:off x="457200" y="4434840"/>
            <a:ext cx="91440" cy="594360"/>
          </a:xfrm>
          <a:prstGeom prst="rect">
            <a:avLst/>
          </a:prstGeom>
          <a:solidFill>
            <a:srgbClr val="EF4444"/>
          </a:solidFill>
          <a:ln w="12700">
            <a:solidFill>
              <a:srgbClr val="EF4444"/>
            </a:solidFill>
            <a:prstDash val="solid"/>
          </a:ln>
        </p:spPr>
      </p:sp>
      <p:sp>
        <p:nvSpPr>
          <p:cNvPr id="16" name="Text 14"/>
          <p:cNvSpPr/>
          <p:nvPr/>
        </p:nvSpPr>
        <p:spPr>
          <a:xfrm>
            <a:off x="658368" y="4434840"/>
            <a:ext cx="7863840" cy="594360"/>
          </a:xfrm>
          <a:prstGeom prst="rect">
            <a:avLst/>
          </a:prstGeom>
          <a:noFill/>
          <a:ln/>
        </p:spPr>
        <p:txBody>
          <a:bodyPr wrap="square" lIns="0" tIns="0" rIns="0" bIns="0" rtlCol="0" anchor="ctr"/>
          <a:lstStyle/>
          <a:p>
            <a:pPr indent="0" marL="0">
              <a:buNone/>
            </a:pPr>
            <a:r>
              <a:rPr lang="en-US" sz="1300" b="1" i="1" dirty="0">
                <a:solidFill>
                  <a:srgbClr val="EF4444"/>
                </a:solidFill>
              </a:rPr>
              <a:t>Discussion: If AI can do this now — what health problem in YOUR community would you want it to solve?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w="12700">
            <a:solidFill>
              <a:srgbClr val="06D6A0"/>
            </a:solidFill>
            <a:prstDash val="solid"/>
          </a:ln>
        </p:spPr>
      </p:sp>
      <p:sp>
        <p:nvSpPr>
          <p:cNvPr id="3" name="Shape 1"/>
          <p:cNvSpPr/>
          <p:nvPr/>
        </p:nvSpPr>
        <p:spPr>
          <a:xfrm>
            <a:off x="548640" y="164592"/>
            <a:ext cx="2560320" cy="320040"/>
          </a:xfrm>
          <a:prstGeom prst="roundRect">
            <a:avLst>
              <a:gd name="adj" fmla="val 51429"/>
            </a:avLst>
          </a:prstGeom>
          <a:solidFill>
            <a:srgbClr val="06D6A0"/>
          </a:solidFill>
          <a:ln w="12700">
            <a:solidFill>
              <a:srgbClr val="06D6A0"/>
            </a:solidFill>
            <a:prstDash val="solid"/>
          </a:ln>
        </p:spPr>
      </p:sp>
      <p:sp>
        <p:nvSpPr>
          <p:cNvPr id="4" name="Text 2"/>
          <p:cNvSpPr/>
          <p:nvPr/>
        </p:nvSpPr>
        <p:spPr>
          <a:xfrm>
            <a:off x="548640" y="164592"/>
            <a:ext cx="2560320" cy="320040"/>
          </a:xfrm>
          <a:prstGeom prst="rect">
            <a:avLst/>
          </a:prstGeom>
          <a:noFill/>
          <a:ln/>
        </p:spPr>
        <p:txBody>
          <a:bodyPr wrap="square" lIns="0" tIns="0" rIns="0" bIns="0" rtlCol="0" anchor="ctr"/>
          <a:lstStyle/>
          <a:p>
            <a:pPr algn="ctr" indent="0" marL="0">
              <a:buNone/>
            </a:pPr>
            <a:r>
              <a:rPr lang="en-US" sz="1000" b="1" dirty="0">
                <a:solidFill>
                  <a:srgbClr val="FFFFFF"/>
                </a:solidFill>
              </a:rPr>
              <a:t>VOTE TIME · 12 MIN</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400" b="1" dirty="0">
                <a:solidFill>
                  <a:srgbClr val="1A1F5E"/>
                </a:solidFill>
              </a:rPr>
              <a:t>⚡ The Superpower Spectrum</a:t>
            </a:r>
            <a:endParaRPr lang="en-US" sz="3400" dirty="0"/>
          </a:p>
        </p:txBody>
      </p:sp>
      <p:sp>
        <p:nvSpPr>
          <p:cNvPr id="6" name="Shape 4"/>
          <p:cNvSpPr/>
          <p:nvPr/>
        </p:nvSpPr>
        <p:spPr>
          <a:xfrm>
            <a:off x="457200" y="1417320"/>
            <a:ext cx="3657600" cy="548640"/>
          </a:xfrm>
          <a:prstGeom prst="rect">
            <a:avLst/>
          </a:prstGeom>
          <a:solidFill>
            <a:srgbClr val="FEE2E2"/>
          </a:solidFill>
          <a:ln w="12700">
            <a:solidFill>
              <a:srgbClr val="FEE2E2"/>
            </a:solidFill>
            <a:prstDash val="solid"/>
          </a:ln>
        </p:spPr>
      </p:sp>
      <p:sp>
        <p:nvSpPr>
          <p:cNvPr id="7" name="Shape 5"/>
          <p:cNvSpPr/>
          <p:nvPr/>
        </p:nvSpPr>
        <p:spPr>
          <a:xfrm>
            <a:off x="4114800" y="1417320"/>
            <a:ext cx="914400" cy="548640"/>
          </a:xfrm>
          <a:prstGeom prst="rect">
            <a:avLst/>
          </a:prstGeom>
          <a:solidFill>
            <a:srgbClr val="F1F5F9"/>
          </a:solidFill>
          <a:ln w="12700">
            <a:solidFill>
              <a:srgbClr val="F1F5F9"/>
            </a:solidFill>
            <a:prstDash val="solid"/>
          </a:ln>
        </p:spPr>
      </p:sp>
      <p:sp>
        <p:nvSpPr>
          <p:cNvPr id="8" name="Shape 6"/>
          <p:cNvSpPr/>
          <p:nvPr/>
        </p:nvSpPr>
        <p:spPr>
          <a:xfrm>
            <a:off x="5029200" y="1417320"/>
            <a:ext cx="3657600" cy="548640"/>
          </a:xfrm>
          <a:prstGeom prst="rect">
            <a:avLst/>
          </a:prstGeom>
          <a:solidFill>
            <a:srgbClr val="DCFCE7"/>
          </a:solidFill>
          <a:ln w="12700">
            <a:solidFill>
              <a:srgbClr val="DCFCE7"/>
            </a:solidFill>
            <a:prstDash val="solid"/>
          </a:ln>
        </p:spPr>
      </p:sp>
      <p:sp>
        <p:nvSpPr>
          <p:cNvPr id="9" name="Text 7"/>
          <p:cNvSpPr/>
          <p:nvPr/>
        </p:nvSpPr>
        <p:spPr>
          <a:xfrm>
            <a:off x="548640" y="1417320"/>
            <a:ext cx="3474720" cy="548640"/>
          </a:xfrm>
          <a:prstGeom prst="rect">
            <a:avLst/>
          </a:prstGeom>
          <a:noFill/>
          <a:ln/>
        </p:spPr>
        <p:txBody>
          <a:bodyPr wrap="square" lIns="0" tIns="0" rIns="0" bIns="0" rtlCol="0" anchor="ctr"/>
          <a:lstStyle/>
          <a:p>
            <a:pPr indent="0" marL="0">
              <a:buNone/>
            </a:pPr>
            <a:r>
              <a:rPr lang="en-US" sz="1200" b="1" dirty="0">
                <a:solidFill>
                  <a:srgbClr val="EF4444"/>
                </a:solidFill>
              </a:rPr>
              <a:t>← AI will REPLACE</a:t>
            </a:r>
            <a:endParaRPr lang="en-US" sz="1200" dirty="0"/>
          </a:p>
        </p:txBody>
      </p:sp>
      <p:sp>
        <p:nvSpPr>
          <p:cNvPr id="10" name="Text 8"/>
          <p:cNvSpPr/>
          <p:nvPr/>
        </p:nvSpPr>
        <p:spPr>
          <a:xfrm>
            <a:off x="4114800" y="1417320"/>
            <a:ext cx="914400" cy="548640"/>
          </a:xfrm>
          <a:prstGeom prst="rect">
            <a:avLst/>
          </a:prstGeom>
          <a:noFill/>
          <a:ln/>
        </p:spPr>
        <p:txBody>
          <a:bodyPr wrap="square" lIns="0" tIns="0" rIns="0" bIns="0" rtlCol="0" anchor="ctr"/>
          <a:lstStyle/>
          <a:p>
            <a:pPr algn="ctr" indent="0" marL="0">
              <a:buNone/>
            </a:pPr>
            <a:r>
              <a:rPr lang="en-US" sz="1800" b="1" dirty="0">
                <a:solidFill>
                  <a:srgbClr val="94A3B8"/>
                </a:solidFill>
              </a:rPr>
              <a:t>?</a:t>
            </a:r>
            <a:endParaRPr lang="en-US" sz="1800" dirty="0"/>
          </a:p>
        </p:txBody>
      </p:sp>
      <p:sp>
        <p:nvSpPr>
          <p:cNvPr id="11" name="Text 9"/>
          <p:cNvSpPr/>
          <p:nvPr/>
        </p:nvSpPr>
        <p:spPr>
          <a:xfrm>
            <a:off x="5029200" y="1417320"/>
            <a:ext cx="3566160" cy="548640"/>
          </a:xfrm>
          <a:prstGeom prst="rect">
            <a:avLst/>
          </a:prstGeom>
          <a:noFill/>
          <a:ln/>
        </p:spPr>
        <p:txBody>
          <a:bodyPr wrap="square" lIns="0" tIns="0" rIns="0" bIns="0" rtlCol="0" anchor="ctr"/>
          <a:lstStyle/>
          <a:p>
            <a:pPr algn="r" indent="0" marL="0">
              <a:buNone/>
            </a:pPr>
            <a:r>
              <a:rPr lang="en-US" sz="1200" b="1" dirty="0">
                <a:solidFill>
                  <a:srgbClr val="06D6A0"/>
                </a:solidFill>
              </a:rPr>
              <a:t>AI will HELP →</a:t>
            </a:r>
            <a:endParaRPr lang="en-US" sz="1200" dirty="0"/>
          </a:p>
        </p:txBody>
      </p:sp>
      <p:sp>
        <p:nvSpPr>
          <p:cNvPr id="12" name="Shape 10"/>
          <p:cNvSpPr/>
          <p:nvPr/>
        </p:nvSpPr>
        <p:spPr>
          <a:xfrm>
            <a:off x="457200" y="2148840"/>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3" name="Shape 11"/>
          <p:cNvSpPr/>
          <p:nvPr/>
        </p:nvSpPr>
        <p:spPr>
          <a:xfrm>
            <a:off x="457200" y="2148840"/>
            <a:ext cx="73152" cy="713232"/>
          </a:xfrm>
          <a:prstGeom prst="rect">
            <a:avLst/>
          </a:prstGeom>
          <a:solidFill>
            <a:srgbClr val="06D6A0"/>
          </a:solidFill>
          <a:ln w="12700">
            <a:solidFill>
              <a:srgbClr val="06D6A0"/>
            </a:solidFill>
            <a:prstDash val="solid"/>
          </a:ln>
        </p:spPr>
      </p:sp>
      <p:sp>
        <p:nvSpPr>
          <p:cNvPr id="14" name="Text 12"/>
          <p:cNvSpPr/>
          <p:nvPr/>
        </p:nvSpPr>
        <p:spPr>
          <a:xfrm>
            <a:off x="640080" y="2148840"/>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Doctor 🩺</a:t>
            </a:r>
            <a:endParaRPr lang="en-US" sz="1300" dirty="0"/>
          </a:p>
        </p:txBody>
      </p:sp>
      <p:sp>
        <p:nvSpPr>
          <p:cNvPr id="15" name="Shape 13"/>
          <p:cNvSpPr/>
          <p:nvPr/>
        </p:nvSpPr>
        <p:spPr>
          <a:xfrm>
            <a:off x="2633472" y="2148840"/>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6" name="Shape 14"/>
          <p:cNvSpPr/>
          <p:nvPr/>
        </p:nvSpPr>
        <p:spPr>
          <a:xfrm>
            <a:off x="2633472" y="2148840"/>
            <a:ext cx="73152" cy="713232"/>
          </a:xfrm>
          <a:prstGeom prst="rect">
            <a:avLst/>
          </a:prstGeom>
          <a:solidFill>
            <a:srgbClr val="06D6A0"/>
          </a:solidFill>
          <a:ln w="12700">
            <a:solidFill>
              <a:srgbClr val="06D6A0"/>
            </a:solidFill>
            <a:prstDash val="solid"/>
          </a:ln>
        </p:spPr>
      </p:sp>
      <p:sp>
        <p:nvSpPr>
          <p:cNvPr id="17" name="Text 15"/>
          <p:cNvSpPr/>
          <p:nvPr/>
        </p:nvSpPr>
        <p:spPr>
          <a:xfrm>
            <a:off x="2816352" y="2148840"/>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Cricketer 🏏</a:t>
            </a:r>
            <a:endParaRPr lang="en-US" sz="1300" dirty="0"/>
          </a:p>
        </p:txBody>
      </p:sp>
      <p:sp>
        <p:nvSpPr>
          <p:cNvPr id="18" name="Shape 16"/>
          <p:cNvSpPr/>
          <p:nvPr/>
        </p:nvSpPr>
        <p:spPr>
          <a:xfrm>
            <a:off x="4809744" y="2148840"/>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9" name="Shape 17"/>
          <p:cNvSpPr/>
          <p:nvPr/>
        </p:nvSpPr>
        <p:spPr>
          <a:xfrm>
            <a:off x="4809744" y="2148840"/>
            <a:ext cx="73152" cy="713232"/>
          </a:xfrm>
          <a:prstGeom prst="rect">
            <a:avLst/>
          </a:prstGeom>
          <a:solidFill>
            <a:srgbClr val="06D6A0"/>
          </a:solidFill>
          <a:ln w="12700">
            <a:solidFill>
              <a:srgbClr val="06D6A0"/>
            </a:solidFill>
            <a:prstDash val="solid"/>
          </a:ln>
        </p:spPr>
      </p:sp>
      <p:sp>
        <p:nvSpPr>
          <p:cNvPr id="20" name="Text 18"/>
          <p:cNvSpPr/>
          <p:nvPr/>
        </p:nvSpPr>
        <p:spPr>
          <a:xfrm>
            <a:off x="4992624" y="2148840"/>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Teacher 👩‍🏫</a:t>
            </a:r>
            <a:endParaRPr lang="en-US" sz="1300" dirty="0"/>
          </a:p>
        </p:txBody>
      </p:sp>
      <p:sp>
        <p:nvSpPr>
          <p:cNvPr id="21" name="Shape 19"/>
          <p:cNvSpPr/>
          <p:nvPr/>
        </p:nvSpPr>
        <p:spPr>
          <a:xfrm>
            <a:off x="6986016" y="2148840"/>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2" name="Shape 20"/>
          <p:cNvSpPr/>
          <p:nvPr/>
        </p:nvSpPr>
        <p:spPr>
          <a:xfrm>
            <a:off x="6986016" y="2148840"/>
            <a:ext cx="73152" cy="713232"/>
          </a:xfrm>
          <a:prstGeom prst="rect">
            <a:avLst/>
          </a:prstGeom>
          <a:solidFill>
            <a:srgbClr val="EF4444"/>
          </a:solidFill>
          <a:ln w="12700">
            <a:solidFill>
              <a:srgbClr val="EF4444"/>
            </a:solidFill>
            <a:prstDash val="solid"/>
          </a:ln>
        </p:spPr>
      </p:sp>
      <p:sp>
        <p:nvSpPr>
          <p:cNvPr id="23" name="Text 21"/>
          <p:cNvSpPr/>
          <p:nvPr/>
        </p:nvSpPr>
        <p:spPr>
          <a:xfrm>
            <a:off x="7168896" y="2148840"/>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Driver 🚗</a:t>
            </a:r>
            <a:endParaRPr lang="en-US" sz="1300" dirty="0"/>
          </a:p>
        </p:txBody>
      </p:sp>
      <p:sp>
        <p:nvSpPr>
          <p:cNvPr id="24" name="Shape 22"/>
          <p:cNvSpPr/>
          <p:nvPr/>
        </p:nvSpPr>
        <p:spPr>
          <a:xfrm>
            <a:off x="457200" y="2990088"/>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5" name="Shape 23"/>
          <p:cNvSpPr/>
          <p:nvPr/>
        </p:nvSpPr>
        <p:spPr>
          <a:xfrm>
            <a:off x="457200" y="2990088"/>
            <a:ext cx="73152" cy="713232"/>
          </a:xfrm>
          <a:prstGeom prst="rect">
            <a:avLst/>
          </a:prstGeom>
          <a:solidFill>
            <a:srgbClr val="06D6A0"/>
          </a:solidFill>
          <a:ln w="12700">
            <a:solidFill>
              <a:srgbClr val="06D6A0"/>
            </a:solidFill>
            <a:prstDash val="solid"/>
          </a:ln>
        </p:spPr>
      </p:sp>
      <p:sp>
        <p:nvSpPr>
          <p:cNvPr id="26" name="Text 24"/>
          <p:cNvSpPr/>
          <p:nvPr/>
        </p:nvSpPr>
        <p:spPr>
          <a:xfrm>
            <a:off x="640080" y="2990088"/>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Poet ✍️</a:t>
            </a:r>
            <a:endParaRPr lang="en-US" sz="1300" dirty="0"/>
          </a:p>
        </p:txBody>
      </p:sp>
      <p:sp>
        <p:nvSpPr>
          <p:cNvPr id="27" name="Shape 25"/>
          <p:cNvSpPr/>
          <p:nvPr/>
        </p:nvSpPr>
        <p:spPr>
          <a:xfrm>
            <a:off x="2633472" y="2990088"/>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8" name="Shape 26"/>
          <p:cNvSpPr/>
          <p:nvPr/>
        </p:nvSpPr>
        <p:spPr>
          <a:xfrm>
            <a:off x="2633472" y="2990088"/>
            <a:ext cx="73152" cy="713232"/>
          </a:xfrm>
          <a:prstGeom prst="rect">
            <a:avLst/>
          </a:prstGeom>
          <a:solidFill>
            <a:srgbClr val="94A3B8"/>
          </a:solidFill>
          <a:ln w="12700">
            <a:solidFill>
              <a:srgbClr val="94A3B8"/>
            </a:solidFill>
            <a:prstDash val="solid"/>
          </a:ln>
        </p:spPr>
      </p:sp>
      <p:sp>
        <p:nvSpPr>
          <p:cNvPr id="29" name="Text 27"/>
          <p:cNvSpPr/>
          <p:nvPr/>
        </p:nvSpPr>
        <p:spPr>
          <a:xfrm>
            <a:off x="2816352" y="2990088"/>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Soldier 🪖</a:t>
            </a:r>
            <a:endParaRPr lang="en-US" sz="1300" dirty="0"/>
          </a:p>
        </p:txBody>
      </p:sp>
      <p:sp>
        <p:nvSpPr>
          <p:cNvPr id="30" name="Shape 28"/>
          <p:cNvSpPr/>
          <p:nvPr/>
        </p:nvSpPr>
        <p:spPr>
          <a:xfrm>
            <a:off x="4809744" y="2990088"/>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1" name="Shape 29"/>
          <p:cNvSpPr/>
          <p:nvPr/>
        </p:nvSpPr>
        <p:spPr>
          <a:xfrm>
            <a:off x="4809744" y="2990088"/>
            <a:ext cx="73152" cy="713232"/>
          </a:xfrm>
          <a:prstGeom prst="rect">
            <a:avLst/>
          </a:prstGeom>
          <a:solidFill>
            <a:srgbClr val="06D6A0"/>
          </a:solidFill>
          <a:ln w="12700">
            <a:solidFill>
              <a:srgbClr val="06D6A0"/>
            </a:solidFill>
            <a:prstDash val="solid"/>
          </a:ln>
        </p:spPr>
      </p:sp>
      <p:sp>
        <p:nvSpPr>
          <p:cNvPr id="32" name="Text 30"/>
          <p:cNvSpPr/>
          <p:nvPr/>
        </p:nvSpPr>
        <p:spPr>
          <a:xfrm>
            <a:off x="4992624" y="2990088"/>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Musician 🎵</a:t>
            </a:r>
            <a:endParaRPr lang="en-US" sz="1300" dirty="0"/>
          </a:p>
        </p:txBody>
      </p:sp>
      <p:sp>
        <p:nvSpPr>
          <p:cNvPr id="33" name="Shape 31"/>
          <p:cNvSpPr/>
          <p:nvPr/>
        </p:nvSpPr>
        <p:spPr>
          <a:xfrm>
            <a:off x="6986016" y="2990088"/>
            <a:ext cx="2029968" cy="713232"/>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4" name="Shape 32"/>
          <p:cNvSpPr/>
          <p:nvPr/>
        </p:nvSpPr>
        <p:spPr>
          <a:xfrm>
            <a:off x="6986016" y="2990088"/>
            <a:ext cx="73152" cy="713232"/>
          </a:xfrm>
          <a:prstGeom prst="rect">
            <a:avLst/>
          </a:prstGeom>
          <a:solidFill>
            <a:srgbClr val="06D6A0"/>
          </a:solidFill>
          <a:ln w="12700">
            <a:solidFill>
              <a:srgbClr val="06D6A0"/>
            </a:solidFill>
            <a:prstDash val="solid"/>
          </a:ln>
        </p:spPr>
      </p:sp>
      <p:sp>
        <p:nvSpPr>
          <p:cNvPr id="35" name="Text 33"/>
          <p:cNvSpPr/>
          <p:nvPr/>
        </p:nvSpPr>
        <p:spPr>
          <a:xfrm>
            <a:off x="7168896" y="2990088"/>
            <a:ext cx="1828800" cy="713232"/>
          </a:xfrm>
          <a:prstGeom prst="rect">
            <a:avLst/>
          </a:prstGeom>
          <a:noFill/>
          <a:ln/>
        </p:spPr>
        <p:txBody>
          <a:bodyPr wrap="square" lIns="0" tIns="0" rIns="0" bIns="0" rtlCol="0" anchor="ctr"/>
          <a:lstStyle/>
          <a:p>
            <a:pPr indent="0" marL="0">
              <a:buNone/>
            </a:pPr>
            <a:r>
              <a:rPr lang="en-US" sz="1300" b="1" dirty="0">
                <a:solidFill>
                  <a:srgbClr val="1A1F5E"/>
                </a:solidFill>
              </a:rPr>
              <a:t>Farmer 🌾</a:t>
            </a:r>
            <a:endParaRPr lang="en-US" sz="1300" dirty="0"/>
          </a:p>
        </p:txBody>
      </p:sp>
      <p:sp>
        <p:nvSpPr>
          <p:cNvPr id="36" name="Shape 34"/>
          <p:cNvSpPr/>
          <p:nvPr/>
        </p:nvSpPr>
        <p:spPr>
          <a:xfrm>
            <a:off x="457200" y="4005072"/>
            <a:ext cx="8229600" cy="804672"/>
          </a:xfrm>
          <a:prstGeom prst="rect">
            <a:avLst/>
          </a:prstGeom>
          <a:solidFill>
            <a:srgbClr val="FFFBEB"/>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7" name="Shape 35"/>
          <p:cNvSpPr/>
          <p:nvPr/>
        </p:nvSpPr>
        <p:spPr>
          <a:xfrm>
            <a:off x="457200" y="4005072"/>
            <a:ext cx="91440" cy="804672"/>
          </a:xfrm>
          <a:prstGeom prst="rect">
            <a:avLst/>
          </a:prstGeom>
          <a:solidFill>
            <a:srgbClr val="FFD166"/>
          </a:solidFill>
          <a:ln w="12700">
            <a:solidFill>
              <a:srgbClr val="FFD166"/>
            </a:solidFill>
            <a:prstDash val="solid"/>
          </a:ln>
        </p:spPr>
      </p:sp>
      <p:sp>
        <p:nvSpPr>
          <p:cNvPr id="38" name="Text 36"/>
          <p:cNvSpPr/>
          <p:nvPr/>
        </p:nvSpPr>
        <p:spPr>
          <a:xfrm>
            <a:off x="658368" y="4005072"/>
            <a:ext cx="7863840" cy="804672"/>
          </a:xfrm>
          <a:prstGeom prst="rect">
            <a:avLst/>
          </a:prstGeom>
          <a:noFill/>
          <a:ln/>
        </p:spPr>
        <p:txBody>
          <a:bodyPr wrap="square" lIns="0" tIns="0" rIns="0" bIns="0" rtlCol="0" anchor="ctr"/>
          <a:lstStyle/>
          <a:p>
            <a:pPr indent="0" marL="0">
              <a:buNone/>
            </a:pPr>
            <a:r>
              <a:rPr lang="en-US" sz="1600" b="1" i="1" dirty="0">
                <a:solidFill>
                  <a:srgbClr val="1A1F5E"/>
                </a:solidFill>
              </a:rPr>
              <a:t>"AI doesn't replace people. It replaces people who don't know how to use AI."</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78350F"/>
        </a:solidFill>
      </p:bgPr>
    </p:bg>
    <p:spTree>
      <p:nvGrpSpPr>
        <p:cNvPr id="1" name=""/>
        <p:cNvGrpSpPr/>
        <p:nvPr/>
      </p:nvGrpSpPr>
      <p:grpSpPr>
        <a:xfrm>
          <a:off x="0" y="0"/>
          <a:ext cx="0" cy="0"/>
          <a:chOff x="0" y="0"/>
          <a:chExt cx="0" cy="0"/>
        </a:xfrm>
      </p:grpSpPr>
      <p:sp>
        <p:nvSpPr>
          <p:cNvPr id="2" name="Shape 0"/>
          <p:cNvSpPr/>
          <p:nvPr/>
        </p:nvSpPr>
        <p:spPr>
          <a:xfrm>
            <a:off x="7315200" y="-731520"/>
            <a:ext cx="4572000" cy="4572000"/>
          </a:xfrm>
          <a:prstGeom prst="ellipse">
            <a:avLst/>
          </a:prstGeom>
          <a:solidFill>
            <a:srgbClr val="92400E"/>
          </a:solidFill>
          <a:ln w="12700">
            <a:solidFill>
              <a:srgbClr val="92400E"/>
            </a:solidFill>
            <a:prstDash val="solid"/>
          </a:ln>
        </p:spPr>
      </p:sp>
      <p:sp>
        <p:nvSpPr>
          <p:cNvPr id="3" name="Shape 1"/>
          <p:cNvSpPr/>
          <p:nvPr/>
        </p:nvSpPr>
        <p:spPr>
          <a:xfrm>
            <a:off x="-457200" y="3840480"/>
            <a:ext cx="3200400" cy="3200400"/>
          </a:xfrm>
          <a:prstGeom prst="ellipse">
            <a:avLst/>
          </a:prstGeom>
          <a:solidFill>
            <a:srgbClr val="92400E"/>
          </a:solidFill>
          <a:ln w="12700">
            <a:solidFill>
              <a:srgbClr val="92400E"/>
            </a:solidFill>
            <a:prstDash val="solid"/>
          </a:ln>
        </p:spPr>
      </p:sp>
      <p:sp>
        <p:nvSpPr>
          <p:cNvPr id="4" name="Shape 2"/>
          <p:cNvSpPr/>
          <p:nvPr/>
        </p:nvSpPr>
        <p:spPr>
          <a:xfrm>
            <a:off x="8686800" y="3840480"/>
            <a:ext cx="1828800" cy="1828800"/>
          </a:xfrm>
          <a:prstGeom prst="ellipse">
            <a:avLst/>
          </a:prstGeom>
          <a:solidFill>
            <a:srgbClr val="FFD166"/>
          </a:solidFill>
          <a:ln w="12700">
            <a:solidFill>
              <a:srgbClr val="FFD166"/>
            </a:solidFill>
            <a:prstDash val="solid"/>
          </a:ln>
        </p:spPr>
      </p:sp>
      <p:sp>
        <p:nvSpPr>
          <p:cNvPr id="5" name="Shape 3"/>
          <p:cNvSpPr/>
          <p:nvPr/>
        </p:nvSpPr>
        <p:spPr>
          <a:xfrm>
            <a:off x="548640" y="411480"/>
            <a:ext cx="2286000" cy="347472"/>
          </a:xfrm>
          <a:prstGeom prst="roundRect">
            <a:avLst>
              <a:gd name="adj" fmla="val 47368"/>
            </a:avLst>
          </a:prstGeom>
          <a:solidFill>
            <a:srgbClr val="92400E"/>
          </a:solidFill>
          <a:ln w="12700">
            <a:solidFill>
              <a:srgbClr val="92400E"/>
            </a:solidFill>
            <a:prstDash val="solid"/>
          </a:ln>
        </p:spPr>
      </p:sp>
      <p:sp>
        <p:nvSpPr>
          <p:cNvPr id="6" name="Text 4"/>
          <p:cNvSpPr/>
          <p:nvPr/>
        </p:nvSpPr>
        <p:spPr>
          <a:xfrm>
            <a:off x="548640" y="41148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MODULE 3  ·  115 – 160 MIN</a:t>
            </a:r>
            <a:endParaRPr lang="en-US" sz="1000" dirty="0"/>
          </a:p>
        </p:txBody>
      </p:sp>
      <p:sp>
        <p:nvSpPr>
          <p:cNvPr id="7" name="Text 5"/>
          <p:cNvSpPr/>
          <p:nvPr/>
        </p:nvSpPr>
        <p:spPr>
          <a:xfrm>
            <a:off x="457200" y="841248"/>
            <a:ext cx="1280160" cy="1005840"/>
          </a:xfrm>
          <a:prstGeom prst="rect">
            <a:avLst/>
          </a:prstGeom>
          <a:noFill/>
          <a:ln/>
        </p:spPr>
        <p:txBody>
          <a:bodyPr wrap="square" lIns="0" tIns="0" rIns="0" bIns="0" rtlCol="0" anchor="ctr"/>
          <a:lstStyle/>
          <a:p>
            <a:pPr algn="l" indent="0" marL="0">
              <a:buNone/>
            </a:pPr>
            <a:r>
              <a:rPr lang="en-US" sz="5600" dirty="0">
                <a:solidFill>
                  <a:srgbClr val="000000"/>
                </a:solidFill>
              </a:rPr>
              <a:t>✏️</a:t>
            </a:r>
            <a:endParaRPr lang="en-US" sz="5600" dirty="0"/>
          </a:p>
        </p:txBody>
      </p:sp>
      <p:sp>
        <p:nvSpPr>
          <p:cNvPr id="8" name="Text 6"/>
          <p:cNvSpPr/>
          <p:nvPr/>
        </p:nvSpPr>
        <p:spPr>
          <a:xfrm>
            <a:off x="548640" y="896112"/>
            <a:ext cx="8229600" cy="2377440"/>
          </a:xfrm>
          <a:prstGeom prst="rect">
            <a:avLst/>
          </a:prstGeom>
          <a:noFill/>
          <a:ln/>
        </p:spPr>
        <p:txBody>
          <a:bodyPr wrap="square" lIns="0" tIns="0" rIns="0" bIns="0" rtlCol="0" anchor="ctr"/>
          <a:lstStyle/>
          <a:p>
            <a:pPr algn="l" indent="0" marL="0">
              <a:buNone/>
            </a:pPr>
            <a:r>
              <a:rPr lang="en-US" sz="5600" b="1" dirty="0">
                <a:solidFill>
                  <a:srgbClr val="FFFFFF"/>
                </a:solidFill>
              </a:rPr>
              <a:t>YOU Are the</a:t>
            </a:r>
            <a:endParaRPr lang="en-US" sz="5600" dirty="0"/>
          </a:p>
          <a:p>
            <a:pPr algn="l" indent="0" marL="0">
              <a:buNone/>
            </a:pPr>
            <a:r>
              <a:rPr lang="en-US" sz="5600" b="1" dirty="0">
                <a:solidFill>
                  <a:srgbClr val="FFFFFF"/>
                </a:solidFill>
              </a:rPr>
              <a:t>Algorithm</a:t>
            </a:r>
            <a:endParaRPr lang="en-US" sz="5600" dirty="0"/>
          </a:p>
        </p:txBody>
      </p:sp>
      <p:sp>
        <p:nvSpPr>
          <p:cNvPr id="9" name="Text 7"/>
          <p:cNvSpPr/>
          <p:nvPr/>
        </p:nvSpPr>
        <p:spPr>
          <a:xfrm>
            <a:off x="548640" y="3401568"/>
            <a:ext cx="7772400" cy="457200"/>
          </a:xfrm>
          <a:prstGeom prst="rect">
            <a:avLst/>
          </a:prstGeom>
          <a:noFill/>
          <a:ln/>
        </p:spPr>
        <p:txBody>
          <a:bodyPr wrap="square" lIns="0" tIns="0" rIns="0" bIns="0" rtlCol="0" anchor="ctr"/>
          <a:lstStyle/>
          <a:p>
            <a:pPr algn="l" indent="0" marL="0">
              <a:buNone/>
            </a:pPr>
            <a:r>
              <a:rPr lang="en-US" sz="1800" b="1" i="1" dirty="0">
                <a:solidFill>
                  <a:srgbClr val="FFD166"/>
                </a:solidFill>
              </a:rPr>
              <a:t>No computers. No devices. Just your brain.</a:t>
            </a:r>
            <a:endParaRPr lang="en-US" sz="1800" dirty="0"/>
          </a:p>
        </p:txBody>
      </p:sp>
      <p:sp>
        <p:nvSpPr>
          <p:cNvPr id="10" name="Shape 8"/>
          <p:cNvSpPr/>
          <p:nvPr/>
        </p:nvSpPr>
        <p:spPr>
          <a:xfrm>
            <a:off x="0" y="4663440"/>
            <a:ext cx="9144000" cy="480060"/>
          </a:xfrm>
          <a:prstGeom prst="rect">
            <a:avLst/>
          </a:prstGeom>
          <a:solidFill>
            <a:srgbClr val="92400E"/>
          </a:solidFill>
          <a:ln w="12700">
            <a:solidFill>
              <a:srgbClr val="92400E"/>
            </a:solidFill>
            <a:prstDash val="solid"/>
          </a:ln>
        </p:spPr>
      </p:sp>
      <p:sp>
        <p:nvSpPr>
          <p:cNvPr id="11" name="Text 9"/>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FFD166"/>
                </a:solidFill>
              </a:rPr>
              <a:t>Superpower activate? → ACTIVATE! 🚀</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BE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45309"/>
          </a:solidFill>
          <a:ln w="12700">
            <a:solidFill>
              <a:srgbClr val="B45309"/>
            </a:solidFill>
            <a:prstDash val="solid"/>
          </a:ln>
        </p:spPr>
      </p:sp>
      <p:sp>
        <p:nvSpPr>
          <p:cNvPr id="3" name="Shape 1"/>
          <p:cNvSpPr/>
          <p:nvPr/>
        </p:nvSpPr>
        <p:spPr>
          <a:xfrm>
            <a:off x="548640" y="164592"/>
            <a:ext cx="2286000" cy="320040"/>
          </a:xfrm>
          <a:prstGeom prst="roundRect">
            <a:avLst>
              <a:gd name="adj" fmla="val 51429"/>
            </a:avLst>
          </a:prstGeom>
          <a:solidFill>
            <a:srgbClr val="B45309"/>
          </a:solidFill>
          <a:ln w="12700">
            <a:solidFill>
              <a:srgbClr val="B45309"/>
            </a:solidFill>
            <a:prstDash val="solid"/>
          </a:ln>
        </p:spPr>
      </p:sp>
      <p:sp>
        <p:nvSpPr>
          <p:cNvPr id="4" name="Text 2"/>
          <p:cNvSpPr/>
          <p:nvPr/>
        </p:nvSpPr>
        <p:spPr>
          <a:xfrm>
            <a:off x="548640" y="164592"/>
            <a:ext cx="2286000" cy="320040"/>
          </a:xfrm>
          <a:prstGeom prst="rect">
            <a:avLst/>
          </a:prstGeom>
          <a:noFill/>
          <a:ln/>
        </p:spPr>
        <p:txBody>
          <a:bodyPr wrap="square" lIns="0" tIns="0" rIns="0" bIns="0" rtlCol="0" anchor="ctr"/>
          <a:lstStyle/>
          <a:p>
            <a:pPr algn="ctr" indent="0" marL="0">
              <a:buNone/>
            </a:pPr>
            <a:r>
              <a:rPr lang="en-US" sz="1000" b="1" dirty="0">
                <a:solidFill>
                  <a:srgbClr val="FFFFFF"/>
                </a:solidFill>
              </a:rPr>
              <a:t>ACTIVITY 1 · 20 MIN</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600" b="1" dirty="0">
                <a:solidFill>
                  <a:srgbClr val="1A1F5E"/>
                </a:solidFill>
              </a:rPr>
              <a:t>🤖  Program Your Robot</a:t>
            </a:r>
            <a:endParaRPr lang="en-US" sz="3600" dirty="0"/>
          </a:p>
        </p:txBody>
      </p:sp>
      <p:sp>
        <p:nvSpPr>
          <p:cNvPr id="6" name="Shape 4"/>
          <p:cNvSpPr/>
          <p:nvPr/>
        </p:nvSpPr>
        <p:spPr>
          <a:xfrm>
            <a:off x="457200" y="1389888"/>
            <a:ext cx="8229600" cy="15727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389888"/>
            <a:ext cx="8229600" cy="73152"/>
          </a:xfrm>
          <a:prstGeom prst="rect">
            <a:avLst/>
          </a:prstGeom>
          <a:solidFill>
            <a:srgbClr val="FFD166"/>
          </a:solidFill>
          <a:ln w="12700">
            <a:solidFill>
              <a:srgbClr val="FFD166"/>
            </a:solidFill>
            <a:prstDash val="solid"/>
          </a:ln>
        </p:spPr>
      </p:sp>
      <p:sp>
        <p:nvSpPr>
          <p:cNvPr id="8" name="Text 6"/>
          <p:cNvSpPr/>
          <p:nvPr/>
        </p:nvSpPr>
        <p:spPr>
          <a:xfrm>
            <a:off x="640080" y="1508760"/>
            <a:ext cx="7772400" cy="365760"/>
          </a:xfrm>
          <a:prstGeom prst="rect">
            <a:avLst/>
          </a:prstGeom>
          <a:noFill/>
          <a:ln/>
        </p:spPr>
        <p:txBody>
          <a:bodyPr wrap="square" lIns="0" tIns="0" rIns="0" bIns="0" rtlCol="0" anchor="ctr"/>
          <a:lstStyle/>
          <a:p>
            <a:pPr indent="0" marL="0">
              <a:buNone/>
            </a:pPr>
            <a:r>
              <a:rPr lang="en-US" sz="1400" b="1" dirty="0">
                <a:solidFill>
                  <a:srgbClr val="B45309"/>
                </a:solidFill>
              </a:rPr>
              <a:t>YOUR MISSION:</a:t>
            </a:r>
            <a:endParaRPr lang="en-US" sz="1400" dirty="0"/>
          </a:p>
        </p:txBody>
      </p:sp>
      <p:sp>
        <p:nvSpPr>
          <p:cNvPr id="9" name="Text 7"/>
          <p:cNvSpPr/>
          <p:nvPr/>
        </p:nvSpPr>
        <p:spPr>
          <a:xfrm>
            <a:off x="640080" y="1920240"/>
            <a:ext cx="7772400" cy="896112"/>
          </a:xfrm>
          <a:prstGeom prst="rect">
            <a:avLst/>
          </a:prstGeom>
          <a:noFill/>
          <a:ln/>
        </p:spPr>
        <p:txBody>
          <a:bodyPr wrap="square" lIns="0" tIns="0" rIns="0" bIns="0" rtlCol="0" anchor="ctr"/>
          <a:lstStyle/>
          <a:p>
            <a:pPr indent="0" marL="0">
              <a:buNone/>
            </a:pPr>
            <a:r>
              <a:rPr lang="en-US" sz="1400" b="1" dirty="0">
                <a:solidFill>
                  <a:srgbClr val="1A1F5E"/>
                </a:solidFill>
              </a:rPr>
              <a:t>Write instructions to make your Robot teammate draw a house.</a:t>
            </a:r>
            <a:endParaRPr lang="en-US" sz="1400" dirty="0"/>
          </a:p>
          <a:p>
            <a:pPr indent="0" marL="0">
              <a:buNone/>
            </a:pPr>
            <a:r>
              <a:rPr lang="en-US" sz="1400" b="1" dirty="0">
                <a:solidFill>
                  <a:srgbClr val="1A1F5E"/>
                </a:solidFill>
              </a:rPr>
              <a:t>The Robot follows your words LITERALLY — no assumptions, no common sense.</a:t>
            </a:r>
            <a:endParaRPr lang="en-US" sz="1400" dirty="0"/>
          </a:p>
        </p:txBody>
      </p:sp>
      <p:sp>
        <p:nvSpPr>
          <p:cNvPr id="10" name="Shape 8"/>
          <p:cNvSpPr/>
          <p:nvPr/>
        </p:nvSpPr>
        <p:spPr>
          <a:xfrm>
            <a:off x="457200" y="3127248"/>
            <a:ext cx="2697480" cy="1572768"/>
          </a:xfrm>
          <a:prstGeom prst="rect">
            <a:avLst/>
          </a:prstGeom>
          <a:solidFill>
            <a:srgbClr val="FEF2F2"/>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Shape 9"/>
          <p:cNvSpPr/>
          <p:nvPr/>
        </p:nvSpPr>
        <p:spPr>
          <a:xfrm>
            <a:off x="457200" y="3127248"/>
            <a:ext cx="2697480" cy="73152"/>
          </a:xfrm>
          <a:prstGeom prst="rect">
            <a:avLst/>
          </a:prstGeom>
          <a:solidFill>
            <a:srgbClr val="EF4444"/>
          </a:solidFill>
          <a:ln w="12700">
            <a:solidFill>
              <a:srgbClr val="EF4444"/>
            </a:solidFill>
            <a:prstDash val="solid"/>
          </a:ln>
        </p:spPr>
      </p:sp>
      <p:sp>
        <p:nvSpPr>
          <p:cNvPr id="12" name="Text 10"/>
          <p:cNvSpPr/>
          <p:nvPr/>
        </p:nvSpPr>
        <p:spPr>
          <a:xfrm>
            <a:off x="457200" y="3246120"/>
            <a:ext cx="2697480" cy="56692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548640" y="3858768"/>
            <a:ext cx="2514600" cy="777240"/>
          </a:xfrm>
          <a:prstGeom prst="rect">
            <a:avLst/>
          </a:prstGeom>
          <a:noFill/>
          <a:ln/>
        </p:spPr>
        <p:txBody>
          <a:bodyPr wrap="square" lIns="0" tIns="0" rIns="0" bIns="0" rtlCol="0" anchor="ctr"/>
          <a:lstStyle/>
          <a:p>
            <a:pPr algn="ctr" indent="0" marL="0">
              <a:buNone/>
            </a:pPr>
            <a:r>
              <a:rPr lang="en-US" sz="1200" b="1" dirty="0">
                <a:solidFill>
                  <a:srgbClr val="1A1F5E"/>
                </a:solidFill>
              </a:rPr>
              <a:t>Banned words:</a:t>
            </a:r>
            <a:endParaRPr lang="en-US" sz="1200" dirty="0"/>
          </a:p>
          <a:p>
            <a:pPr algn="ctr" indent="0" marL="0">
              <a:buNone/>
            </a:pPr>
            <a:r>
              <a:rPr lang="en-US" sz="1200" b="1" dirty="0">
                <a:solidFill>
                  <a:srgbClr val="1A1F5E"/>
                </a:solidFill>
              </a:rPr>
              <a:t>draw, house, square,</a:t>
            </a:r>
            <a:endParaRPr lang="en-US" sz="1200" dirty="0"/>
          </a:p>
          <a:p>
            <a:pPr algn="ctr" indent="0" marL="0">
              <a:buNone/>
            </a:pPr>
            <a:r>
              <a:rPr lang="en-US" sz="1200" b="1" dirty="0">
                <a:solidFill>
                  <a:srgbClr val="1A1F5E"/>
                </a:solidFill>
              </a:rPr>
              <a:t>triangle, roof</a:t>
            </a:r>
            <a:endParaRPr lang="en-US" sz="1200" dirty="0"/>
          </a:p>
        </p:txBody>
      </p:sp>
      <p:sp>
        <p:nvSpPr>
          <p:cNvPr id="14" name="Shape 12"/>
          <p:cNvSpPr/>
          <p:nvPr/>
        </p:nvSpPr>
        <p:spPr>
          <a:xfrm>
            <a:off x="3383280" y="3127248"/>
            <a:ext cx="2697480" cy="1572768"/>
          </a:xfrm>
          <a:prstGeom prst="rect">
            <a:avLst/>
          </a:prstGeom>
          <a:solidFill>
            <a:srgbClr val="FFFBEB"/>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5" name="Shape 13"/>
          <p:cNvSpPr/>
          <p:nvPr/>
        </p:nvSpPr>
        <p:spPr>
          <a:xfrm>
            <a:off x="3383280" y="3127248"/>
            <a:ext cx="2697480" cy="73152"/>
          </a:xfrm>
          <a:prstGeom prst="rect">
            <a:avLst/>
          </a:prstGeom>
          <a:solidFill>
            <a:srgbClr val="B45309"/>
          </a:solidFill>
          <a:ln w="12700">
            <a:solidFill>
              <a:srgbClr val="B45309"/>
            </a:solidFill>
            <a:prstDash val="solid"/>
          </a:ln>
        </p:spPr>
      </p:sp>
      <p:sp>
        <p:nvSpPr>
          <p:cNvPr id="16" name="Text 14"/>
          <p:cNvSpPr/>
          <p:nvPr/>
        </p:nvSpPr>
        <p:spPr>
          <a:xfrm>
            <a:off x="3383280" y="3246120"/>
            <a:ext cx="2697480" cy="56692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3474720" y="3858768"/>
            <a:ext cx="2514600" cy="777240"/>
          </a:xfrm>
          <a:prstGeom prst="rect">
            <a:avLst/>
          </a:prstGeom>
          <a:noFill/>
          <a:ln/>
        </p:spPr>
        <p:txBody>
          <a:bodyPr wrap="square" lIns="0" tIns="0" rIns="0" bIns="0" rtlCol="0" anchor="ctr"/>
          <a:lstStyle/>
          <a:p>
            <a:pPr algn="ctr" indent="0" marL="0">
              <a:buNone/>
            </a:pPr>
            <a:r>
              <a:rPr lang="en-US" sz="1200" b="1" dirty="0">
                <a:solidFill>
                  <a:srgbClr val="1A1F5E"/>
                </a:solidFill>
              </a:rPr>
              <a:t>Round 1: 8 min</a:t>
            </a:r>
            <a:endParaRPr lang="en-US" sz="1200" dirty="0"/>
          </a:p>
          <a:p>
            <a:pPr algn="ctr" indent="0" marL="0">
              <a:buNone/>
            </a:pPr>
            <a:r>
              <a:rPr lang="en-US" sz="1200" b="1" dirty="0">
                <a:solidFill>
                  <a:srgbClr val="1A1F5E"/>
                </a:solidFill>
              </a:rPr>
              <a:t>Write &amp; test</a:t>
            </a:r>
            <a:endParaRPr lang="en-US" sz="1200" dirty="0"/>
          </a:p>
          <a:p>
            <a:pPr algn="ctr" indent="0" marL="0">
              <a:buNone/>
            </a:pPr>
            <a:r>
              <a:rPr lang="en-US" sz="1200" b="1" dirty="0">
                <a:solidFill>
                  <a:srgbClr val="1A1F5E"/>
                </a:solidFill>
              </a:rPr>
              <a:t>your instructions</a:t>
            </a:r>
            <a:endParaRPr lang="en-US" sz="1200" dirty="0"/>
          </a:p>
        </p:txBody>
      </p:sp>
      <p:sp>
        <p:nvSpPr>
          <p:cNvPr id="18" name="Shape 16"/>
          <p:cNvSpPr/>
          <p:nvPr/>
        </p:nvSpPr>
        <p:spPr>
          <a:xfrm>
            <a:off x="6309360" y="3127248"/>
            <a:ext cx="2697480" cy="1572768"/>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9" name="Shape 17"/>
          <p:cNvSpPr/>
          <p:nvPr/>
        </p:nvSpPr>
        <p:spPr>
          <a:xfrm>
            <a:off x="6309360" y="3127248"/>
            <a:ext cx="2697480" cy="73152"/>
          </a:xfrm>
          <a:prstGeom prst="rect">
            <a:avLst/>
          </a:prstGeom>
          <a:solidFill>
            <a:srgbClr val="2D3A8C"/>
          </a:solidFill>
          <a:ln w="12700">
            <a:solidFill>
              <a:srgbClr val="2D3A8C"/>
            </a:solidFill>
            <a:prstDash val="solid"/>
          </a:ln>
        </p:spPr>
      </p:sp>
      <p:sp>
        <p:nvSpPr>
          <p:cNvPr id="20" name="Text 18"/>
          <p:cNvSpPr/>
          <p:nvPr/>
        </p:nvSpPr>
        <p:spPr>
          <a:xfrm>
            <a:off x="6309360" y="3246120"/>
            <a:ext cx="2697480" cy="56692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6400800" y="3858768"/>
            <a:ext cx="2514600" cy="777240"/>
          </a:xfrm>
          <a:prstGeom prst="rect">
            <a:avLst/>
          </a:prstGeom>
          <a:noFill/>
          <a:ln/>
        </p:spPr>
        <p:txBody>
          <a:bodyPr wrap="square" lIns="0" tIns="0" rIns="0" bIns="0" rtlCol="0" anchor="ctr"/>
          <a:lstStyle/>
          <a:p>
            <a:pPr algn="ctr" indent="0" marL="0">
              <a:buNone/>
            </a:pPr>
            <a:r>
              <a:rPr lang="en-US" sz="1200" b="1" dirty="0">
                <a:solidFill>
                  <a:srgbClr val="1A1F5E"/>
                </a:solidFill>
              </a:rPr>
              <a:t>Round 2: 5 min</a:t>
            </a:r>
            <a:endParaRPr lang="en-US" sz="1200" dirty="0"/>
          </a:p>
          <a:p>
            <a:pPr algn="ctr" indent="0" marL="0">
              <a:buNone/>
            </a:pPr>
            <a:r>
              <a:rPr lang="en-US" sz="1200" b="1" dirty="0">
                <a:solidFill>
                  <a:srgbClr val="1A1F5E"/>
                </a:solidFill>
              </a:rPr>
              <a:t>Fix the chaos.</a:t>
            </a:r>
            <a:endParaRPr lang="en-US" sz="1200" dirty="0"/>
          </a:p>
          <a:p>
            <a:pPr algn="ctr" indent="0" marL="0">
              <a:buNone/>
            </a:pPr>
            <a:r>
              <a:rPr lang="en-US" sz="1200" b="1" dirty="0">
                <a:solidFill>
                  <a:srgbClr val="1A1F5E"/>
                </a:solidFill>
              </a:rPr>
              <a:t>That's debugging!</a:t>
            </a:r>
            <a:endParaRPr lang="en-US" sz="1200" dirty="0"/>
          </a:p>
        </p:txBody>
      </p:sp>
      <p:sp>
        <p:nvSpPr>
          <p:cNvPr id="22" name="Text 20"/>
          <p:cNvSpPr/>
          <p:nvPr/>
        </p:nvSpPr>
        <p:spPr>
          <a:xfrm>
            <a:off x="457200" y="4846320"/>
            <a:ext cx="8229600" cy="292608"/>
          </a:xfrm>
          <a:prstGeom prst="rect">
            <a:avLst/>
          </a:prstGeom>
          <a:noFill/>
          <a:ln/>
        </p:spPr>
        <p:txBody>
          <a:bodyPr wrap="square" lIns="0" tIns="0" rIns="0" bIns="0" rtlCol="0" anchor="ctr"/>
          <a:lstStyle/>
          <a:p>
            <a:pPr algn="ctr" indent="0" marL="0">
              <a:buNone/>
            </a:pPr>
            <a:r>
              <a:rPr lang="en-US" sz="1200" b="1" dirty="0">
                <a:solidFill>
                  <a:srgbClr val="B45309"/>
                </a:solidFill>
              </a:rPr>
              <a:t>Key words to learn:  Algorithm  ·  Bug  ·  Debugging  ·  Iteration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B2FBE"/>
          </a:solidFill>
          <a:ln w="12700">
            <a:solidFill>
              <a:srgbClr val="7B2FBE"/>
            </a:solidFill>
            <a:prstDash val="solid"/>
          </a:ln>
        </p:spPr>
      </p:sp>
      <p:sp>
        <p:nvSpPr>
          <p:cNvPr id="3" name="Shape 1"/>
          <p:cNvSpPr/>
          <p:nvPr/>
        </p:nvSpPr>
        <p:spPr>
          <a:xfrm>
            <a:off x="548640" y="164592"/>
            <a:ext cx="2560320" cy="320040"/>
          </a:xfrm>
          <a:prstGeom prst="roundRect">
            <a:avLst>
              <a:gd name="adj" fmla="val 51429"/>
            </a:avLst>
          </a:prstGeom>
          <a:solidFill>
            <a:srgbClr val="7B2FBE"/>
          </a:solidFill>
          <a:ln w="12700">
            <a:solidFill>
              <a:srgbClr val="7B2FBE"/>
            </a:solidFill>
            <a:prstDash val="solid"/>
          </a:ln>
        </p:spPr>
      </p:sp>
      <p:sp>
        <p:nvSpPr>
          <p:cNvPr id="4" name="Text 2"/>
          <p:cNvSpPr/>
          <p:nvPr/>
        </p:nvSpPr>
        <p:spPr>
          <a:xfrm>
            <a:off x="548640" y="164592"/>
            <a:ext cx="2560320" cy="320040"/>
          </a:xfrm>
          <a:prstGeom prst="rect">
            <a:avLst/>
          </a:prstGeom>
          <a:noFill/>
          <a:ln/>
        </p:spPr>
        <p:txBody>
          <a:bodyPr wrap="square" lIns="0" tIns="0" rIns="0" bIns="0" rtlCol="0" anchor="ctr"/>
          <a:lstStyle/>
          <a:p>
            <a:pPr algn="ctr" indent="0" marL="0">
              <a:buNone/>
            </a:pPr>
            <a:r>
              <a:rPr lang="en-US" sz="1000" b="1" dirty="0">
                <a:solidFill>
                  <a:srgbClr val="FFFFFF"/>
                </a:solidFill>
              </a:rPr>
              <a:t>ACTIVITY 2 · 15 MIN</a:t>
            </a:r>
            <a:endParaRPr lang="en-US" sz="1000" dirty="0"/>
          </a:p>
        </p:txBody>
      </p:sp>
      <p:sp>
        <p:nvSpPr>
          <p:cNvPr id="5" name="Text 3"/>
          <p:cNvSpPr/>
          <p:nvPr/>
        </p:nvSpPr>
        <p:spPr>
          <a:xfrm>
            <a:off x="548640" y="594360"/>
            <a:ext cx="8229600" cy="658368"/>
          </a:xfrm>
          <a:prstGeom prst="rect">
            <a:avLst/>
          </a:prstGeom>
          <a:noFill/>
          <a:ln/>
        </p:spPr>
        <p:txBody>
          <a:bodyPr wrap="square" lIns="0" tIns="0" rIns="0" bIns="0" rtlCol="0" anchor="ctr"/>
          <a:lstStyle/>
          <a:p>
            <a:pPr indent="0" marL="0">
              <a:buNone/>
            </a:pPr>
            <a:r>
              <a:rPr lang="en-US" sz="3000" b="1" dirty="0">
                <a:solidFill>
                  <a:srgbClr val="1A1F5E"/>
                </a:solidFill>
              </a:rPr>
              <a:t>😊😢😠😐  Sort These Phrases!</a:t>
            </a:r>
            <a:endParaRPr lang="en-US" sz="3000" dirty="0"/>
          </a:p>
        </p:txBody>
      </p:sp>
      <p:sp>
        <p:nvSpPr>
          <p:cNvPr id="6" name="Shape 4"/>
          <p:cNvSpPr/>
          <p:nvPr/>
        </p:nvSpPr>
        <p:spPr>
          <a:xfrm>
            <a:off x="457200" y="1389888"/>
            <a:ext cx="2011680" cy="1051560"/>
          </a:xfrm>
          <a:prstGeom prst="rect">
            <a:avLst/>
          </a:prstGeom>
          <a:solidFill>
            <a:srgbClr val="ECFDF5"/>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457200" y="1389888"/>
            <a:ext cx="2011680" cy="73152"/>
          </a:xfrm>
          <a:prstGeom prst="rect">
            <a:avLst/>
          </a:prstGeom>
          <a:solidFill>
            <a:srgbClr val="06D6A0"/>
          </a:solidFill>
          <a:ln w="12700">
            <a:solidFill>
              <a:srgbClr val="06D6A0"/>
            </a:solidFill>
            <a:prstDash val="solid"/>
          </a:ln>
        </p:spPr>
      </p:sp>
      <p:sp>
        <p:nvSpPr>
          <p:cNvPr id="8" name="Text 6"/>
          <p:cNvSpPr/>
          <p:nvPr/>
        </p:nvSpPr>
        <p:spPr>
          <a:xfrm>
            <a:off x="457200" y="1508760"/>
            <a:ext cx="20116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457200" y="2084832"/>
            <a:ext cx="2011680" cy="274320"/>
          </a:xfrm>
          <a:prstGeom prst="rect">
            <a:avLst/>
          </a:prstGeom>
          <a:noFill/>
          <a:ln/>
        </p:spPr>
        <p:txBody>
          <a:bodyPr wrap="square" lIns="0" tIns="0" rIns="0" bIns="0" rtlCol="0" anchor="ctr"/>
          <a:lstStyle/>
          <a:p>
            <a:pPr algn="ctr" indent="0" marL="0">
              <a:buNone/>
            </a:pPr>
            <a:r>
              <a:rPr lang="en-US" sz="1200" b="1" dirty="0">
                <a:solidFill>
                  <a:srgbClr val="06D6A0"/>
                </a:solidFill>
              </a:rPr>
              <a:t>HAPPY</a:t>
            </a:r>
            <a:endParaRPr lang="en-US" sz="1200" dirty="0"/>
          </a:p>
        </p:txBody>
      </p:sp>
      <p:sp>
        <p:nvSpPr>
          <p:cNvPr id="10" name="Shape 8"/>
          <p:cNvSpPr/>
          <p:nvPr/>
        </p:nvSpPr>
        <p:spPr>
          <a:xfrm>
            <a:off x="2651760" y="1389888"/>
            <a:ext cx="2011680" cy="1051560"/>
          </a:xfrm>
          <a:prstGeom prst="rect">
            <a:avLst/>
          </a:prstGeom>
          <a:solidFill>
            <a:srgbClr val="EEF2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1" name="Shape 9"/>
          <p:cNvSpPr/>
          <p:nvPr/>
        </p:nvSpPr>
        <p:spPr>
          <a:xfrm>
            <a:off x="2651760" y="1389888"/>
            <a:ext cx="2011680" cy="73152"/>
          </a:xfrm>
          <a:prstGeom prst="rect">
            <a:avLst/>
          </a:prstGeom>
          <a:solidFill>
            <a:srgbClr val="2D3A8C"/>
          </a:solidFill>
          <a:ln w="12700">
            <a:solidFill>
              <a:srgbClr val="2D3A8C"/>
            </a:solidFill>
            <a:prstDash val="solid"/>
          </a:ln>
        </p:spPr>
      </p:sp>
      <p:sp>
        <p:nvSpPr>
          <p:cNvPr id="12" name="Text 10"/>
          <p:cNvSpPr/>
          <p:nvPr/>
        </p:nvSpPr>
        <p:spPr>
          <a:xfrm>
            <a:off x="2651760" y="1508760"/>
            <a:ext cx="20116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2651760" y="2084832"/>
            <a:ext cx="2011680" cy="274320"/>
          </a:xfrm>
          <a:prstGeom prst="rect">
            <a:avLst/>
          </a:prstGeom>
          <a:noFill/>
          <a:ln/>
        </p:spPr>
        <p:txBody>
          <a:bodyPr wrap="square" lIns="0" tIns="0" rIns="0" bIns="0" rtlCol="0" anchor="ctr"/>
          <a:lstStyle/>
          <a:p>
            <a:pPr algn="ctr" indent="0" marL="0">
              <a:buNone/>
            </a:pPr>
            <a:r>
              <a:rPr lang="en-US" sz="1200" b="1" dirty="0">
                <a:solidFill>
                  <a:srgbClr val="2D3A8C"/>
                </a:solidFill>
              </a:rPr>
              <a:t>SAD</a:t>
            </a:r>
            <a:endParaRPr lang="en-US" sz="1200" dirty="0"/>
          </a:p>
        </p:txBody>
      </p:sp>
      <p:sp>
        <p:nvSpPr>
          <p:cNvPr id="14" name="Shape 12"/>
          <p:cNvSpPr/>
          <p:nvPr/>
        </p:nvSpPr>
        <p:spPr>
          <a:xfrm>
            <a:off x="4846320" y="1389888"/>
            <a:ext cx="2011680" cy="1051560"/>
          </a:xfrm>
          <a:prstGeom prst="rect">
            <a:avLst/>
          </a:prstGeom>
          <a:solidFill>
            <a:srgbClr val="FEF2F2"/>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5" name="Shape 13"/>
          <p:cNvSpPr/>
          <p:nvPr/>
        </p:nvSpPr>
        <p:spPr>
          <a:xfrm>
            <a:off x="4846320" y="1389888"/>
            <a:ext cx="2011680" cy="73152"/>
          </a:xfrm>
          <a:prstGeom prst="rect">
            <a:avLst/>
          </a:prstGeom>
          <a:solidFill>
            <a:srgbClr val="EF4444"/>
          </a:solidFill>
          <a:ln w="12700">
            <a:solidFill>
              <a:srgbClr val="EF4444"/>
            </a:solidFill>
            <a:prstDash val="solid"/>
          </a:ln>
        </p:spPr>
      </p:sp>
      <p:sp>
        <p:nvSpPr>
          <p:cNvPr id="16" name="Text 14"/>
          <p:cNvSpPr/>
          <p:nvPr/>
        </p:nvSpPr>
        <p:spPr>
          <a:xfrm>
            <a:off x="4846320" y="1508760"/>
            <a:ext cx="20116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4846320" y="2084832"/>
            <a:ext cx="2011680" cy="274320"/>
          </a:xfrm>
          <a:prstGeom prst="rect">
            <a:avLst/>
          </a:prstGeom>
          <a:noFill/>
          <a:ln/>
        </p:spPr>
        <p:txBody>
          <a:bodyPr wrap="square" lIns="0" tIns="0" rIns="0" bIns="0" rtlCol="0" anchor="ctr"/>
          <a:lstStyle/>
          <a:p>
            <a:pPr algn="ctr" indent="0" marL="0">
              <a:buNone/>
            </a:pPr>
            <a:r>
              <a:rPr lang="en-US" sz="1200" b="1" dirty="0">
                <a:solidFill>
                  <a:srgbClr val="EF4444"/>
                </a:solidFill>
              </a:rPr>
              <a:t>ANGRY</a:t>
            </a:r>
            <a:endParaRPr lang="en-US" sz="1200" dirty="0"/>
          </a:p>
        </p:txBody>
      </p:sp>
      <p:sp>
        <p:nvSpPr>
          <p:cNvPr id="18" name="Shape 16"/>
          <p:cNvSpPr/>
          <p:nvPr/>
        </p:nvSpPr>
        <p:spPr>
          <a:xfrm>
            <a:off x="7040880" y="1389888"/>
            <a:ext cx="2011680" cy="1051560"/>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9" name="Shape 17"/>
          <p:cNvSpPr/>
          <p:nvPr/>
        </p:nvSpPr>
        <p:spPr>
          <a:xfrm>
            <a:off x="7040880" y="1389888"/>
            <a:ext cx="2011680" cy="73152"/>
          </a:xfrm>
          <a:prstGeom prst="rect">
            <a:avLst/>
          </a:prstGeom>
          <a:solidFill>
            <a:srgbClr val="94A3B8"/>
          </a:solidFill>
          <a:ln w="12700">
            <a:solidFill>
              <a:srgbClr val="94A3B8"/>
            </a:solidFill>
            <a:prstDash val="solid"/>
          </a:ln>
        </p:spPr>
      </p:sp>
      <p:sp>
        <p:nvSpPr>
          <p:cNvPr id="20" name="Text 18"/>
          <p:cNvSpPr/>
          <p:nvPr/>
        </p:nvSpPr>
        <p:spPr>
          <a:xfrm>
            <a:off x="7040880" y="1508760"/>
            <a:ext cx="201168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7040880" y="2084832"/>
            <a:ext cx="2011680" cy="274320"/>
          </a:xfrm>
          <a:prstGeom prst="rect">
            <a:avLst/>
          </a:prstGeom>
          <a:noFill/>
          <a:ln/>
        </p:spPr>
        <p:txBody>
          <a:bodyPr wrap="square" lIns="0" tIns="0" rIns="0" bIns="0" rtlCol="0" anchor="ctr"/>
          <a:lstStyle/>
          <a:p>
            <a:pPr algn="ctr" indent="0" marL="0">
              <a:buNone/>
            </a:pPr>
            <a:r>
              <a:rPr lang="en-US" sz="1200" b="1" dirty="0">
                <a:solidFill>
                  <a:srgbClr val="94A3B8"/>
                </a:solidFill>
              </a:rPr>
              <a:t>NEUTRAL</a:t>
            </a:r>
            <a:endParaRPr lang="en-US" sz="1200" dirty="0"/>
          </a:p>
        </p:txBody>
      </p:sp>
      <p:sp>
        <p:nvSpPr>
          <p:cNvPr id="22" name="Shape 20"/>
          <p:cNvSpPr/>
          <p:nvPr/>
        </p:nvSpPr>
        <p:spPr>
          <a:xfrm>
            <a:off x="457200" y="2633472"/>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3" name="Text 21"/>
          <p:cNvSpPr/>
          <p:nvPr/>
        </p:nvSpPr>
        <p:spPr>
          <a:xfrm>
            <a:off x="548640" y="2633472"/>
            <a:ext cx="2514600" cy="566928"/>
          </a:xfrm>
          <a:prstGeom prst="rect">
            <a:avLst/>
          </a:prstGeom>
          <a:noFill/>
          <a:ln/>
        </p:spPr>
        <p:txBody>
          <a:bodyPr wrap="square" lIns="0" tIns="0" rIns="0" bIns="0" rtlCol="0" anchor="ctr"/>
          <a:lstStyle/>
          <a:p>
            <a:pPr indent="0" marL="0">
              <a:buNone/>
            </a:pPr>
            <a:r>
              <a:rPr lang="en-US" sz="1200" dirty="0">
                <a:solidFill>
                  <a:srgbClr val="1A1F5E"/>
                </a:solidFill>
              </a:rPr>
              <a:t>"Yaar kya match tha!"</a:t>
            </a:r>
            <a:endParaRPr lang="en-US" sz="1200" dirty="0"/>
          </a:p>
        </p:txBody>
      </p:sp>
      <p:sp>
        <p:nvSpPr>
          <p:cNvPr id="24" name="Shape 22"/>
          <p:cNvSpPr/>
          <p:nvPr/>
        </p:nvSpPr>
        <p:spPr>
          <a:xfrm>
            <a:off x="3364992" y="2633472"/>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5" name="Text 23"/>
          <p:cNvSpPr/>
          <p:nvPr/>
        </p:nvSpPr>
        <p:spPr>
          <a:xfrm>
            <a:off x="3456432" y="2633472"/>
            <a:ext cx="2514600" cy="566928"/>
          </a:xfrm>
          <a:prstGeom prst="rect">
            <a:avLst/>
          </a:prstGeom>
          <a:noFill/>
          <a:ln/>
        </p:spPr>
        <p:txBody>
          <a:bodyPr wrap="square" lIns="0" tIns="0" rIns="0" bIns="0" rtlCol="0" anchor="ctr"/>
          <a:lstStyle/>
          <a:p>
            <a:pPr indent="0" marL="0">
              <a:buNone/>
            </a:pPr>
            <a:r>
              <a:rPr lang="en-US" sz="1200" dirty="0">
                <a:solidFill>
                  <a:srgbClr val="1A1F5E"/>
                </a:solidFill>
              </a:rPr>
              <a:t>"Bohot bura laga yaar..."</a:t>
            </a:r>
            <a:endParaRPr lang="en-US" sz="1200" dirty="0"/>
          </a:p>
        </p:txBody>
      </p:sp>
      <p:sp>
        <p:nvSpPr>
          <p:cNvPr id="26" name="Shape 24"/>
          <p:cNvSpPr/>
          <p:nvPr/>
        </p:nvSpPr>
        <p:spPr>
          <a:xfrm>
            <a:off x="6272784" y="2633472"/>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7" name="Text 25"/>
          <p:cNvSpPr/>
          <p:nvPr/>
        </p:nvSpPr>
        <p:spPr>
          <a:xfrm>
            <a:off x="6364224" y="2633472"/>
            <a:ext cx="2514600" cy="566928"/>
          </a:xfrm>
          <a:prstGeom prst="rect">
            <a:avLst/>
          </a:prstGeom>
          <a:noFill/>
          <a:ln/>
        </p:spPr>
        <p:txBody>
          <a:bodyPr wrap="square" lIns="0" tIns="0" rIns="0" bIns="0" rtlCol="0" anchor="ctr"/>
          <a:lstStyle/>
          <a:p>
            <a:pPr indent="0" marL="0">
              <a:buNone/>
            </a:pPr>
            <a:r>
              <a:rPr lang="en-US" sz="1200" dirty="0">
                <a:solidFill>
                  <a:srgbClr val="1A1F5E"/>
                </a:solidFill>
              </a:rPr>
              <a:t>"Bhai band karo ye bakwaas!"</a:t>
            </a:r>
            <a:endParaRPr lang="en-US" sz="1200" dirty="0"/>
          </a:p>
        </p:txBody>
      </p:sp>
      <p:sp>
        <p:nvSpPr>
          <p:cNvPr id="28" name="Shape 26"/>
          <p:cNvSpPr/>
          <p:nvPr/>
        </p:nvSpPr>
        <p:spPr>
          <a:xfrm>
            <a:off x="457200" y="3291840"/>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9" name="Text 27"/>
          <p:cNvSpPr/>
          <p:nvPr/>
        </p:nvSpPr>
        <p:spPr>
          <a:xfrm>
            <a:off x="548640" y="3291840"/>
            <a:ext cx="2514600" cy="566928"/>
          </a:xfrm>
          <a:prstGeom prst="rect">
            <a:avLst/>
          </a:prstGeom>
          <a:noFill/>
          <a:ln/>
        </p:spPr>
        <p:txBody>
          <a:bodyPr wrap="square" lIns="0" tIns="0" rIns="0" bIns="0" rtlCol="0" anchor="ctr"/>
          <a:lstStyle/>
          <a:p>
            <a:pPr indent="0" marL="0">
              <a:buNone/>
            </a:pPr>
            <a:r>
              <a:rPr lang="en-US" sz="1200" dirty="0">
                <a:solidFill>
                  <a:srgbClr val="1A1F5E"/>
                </a:solidFill>
              </a:rPr>
              <a:t>"Kal exam hai."</a:t>
            </a:r>
            <a:endParaRPr lang="en-US" sz="1200" dirty="0"/>
          </a:p>
        </p:txBody>
      </p:sp>
      <p:sp>
        <p:nvSpPr>
          <p:cNvPr id="30" name="Shape 28"/>
          <p:cNvSpPr/>
          <p:nvPr/>
        </p:nvSpPr>
        <p:spPr>
          <a:xfrm>
            <a:off x="3364992" y="3291840"/>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1" name="Text 29"/>
          <p:cNvSpPr/>
          <p:nvPr/>
        </p:nvSpPr>
        <p:spPr>
          <a:xfrm>
            <a:off x="3456432" y="3291840"/>
            <a:ext cx="2514600" cy="566928"/>
          </a:xfrm>
          <a:prstGeom prst="rect">
            <a:avLst/>
          </a:prstGeom>
          <a:noFill/>
          <a:ln/>
        </p:spPr>
        <p:txBody>
          <a:bodyPr wrap="square" lIns="0" tIns="0" rIns="0" bIns="0" rtlCol="0" anchor="ctr"/>
          <a:lstStyle/>
          <a:p>
            <a:pPr indent="0" marL="0">
              <a:buNone/>
            </a:pPr>
            <a:r>
              <a:rPr lang="en-US" sz="1200" dirty="0">
                <a:solidFill>
                  <a:srgbClr val="1A1F5E"/>
                </a:solidFill>
              </a:rPr>
              <a:t>"Aaj ka din mast tha!"</a:t>
            </a:r>
            <a:endParaRPr lang="en-US" sz="1200" dirty="0"/>
          </a:p>
        </p:txBody>
      </p:sp>
      <p:sp>
        <p:nvSpPr>
          <p:cNvPr id="32" name="Shape 30"/>
          <p:cNvSpPr/>
          <p:nvPr/>
        </p:nvSpPr>
        <p:spPr>
          <a:xfrm>
            <a:off x="6272784" y="3291840"/>
            <a:ext cx="2697480" cy="566928"/>
          </a:xfrm>
          <a:prstGeom prst="rect">
            <a:avLst/>
          </a:prstGeom>
          <a:solidFill>
            <a:srgbClr val="F8FAFC"/>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3" name="Text 31"/>
          <p:cNvSpPr/>
          <p:nvPr/>
        </p:nvSpPr>
        <p:spPr>
          <a:xfrm>
            <a:off x="6364224" y="3291840"/>
            <a:ext cx="2514600" cy="566928"/>
          </a:xfrm>
          <a:prstGeom prst="rect">
            <a:avLst/>
          </a:prstGeom>
          <a:noFill/>
          <a:ln/>
        </p:spPr>
        <p:txBody>
          <a:bodyPr wrap="square" lIns="0" tIns="0" rIns="0" bIns="0" rtlCol="0" anchor="ctr"/>
          <a:lstStyle/>
          <a:p>
            <a:pPr indent="0" marL="0">
              <a:buNone/>
            </a:pPr>
            <a:r>
              <a:rPr lang="en-US" sz="1200" dirty="0">
                <a:solidFill>
                  <a:srgbClr val="1A1F5E"/>
                </a:solidFill>
              </a:rPr>
              <a:t>"Phir aisa kyun hua yaar..."</a:t>
            </a:r>
            <a:endParaRPr lang="en-US" sz="1200" dirty="0"/>
          </a:p>
        </p:txBody>
      </p:sp>
      <p:sp>
        <p:nvSpPr>
          <p:cNvPr id="34" name="Shape 32"/>
          <p:cNvSpPr/>
          <p:nvPr/>
        </p:nvSpPr>
        <p:spPr>
          <a:xfrm>
            <a:off x="457200" y="4617720"/>
            <a:ext cx="8229600" cy="502920"/>
          </a:xfrm>
          <a:prstGeom prst="rect">
            <a:avLst/>
          </a:prstGeom>
          <a:solidFill>
            <a:srgbClr val="F5F3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35" name="Shape 33"/>
          <p:cNvSpPr/>
          <p:nvPr/>
        </p:nvSpPr>
        <p:spPr>
          <a:xfrm>
            <a:off x="457200" y="4617720"/>
            <a:ext cx="91440" cy="502920"/>
          </a:xfrm>
          <a:prstGeom prst="rect">
            <a:avLst/>
          </a:prstGeom>
          <a:solidFill>
            <a:srgbClr val="7B2FBE"/>
          </a:solidFill>
          <a:ln w="12700">
            <a:solidFill>
              <a:srgbClr val="7B2FBE"/>
            </a:solidFill>
            <a:prstDash val="solid"/>
          </a:ln>
        </p:spPr>
      </p:sp>
      <p:sp>
        <p:nvSpPr>
          <p:cNvPr id="36" name="Text 34"/>
          <p:cNvSpPr/>
          <p:nvPr/>
        </p:nvSpPr>
        <p:spPr>
          <a:xfrm>
            <a:off x="658368" y="4617720"/>
            <a:ext cx="7863840" cy="502920"/>
          </a:xfrm>
          <a:prstGeom prst="rect">
            <a:avLst/>
          </a:prstGeom>
          <a:noFill/>
          <a:ln/>
        </p:spPr>
        <p:txBody>
          <a:bodyPr wrap="square" lIns="0" tIns="0" rIns="0" bIns="0" rtlCol="0" anchor="ctr"/>
          <a:lstStyle/>
          <a:p>
            <a:pPr indent="0" marL="0">
              <a:buNone/>
            </a:pPr>
            <a:r>
              <a:rPr lang="en-US" sz="1200" b="1" dirty="0">
                <a:solidFill>
                  <a:srgbClr val="7B2FBE"/>
                </a:solidFill>
              </a:rPr>
              <a:t>This is Sentiment Analysis — AI does this 5 billion times a day on Twitter, YouTube comments, and product reviews.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0" y="914400"/>
            <a:ext cx="4572000" cy="4572000"/>
          </a:xfrm>
          <a:prstGeom prst="ellipse">
            <a:avLst/>
          </a:prstGeom>
          <a:solidFill>
            <a:srgbClr val="1E2A4A"/>
          </a:solidFill>
          <a:ln w="12700">
            <a:solidFill>
              <a:srgbClr val="1E2A4A"/>
            </a:solidFill>
            <a:prstDash val="solid"/>
          </a:ln>
        </p:spPr>
      </p:sp>
      <p:sp>
        <p:nvSpPr>
          <p:cNvPr id="3" name="Text 1"/>
          <p:cNvSpPr/>
          <p:nvPr/>
        </p:nvSpPr>
        <p:spPr>
          <a:xfrm>
            <a:off x="3474720" y="365760"/>
            <a:ext cx="2194560" cy="1828800"/>
          </a:xfrm>
          <a:prstGeom prst="rect">
            <a:avLst/>
          </a:prstGeom>
          <a:noFill/>
          <a:ln/>
        </p:spPr>
        <p:txBody>
          <a:bodyPr wrap="square" lIns="0" tIns="0" rIns="0" bIns="0" rtlCol="0" anchor="ctr"/>
          <a:lstStyle/>
          <a:p>
            <a:pPr algn="ctr" indent="0" marL="0">
              <a:buNone/>
            </a:pPr>
            <a:r>
              <a:rPr lang="en-US" sz="7200" dirty="0">
                <a:solidFill>
                  <a:srgbClr val="000000"/>
                </a:solidFill>
              </a:rPr>
              <a:t>☕</a:t>
            </a:r>
            <a:endParaRPr lang="en-US" sz="7200" dirty="0"/>
          </a:p>
        </p:txBody>
      </p:sp>
      <p:sp>
        <p:nvSpPr>
          <p:cNvPr id="4" name="Text 2"/>
          <p:cNvSpPr/>
          <p:nvPr/>
        </p:nvSpPr>
        <p:spPr>
          <a:xfrm>
            <a:off x="457200" y="2103120"/>
            <a:ext cx="8229600" cy="822960"/>
          </a:xfrm>
          <a:prstGeom prst="rect">
            <a:avLst/>
          </a:prstGeom>
          <a:noFill/>
          <a:ln/>
        </p:spPr>
        <p:txBody>
          <a:bodyPr wrap="square" lIns="0" tIns="0" rIns="0" bIns="0" rtlCol="0" anchor="ctr"/>
          <a:lstStyle/>
          <a:p>
            <a:pPr algn="ctr" indent="0" marL="0">
              <a:buNone/>
            </a:pPr>
            <a:r>
              <a:rPr lang="en-US" sz="3800" b="1" dirty="0">
                <a:solidFill>
                  <a:srgbClr val="FFFFFF"/>
                </a:solidFill>
              </a:rPr>
              <a:t>Final 10-Minute Break</a:t>
            </a:r>
            <a:endParaRPr lang="en-US" sz="3800" dirty="0"/>
          </a:p>
        </p:txBody>
      </p:sp>
      <p:sp>
        <p:nvSpPr>
          <p:cNvPr id="5" name="Text 3"/>
          <p:cNvSpPr/>
          <p:nvPr/>
        </p:nvSpPr>
        <p:spPr>
          <a:xfrm>
            <a:off x="914400" y="3063240"/>
            <a:ext cx="7315200" cy="685800"/>
          </a:xfrm>
          <a:prstGeom prst="rect">
            <a:avLst/>
          </a:prstGeom>
          <a:noFill/>
          <a:ln/>
        </p:spPr>
        <p:txBody>
          <a:bodyPr wrap="square" lIns="0" tIns="0" rIns="0" bIns="0" rtlCol="0" anchor="ctr"/>
          <a:lstStyle/>
          <a:p>
            <a:pPr algn="ctr" indent="0" marL="0">
              <a:buNone/>
            </a:pPr>
            <a:r>
              <a:rPr lang="en-US" sz="1400" i="1" dirty="0">
                <a:solidFill>
                  <a:srgbClr val="FFD166"/>
                </a:solidFill>
              </a:rPr>
              <a:t>Think about one dream gadget you'd want AI to build.</a:t>
            </a:r>
            <a:endParaRPr lang="en-US" sz="1400" dirty="0"/>
          </a:p>
          <a:p>
            <a:pPr algn="ctr" indent="0" marL="0">
              <a:buNone/>
            </a:pPr>
            <a:r>
              <a:rPr lang="en-US" sz="1400" i="1" dirty="0">
                <a:solidFill>
                  <a:srgbClr val="FFD166"/>
                </a:solidFill>
              </a:rPr>
              <a:t>Hint: you'll need this idea very soon...</a:t>
            </a:r>
            <a:endParaRPr lang="en-US" sz="1400" dirty="0"/>
          </a:p>
        </p:txBody>
      </p:sp>
      <p:sp>
        <p:nvSpPr>
          <p:cNvPr id="6" name="Shape 4"/>
          <p:cNvSpPr/>
          <p:nvPr/>
        </p:nvSpPr>
        <p:spPr>
          <a:xfrm>
            <a:off x="2743200" y="3977640"/>
            <a:ext cx="3657600" cy="411480"/>
          </a:xfrm>
          <a:prstGeom prst="roundRect">
            <a:avLst>
              <a:gd name="adj" fmla="val 40000"/>
            </a:avLst>
          </a:prstGeom>
          <a:solidFill>
            <a:srgbClr val="EF4444"/>
          </a:solidFill>
          <a:ln w="12700">
            <a:solidFill>
              <a:srgbClr val="EF4444"/>
            </a:solidFill>
            <a:prstDash val="solid"/>
          </a:ln>
        </p:spPr>
      </p:sp>
      <p:sp>
        <p:nvSpPr>
          <p:cNvPr id="7" name="Text 5"/>
          <p:cNvSpPr/>
          <p:nvPr/>
        </p:nvSpPr>
        <p:spPr>
          <a:xfrm>
            <a:off x="2743200" y="3977640"/>
            <a:ext cx="3657600" cy="411480"/>
          </a:xfrm>
          <a:prstGeom prst="rect">
            <a:avLst/>
          </a:prstGeom>
          <a:noFill/>
          <a:ln/>
        </p:spPr>
        <p:txBody>
          <a:bodyPr wrap="square" lIns="0" tIns="0" rIns="0" bIns="0" rtlCol="0" anchor="ctr"/>
          <a:lstStyle/>
          <a:p>
            <a:pPr algn="ctr" indent="0" marL="0">
              <a:buNone/>
            </a:pPr>
            <a:r>
              <a:rPr lang="en-US" sz="1200" b="1" dirty="0">
                <a:solidFill>
                  <a:srgbClr val="FFFFFF"/>
                </a:solidFill>
              </a:rPr>
              <a:t>Grand Finale starts at the bell! 🔔</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C0519"/>
        </a:solidFill>
      </p:bgPr>
    </p:bg>
    <p:spTree>
      <p:nvGrpSpPr>
        <p:cNvPr id="1" name=""/>
        <p:cNvGrpSpPr/>
        <p:nvPr/>
      </p:nvGrpSpPr>
      <p:grpSpPr>
        <a:xfrm>
          <a:off x="0" y="0"/>
          <a:ext cx="0" cy="0"/>
          <a:chOff x="0" y="0"/>
          <a:chExt cx="0" cy="0"/>
        </a:xfrm>
      </p:grpSpPr>
      <p:sp>
        <p:nvSpPr>
          <p:cNvPr id="2" name="Shape 0"/>
          <p:cNvSpPr/>
          <p:nvPr/>
        </p:nvSpPr>
        <p:spPr>
          <a:xfrm>
            <a:off x="7315200" y="-731520"/>
            <a:ext cx="4572000" cy="4572000"/>
          </a:xfrm>
          <a:prstGeom prst="ellipse">
            <a:avLst/>
          </a:prstGeom>
          <a:solidFill>
            <a:srgbClr val="7F1D1D"/>
          </a:solidFill>
          <a:ln w="12700">
            <a:solidFill>
              <a:srgbClr val="7F1D1D"/>
            </a:solidFill>
            <a:prstDash val="solid"/>
          </a:ln>
        </p:spPr>
      </p:sp>
      <p:sp>
        <p:nvSpPr>
          <p:cNvPr id="3" name="Shape 1"/>
          <p:cNvSpPr/>
          <p:nvPr/>
        </p:nvSpPr>
        <p:spPr>
          <a:xfrm>
            <a:off x="-457200" y="3840480"/>
            <a:ext cx="3200400" cy="3200400"/>
          </a:xfrm>
          <a:prstGeom prst="ellipse">
            <a:avLst/>
          </a:prstGeom>
          <a:solidFill>
            <a:srgbClr val="7F1D1D"/>
          </a:solidFill>
          <a:ln w="12700">
            <a:solidFill>
              <a:srgbClr val="7F1D1D"/>
            </a:solidFill>
            <a:prstDash val="solid"/>
          </a:ln>
        </p:spPr>
      </p:sp>
      <p:sp>
        <p:nvSpPr>
          <p:cNvPr id="4" name="Shape 2"/>
          <p:cNvSpPr/>
          <p:nvPr/>
        </p:nvSpPr>
        <p:spPr>
          <a:xfrm>
            <a:off x="8686800" y="3840480"/>
            <a:ext cx="1828800" cy="1828800"/>
          </a:xfrm>
          <a:prstGeom prst="ellipse">
            <a:avLst/>
          </a:prstGeom>
          <a:solidFill>
            <a:srgbClr val="EF4444"/>
          </a:solidFill>
          <a:ln w="12700">
            <a:solidFill>
              <a:srgbClr val="EF4444"/>
            </a:solidFill>
            <a:prstDash val="solid"/>
          </a:ln>
        </p:spPr>
      </p:sp>
      <p:sp>
        <p:nvSpPr>
          <p:cNvPr id="5" name="Shape 3"/>
          <p:cNvSpPr/>
          <p:nvPr/>
        </p:nvSpPr>
        <p:spPr>
          <a:xfrm>
            <a:off x="457200" y="365760"/>
            <a:ext cx="548640" cy="548640"/>
          </a:xfrm>
          <a:prstGeom prst="ellipse">
            <a:avLst/>
          </a:prstGeom>
          <a:solidFill>
            <a:srgbClr val="FFD166"/>
          </a:solidFill>
          <a:ln w="12700">
            <a:solidFill>
              <a:srgbClr val="FFD166"/>
            </a:solidFill>
            <a:prstDash val="solid"/>
          </a:ln>
        </p:spPr>
      </p:sp>
      <p:sp>
        <p:nvSpPr>
          <p:cNvPr id="6" name="Shape 4"/>
          <p:cNvSpPr/>
          <p:nvPr/>
        </p:nvSpPr>
        <p:spPr>
          <a:xfrm>
            <a:off x="548640" y="411480"/>
            <a:ext cx="2286000" cy="347472"/>
          </a:xfrm>
          <a:prstGeom prst="roundRect">
            <a:avLst>
              <a:gd name="adj" fmla="val 47368"/>
            </a:avLst>
          </a:prstGeom>
          <a:solidFill>
            <a:srgbClr val="7F1D1D"/>
          </a:solidFill>
          <a:ln w="12700">
            <a:solidFill>
              <a:srgbClr val="7F1D1D"/>
            </a:solidFill>
            <a:prstDash val="solid"/>
          </a:ln>
        </p:spPr>
      </p:sp>
      <p:sp>
        <p:nvSpPr>
          <p:cNvPr id="7" name="Text 5"/>
          <p:cNvSpPr/>
          <p:nvPr/>
        </p:nvSpPr>
        <p:spPr>
          <a:xfrm>
            <a:off x="548640" y="411480"/>
            <a:ext cx="2286000" cy="347472"/>
          </a:xfrm>
          <a:prstGeom prst="rect">
            <a:avLst/>
          </a:prstGeom>
          <a:noFill/>
          <a:ln/>
        </p:spPr>
        <p:txBody>
          <a:bodyPr wrap="square" lIns="0" tIns="0" rIns="0" bIns="0" rtlCol="0" anchor="ctr"/>
          <a:lstStyle/>
          <a:p>
            <a:pPr algn="ctr" indent="0" marL="0">
              <a:buNone/>
            </a:pPr>
            <a:r>
              <a:rPr lang="en-US" sz="1000" b="1" dirty="0">
                <a:solidFill>
                  <a:srgbClr val="FFFFFF"/>
                </a:solidFill>
              </a:rPr>
              <a:t>FINALE  ·  170 – 180 MIN</a:t>
            </a:r>
            <a:endParaRPr lang="en-US" sz="1000" dirty="0"/>
          </a:p>
        </p:txBody>
      </p:sp>
      <p:sp>
        <p:nvSpPr>
          <p:cNvPr id="8" name="Text 6"/>
          <p:cNvSpPr/>
          <p:nvPr/>
        </p:nvSpPr>
        <p:spPr>
          <a:xfrm>
            <a:off x="457200" y="841248"/>
            <a:ext cx="1280160" cy="1005840"/>
          </a:xfrm>
          <a:prstGeom prst="rect">
            <a:avLst/>
          </a:prstGeom>
          <a:noFill/>
          <a:ln/>
        </p:spPr>
        <p:txBody>
          <a:bodyPr wrap="square" lIns="0" tIns="0" rIns="0" bIns="0" rtlCol="0" anchor="ctr"/>
          <a:lstStyle/>
          <a:p>
            <a:pPr algn="l" indent="0" marL="0">
              <a:buNone/>
            </a:pPr>
            <a:r>
              <a:rPr lang="en-US" sz="5600" dirty="0">
                <a:solidFill>
                  <a:srgbClr val="000000"/>
                </a:solidFill>
              </a:rPr>
              <a:t>🏫</a:t>
            </a:r>
            <a:endParaRPr lang="en-US" sz="5600" dirty="0"/>
          </a:p>
        </p:txBody>
      </p:sp>
      <p:sp>
        <p:nvSpPr>
          <p:cNvPr id="9" name="Text 7"/>
          <p:cNvSpPr/>
          <p:nvPr/>
        </p:nvSpPr>
        <p:spPr>
          <a:xfrm>
            <a:off x="548640" y="896112"/>
            <a:ext cx="8229600" cy="2377440"/>
          </a:xfrm>
          <a:prstGeom prst="rect">
            <a:avLst/>
          </a:prstGeom>
          <a:noFill/>
          <a:ln/>
        </p:spPr>
        <p:txBody>
          <a:bodyPr wrap="square" lIns="0" tIns="0" rIns="0" bIns="0" rtlCol="0" anchor="ctr"/>
          <a:lstStyle/>
          <a:p>
            <a:pPr algn="l" indent="0" marL="0">
              <a:buNone/>
            </a:pPr>
            <a:r>
              <a:rPr lang="en-US" sz="5600" b="1" dirty="0">
                <a:solidFill>
                  <a:srgbClr val="FFFFFF"/>
                </a:solidFill>
              </a:rPr>
              <a:t>Dream School</a:t>
            </a:r>
            <a:endParaRPr lang="en-US" sz="5600" dirty="0"/>
          </a:p>
          <a:p>
            <a:pPr algn="l" indent="0" marL="0">
              <a:buNone/>
            </a:pPr>
            <a:r>
              <a:rPr lang="en-US" sz="5600" b="1" dirty="0">
                <a:solidFill>
                  <a:srgbClr val="FFFFFF"/>
                </a:solidFill>
              </a:rPr>
              <a:t>2047</a:t>
            </a:r>
            <a:endParaRPr lang="en-US" sz="5600" dirty="0"/>
          </a:p>
        </p:txBody>
      </p:sp>
      <p:sp>
        <p:nvSpPr>
          <p:cNvPr id="10" name="Text 8"/>
          <p:cNvSpPr/>
          <p:nvPr/>
        </p:nvSpPr>
        <p:spPr>
          <a:xfrm>
            <a:off x="548640" y="3401568"/>
            <a:ext cx="7772400" cy="457200"/>
          </a:xfrm>
          <a:prstGeom prst="rect">
            <a:avLst/>
          </a:prstGeom>
          <a:noFill/>
          <a:ln/>
        </p:spPr>
        <p:txBody>
          <a:bodyPr wrap="square" lIns="0" tIns="0" rIns="0" bIns="0" rtlCol="0" anchor="ctr"/>
          <a:lstStyle/>
          <a:p>
            <a:pPr algn="l" indent="0" marL="0">
              <a:buNone/>
            </a:pPr>
            <a:r>
              <a:rPr lang="en-US" sz="1800" b="1" i="1" dirty="0">
                <a:solidFill>
                  <a:srgbClr val="FCA5A5"/>
                </a:solidFill>
              </a:rPr>
              <a:t>The whole room builds something together. Right now.</a:t>
            </a:r>
            <a:endParaRPr lang="en-US" sz="1800" dirty="0"/>
          </a:p>
        </p:txBody>
      </p:sp>
      <p:sp>
        <p:nvSpPr>
          <p:cNvPr id="11" name="Shape 9"/>
          <p:cNvSpPr/>
          <p:nvPr/>
        </p:nvSpPr>
        <p:spPr>
          <a:xfrm>
            <a:off x="0" y="4663440"/>
            <a:ext cx="9144000" cy="480060"/>
          </a:xfrm>
          <a:prstGeom prst="rect">
            <a:avLst/>
          </a:prstGeom>
          <a:solidFill>
            <a:srgbClr val="991B1B"/>
          </a:solidFill>
          <a:ln w="12700">
            <a:solidFill>
              <a:srgbClr val="991B1B"/>
            </a:solidFill>
            <a:prstDash val="solid"/>
          </a:ln>
        </p:spPr>
      </p:sp>
      <p:sp>
        <p:nvSpPr>
          <p:cNvPr id="12" name="Text 10"/>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FFD166"/>
                </a:solidFill>
              </a:rPr>
              <a:t>Superpower activate? → ACTIVATE! 🚀 (Make it the LOUDEST!)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EF2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548640" y="164592"/>
            <a:ext cx="1828800" cy="320040"/>
          </a:xfrm>
          <a:prstGeom prst="roundRect">
            <a:avLst>
              <a:gd name="adj" fmla="val 51429"/>
            </a:avLst>
          </a:prstGeom>
          <a:solidFill>
            <a:srgbClr val="EF4444"/>
          </a:solidFill>
          <a:ln w="12700">
            <a:solidFill>
              <a:srgbClr val="EF4444"/>
            </a:solidFill>
            <a:prstDash val="solid"/>
          </a:ln>
        </p:spPr>
      </p:sp>
      <p:sp>
        <p:nvSpPr>
          <p:cNvPr id="4" name="Text 2"/>
          <p:cNvSpPr/>
          <p:nvPr/>
        </p:nvSpPr>
        <p:spPr>
          <a:xfrm>
            <a:off x="548640" y="164592"/>
            <a:ext cx="1828800" cy="320040"/>
          </a:xfrm>
          <a:prstGeom prst="rect">
            <a:avLst/>
          </a:prstGeom>
          <a:noFill/>
          <a:ln/>
        </p:spPr>
        <p:txBody>
          <a:bodyPr wrap="square" lIns="0" tIns="0" rIns="0" bIns="0" rtlCol="0" anchor="ctr"/>
          <a:lstStyle/>
          <a:p>
            <a:pPr algn="ctr" indent="0" marL="0">
              <a:buNone/>
            </a:pPr>
            <a:r>
              <a:rPr lang="en-US" sz="1000" b="1" dirty="0">
                <a:solidFill>
                  <a:srgbClr val="FFFFFF"/>
                </a:solidFill>
              </a:rPr>
              <a:t>ROUND 1 · 2 MIN</a:t>
            </a:r>
            <a:endParaRPr lang="en-US" sz="1000" dirty="0"/>
          </a:p>
        </p:txBody>
      </p:sp>
      <p:sp>
        <p:nvSpPr>
          <p:cNvPr id="5" name="Text 3"/>
          <p:cNvSpPr/>
          <p:nvPr/>
        </p:nvSpPr>
        <p:spPr>
          <a:xfrm>
            <a:off x="548640" y="594360"/>
            <a:ext cx="8229600" cy="1143000"/>
          </a:xfrm>
          <a:prstGeom prst="rect">
            <a:avLst/>
          </a:prstGeom>
          <a:noFill/>
          <a:ln/>
        </p:spPr>
        <p:txBody>
          <a:bodyPr wrap="square" lIns="0" tIns="0" rIns="0" bIns="0" rtlCol="0" anchor="ctr"/>
          <a:lstStyle/>
          <a:p>
            <a:pPr indent="0" marL="0">
              <a:buNone/>
            </a:pPr>
            <a:r>
              <a:rPr lang="en-US" sz="3600" b="1" dirty="0">
                <a:solidFill>
                  <a:srgbClr val="1A1F5E"/>
                </a:solidFill>
              </a:rPr>
              <a:t>What features does your</a:t>
            </a:r>
            <a:endParaRPr lang="en-US" sz="3600" dirty="0"/>
          </a:p>
          <a:p>
            <a:pPr indent="0" marL="0">
              <a:buNone/>
            </a:pPr>
            <a:r>
              <a:rPr lang="en-US" sz="3600" b="1" dirty="0">
                <a:solidFill>
                  <a:srgbClr val="1A1F5E"/>
                </a:solidFill>
              </a:rPr>
              <a:t>Dream School have?</a:t>
            </a:r>
            <a:endParaRPr lang="en-US" sz="3600" dirty="0"/>
          </a:p>
        </p:txBody>
      </p:sp>
      <p:sp>
        <p:nvSpPr>
          <p:cNvPr id="6" name="Text 4"/>
          <p:cNvSpPr/>
          <p:nvPr/>
        </p:nvSpPr>
        <p:spPr>
          <a:xfrm>
            <a:off x="548640" y="1828800"/>
            <a:ext cx="8229600" cy="457200"/>
          </a:xfrm>
          <a:prstGeom prst="rect">
            <a:avLst/>
          </a:prstGeom>
          <a:noFill/>
          <a:ln/>
        </p:spPr>
        <p:txBody>
          <a:bodyPr wrap="square" lIns="0" tIns="0" rIns="0" bIns="0" rtlCol="0" anchor="ctr"/>
          <a:lstStyle/>
          <a:p>
            <a:pPr indent="0" marL="0">
              <a:buNone/>
            </a:pPr>
            <a:r>
              <a:rPr lang="en-US" sz="1800" i="1" dirty="0">
                <a:solidFill>
                  <a:srgbClr val="94A3B8"/>
                </a:solidFill>
              </a:rPr>
              <a:t>Shout your ideas. The best ones go into the AI prompt!</a:t>
            </a:r>
            <a:endParaRPr lang="en-US" sz="1800" dirty="0"/>
          </a:p>
        </p:txBody>
      </p:sp>
      <p:sp>
        <p:nvSpPr>
          <p:cNvPr id="7" name="Shape 5"/>
          <p:cNvSpPr/>
          <p:nvPr/>
        </p:nvSpPr>
        <p:spPr>
          <a:xfrm>
            <a:off x="457200" y="2450592"/>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8" name="Text 6"/>
          <p:cNvSpPr/>
          <p:nvPr/>
        </p:nvSpPr>
        <p:spPr>
          <a:xfrm>
            <a:off x="530352" y="2450592"/>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No homework 📚</a:t>
            </a:r>
            <a:endParaRPr lang="en-US" sz="1200" dirty="0"/>
          </a:p>
        </p:txBody>
      </p:sp>
      <p:sp>
        <p:nvSpPr>
          <p:cNvPr id="9" name="Shape 7"/>
          <p:cNvSpPr/>
          <p:nvPr/>
        </p:nvSpPr>
        <p:spPr>
          <a:xfrm>
            <a:off x="2633472" y="2450592"/>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0" name="Text 8"/>
          <p:cNvSpPr/>
          <p:nvPr/>
        </p:nvSpPr>
        <p:spPr>
          <a:xfrm>
            <a:off x="2706624" y="2450592"/>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Rooftop cricket ground 🏏</a:t>
            </a:r>
            <a:endParaRPr lang="en-US" sz="1200" dirty="0"/>
          </a:p>
        </p:txBody>
      </p:sp>
      <p:sp>
        <p:nvSpPr>
          <p:cNvPr id="11" name="Shape 9"/>
          <p:cNvSpPr/>
          <p:nvPr/>
        </p:nvSpPr>
        <p:spPr>
          <a:xfrm>
            <a:off x="4809744" y="2450592"/>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Text 10"/>
          <p:cNvSpPr/>
          <p:nvPr/>
        </p:nvSpPr>
        <p:spPr>
          <a:xfrm>
            <a:off x="4882896" y="2450592"/>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3D hologram teachers 👨‍🏫</a:t>
            </a:r>
            <a:endParaRPr lang="en-US" sz="1200" dirty="0"/>
          </a:p>
        </p:txBody>
      </p:sp>
      <p:sp>
        <p:nvSpPr>
          <p:cNvPr id="13" name="Shape 11"/>
          <p:cNvSpPr/>
          <p:nvPr/>
        </p:nvSpPr>
        <p:spPr>
          <a:xfrm>
            <a:off x="6986016" y="2450592"/>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4" name="Text 12"/>
          <p:cNvSpPr/>
          <p:nvPr/>
        </p:nvSpPr>
        <p:spPr>
          <a:xfrm>
            <a:off x="7059168" y="2450592"/>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AI tutor for every student 🤖</a:t>
            </a:r>
            <a:endParaRPr lang="en-US" sz="1200" dirty="0"/>
          </a:p>
        </p:txBody>
      </p:sp>
      <p:sp>
        <p:nvSpPr>
          <p:cNvPr id="15" name="Shape 13"/>
          <p:cNvSpPr/>
          <p:nvPr/>
        </p:nvSpPr>
        <p:spPr>
          <a:xfrm>
            <a:off x="457200" y="3255264"/>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6" name="Text 14"/>
          <p:cNvSpPr/>
          <p:nvPr/>
        </p:nvSpPr>
        <p:spPr>
          <a:xfrm>
            <a:off x="530352" y="3255264"/>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Space science lab 🚀</a:t>
            </a:r>
            <a:endParaRPr lang="en-US" sz="1200" dirty="0"/>
          </a:p>
        </p:txBody>
      </p:sp>
      <p:sp>
        <p:nvSpPr>
          <p:cNvPr id="17" name="Shape 15"/>
          <p:cNvSpPr/>
          <p:nvPr/>
        </p:nvSpPr>
        <p:spPr>
          <a:xfrm>
            <a:off x="2633472" y="3255264"/>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8" name="Text 16"/>
          <p:cNvSpPr/>
          <p:nvPr/>
        </p:nvSpPr>
        <p:spPr>
          <a:xfrm>
            <a:off x="2706624" y="3255264"/>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Free food for everyone 🍱</a:t>
            </a:r>
            <a:endParaRPr lang="en-US" sz="1200" dirty="0"/>
          </a:p>
        </p:txBody>
      </p:sp>
      <p:sp>
        <p:nvSpPr>
          <p:cNvPr id="19" name="Shape 17"/>
          <p:cNvSpPr/>
          <p:nvPr/>
        </p:nvSpPr>
        <p:spPr>
          <a:xfrm>
            <a:off x="4809744" y="3255264"/>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0" name="Text 18"/>
          <p:cNvSpPr/>
          <p:nvPr/>
        </p:nvSpPr>
        <p:spPr>
          <a:xfrm>
            <a:off x="4882896" y="3255264"/>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Sleep pods for tired students 😴</a:t>
            </a:r>
            <a:endParaRPr lang="en-US" sz="1200" dirty="0"/>
          </a:p>
        </p:txBody>
      </p:sp>
      <p:sp>
        <p:nvSpPr>
          <p:cNvPr id="21" name="Shape 19"/>
          <p:cNvSpPr/>
          <p:nvPr/>
        </p:nvSpPr>
        <p:spPr>
          <a:xfrm>
            <a:off x="6986016" y="3255264"/>
            <a:ext cx="2029968" cy="658368"/>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2" name="Text 20"/>
          <p:cNvSpPr/>
          <p:nvPr/>
        </p:nvSpPr>
        <p:spPr>
          <a:xfrm>
            <a:off x="7059168" y="3255264"/>
            <a:ext cx="1901952" cy="658368"/>
          </a:xfrm>
          <a:prstGeom prst="rect">
            <a:avLst/>
          </a:prstGeom>
          <a:noFill/>
          <a:ln/>
        </p:spPr>
        <p:txBody>
          <a:bodyPr wrap="square" lIns="0" tIns="0" rIns="0" bIns="0" rtlCol="0" anchor="ctr"/>
          <a:lstStyle/>
          <a:p>
            <a:pPr indent="0" marL="0">
              <a:buNone/>
            </a:pPr>
            <a:r>
              <a:rPr lang="en-US" sz="1200" b="1" dirty="0">
                <a:solidFill>
                  <a:srgbClr val="1A1F5E"/>
                </a:solidFill>
              </a:rPr>
              <a:t>Robot librarian 🤖</a:t>
            </a:r>
            <a:endParaRPr lang="en-US" sz="1200" dirty="0"/>
          </a:p>
        </p:txBody>
      </p:sp>
      <p:sp>
        <p:nvSpPr>
          <p:cNvPr id="23" name="Shape 21">
            <a:hlinkClick r:id="rId1" tooltip=""/>
          </p:cNvPr>
          <p:cNvSpPr/>
          <p:nvPr/>
        </p:nvSpPr>
        <p:spPr>
          <a:xfrm>
            <a:off x="548640" y="4617720"/>
            <a:ext cx="5029200" cy="475488"/>
          </a:xfrm>
          <a:prstGeom prst="roundRect">
            <a:avLst>
              <a:gd name="adj" fmla="val 26923"/>
            </a:avLst>
          </a:prstGeom>
          <a:solidFill>
            <a:srgbClr val="EF4444"/>
          </a:solidFill>
          <a:ln w="12700">
            <a:solidFill>
              <a:srgbClr val="EF4444"/>
            </a:solidFill>
            <a:prstDash val="solid"/>
          </a:ln>
        </p:spPr>
      </p:sp>
      <p:sp>
        <p:nvSpPr>
          <p:cNvPr id="24" name="Text 22">
            <a:hlinkClick r:id="rId2" tooltip=""/>
          </p:cNvPr>
          <p:cNvSpPr/>
          <p:nvPr/>
        </p:nvSpPr>
        <p:spPr>
          <a:xfrm>
            <a:off x="548640" y="4617720"/>
            <a:ext cx="5029200" cy="475488"/>
          </a:xfrm>
          <a:prstGeom prst="rect">
            <a:avLst/>
          </a:prstGeom>
          <a:noFill/>
          <a:ln/>
        </p:spPr>
        <p:txBody>
          <a:bodyPr wrap="square" lIns="0" tIns="0" rIns="0" bIns="0" rtlCol="0" anchor="ctr"/>
          <a:lstStyle/>
          <a:p>
            <a:pPr algn="ctr" indent="0" marL="0">
              <a:buNone/>
            </a:pPr>
            <a:r>
              <a:rPr lang="en-US" sz="14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Claude to type the prompt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EF2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3A8C"/>
          </a:solidFill>
          <a:ln w="12700">
            <a:solidFill>
              <a:srgbClr val="2D3A8C"/>
            </a:solidFill>
            <a:prstDash val="solid"/>
          </a:ln>
        </p:spPr>
      </p:sp>
      <p:sp>
        <p:nvSpPr>
          <p:cNvPr id="3" name="Shape 1"/>
          <p:cNvSpPr/>
          <p:nvPr/>
        </p:nvSpPr>
        <p:spPr>
          <a:xfrm>
            <a:off x="548640" y="164592"/>
            <a:ext cx="1828800" cy="320040"/>
          </a:xfrm>
          <a:prstGeom prst="roundRect">
            <a:avLst>
              <a:gd name="adj" fmla="val 51429"/>
            </a:avLst>
          </a:prstGeom>
          <a:solidFill>
            <a:srgbClr val="2D3A8C"/>
          </a:solidFill>
          <a:ln w="12700">
            <a:solidFill>
              <a:srgbClr val="2D3A8C"/>
            </a:solidFill>
            <a:prstDash val="solid"/>
          </a:ln>
        </p:spPr>
      </p:sp>
      <p:sp>
        <p:nvSpPr>
          <p:cNvPr id="4" name="Text 2"/>
          <p:cNvSpPr/>
          <p:nvPr/>
        </p:nvSpPr>
        <p:spPr>
          <a:xfrm>
            <a:off x="548640" y="164592"/>
            <a:ext cx="1828800" cy="320040"/>
          </a:xfrm>
          <a:prstGeom prst="rect">
            <a:avLst/>
          </a:prstGeom>
          <a:noFill/>
          <a:ln/>
        </p:spPr>
        <p:txBody>
          <a:bodyPr wrap="square" lIns="0" tIns="0" rIns="0" bIns="0" rtlCol="0" anchor="ctr"/>
          <a:lstStyle/>
          <a:p>
            <a:pPr algn="ctr" indent="0" marL="0">
              <a:buNone/>
            </a:pPr>
            <a:r>
              <a:rPr lang="en-US" sz="1000" b="1" dirty="0">
                <a:solidFill>
                  <a:srgbClr val="FFFFFF"/>
                </a:solidFill>
              </a:rPr>
              <a:t>ROUND 2 · 2 MIN</a:t>
            </a:r>
            <a:endParaRPr lang="en-US" sz="1000" dirty="0"/>
          </a:p>
        </p:txBody>
      </p:sp>
      <p:sp>
        <p:nvSpPr>
          <p:cNvPr id="5" name="Text 3"/>
          <p:cNvSpPr/>
          <p:nvPr/>
        </p:nvSpPr>
        <p:spPr>
          <a:xfrm>
            <a:off x="548640" y="594360"/>
            <a:ext cx="8229600" cy="1143000"/>
          </a:xfrm>
          <a:prstGeom prst="rect">
            <a:avLst/>
          </a:prstGeom>
          <a:noFill/>
          <a:ln/>
        </p:spPr>
        <p:txBody>
          <a:bodyPr wrap="square" lIns="0" tIns="0" rIns="0" bIns="0" rtlCol="0" anchor="ctr"/>
          <a:lstStyle/>
          <a:p>
            <a:pPr indent="0" marL="0">
              <a:buNone/>
            </a:pPr>
            <a:r>
              <a:rPr lang="en-US" sz="3400" b="1" dirty="0">
                <a:solidFill>
                  <a:srgbClr val="1A1F5E"/>
                </a:solidFill>
              </a:rPr>
              <a:t>What problem does it solve</a:t>
            </a:r>
            <a:endParaRPr lang="en-US" sz="3400" dirty="0"/>
          </a:p>
          <a:p>
            <a:pPr indent="0" marL="0">
              <a:buNone/>
            </a:pPr>
            <a:r>
              <a:rPr lang="en-US" sz="3400" b="1" dirty="0">
                <a:solidFill>
                  <a:srgbClr val="1A1F5E"/>
                </a:solidFill>
              </a:rPr>
              <a:t>that no school solves today?</a:t>
            </a:r>
            <a:endParaRPr lang="en-US" sz="3400" dirty="0"/>
          </a:p>
        </p:txBody>
      </p:sp>
      <p:sp>
        <p:nvSpPr>
          <p:cNvPr id="6" name="Shape 4"/>
          <p:cNvSpPr/>
          <p:nvPr/>
        </p:nvSpPr>
        <p:spPr>
          <a:xfrm>
            <a:off x="548640" y="1901952"/>
            <a:ext cx="8046720" cy="1371600"/>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7" name="Shape 5"/>
          <p:cNvSpPr/>
          <p:nvPr/>
        </p:nvSpPr>
        <p:spPr>
          <a:xfrm>
            <a:off x="548640" y="1901952"/>
            <a:ext cx="91440" cy="1371600"/>
          </a:xfrm>
          <a:prstGeom prst="rect">
            <a:avLst/>
          </a:prstGeom>
          <a:solidFill>
            <a:srgbClr val="2D3A8C"/>
          </a:solidFill>
          <a:ln w="12700">
            <a:solidFill>
              <a:srgbClr val="2D3A8C"/>
            </a:solidFill>
            <a:prstDash val="solid"/>
          </a:ln>
        </p:spPr>
      </p:sp>
      <p:sp>
        <p:nvSpPr>
          <p:cNvPr id="8" name="Text 6"/>
          <p:cNvSpPr/>
          <p:nvPr/>
        </p:nvSpPr>
        <p:spPr>
          <a:xfrm>
            <a:off x="731520" y="1993392"/>
            <a:ext cx="7680960" cy="411480"/>
          </a:xfrm>
          <a:prstGeom prst="rect">
            <a:avLst/>
          </a:prstGeom>
          <a:noFill/>
          <a:ln/>
        </p:spPr>
        <p:txBody>
          <a:bodyPr wrap="square" lIns="0" tIns="0" rIns="0" bIns="0" rtlCol="0" anchor="ctr"/>
          <a:lstStyle/>
          <a:p>
            <a:pPr indent="0" marL="0">
              <a:buNone/>
            </a:pPr>
            <a:r>
              <a:rPr lang="en-US" sz="1500" b="1" dirty="0">
                <a:solidFill>
                  <a:srgbClr val="1A1F5E"/>
                </a:solidFill>
              </a:rPr>
              <a:t>The richer your prompt — the richer the AI's response.</a:t>
            </a:r>
            <a:endParaRPr lang="en-US" sz="1500" dirty="0"/>
          </a:p>
        </p:txBody>
      </p:sp>
      <p:sp>
        <p:nvSpPr>
          <p:cNvPr id="9" name="Text 7"/>
          <p:cNvSpPr/>
          <p:nvPr/>
        </p:nvSpPr>
        <p:spPr>
          <a:xfrm>
            <a:off x="731520" y="2423160"/>
            <a:ext cx="7680960" cy="749808"/>
          </a:xfrm>
          <a:prstGeom prst="rect">
            <a:avLst/>
          </a:prstGeom>
          <a:noFill/>
          <a:ln/>
        </p:spPr>
        <p:txBody>
          <a:bodyPr wrap="square" lIns="0" tIns="0" rIns="0" bIns="0" rtlCol="0" anchor="ctr"/>
          <a:lstStyle/>
          <a:p>
            <a:pPr indent="0" marL="0">
              <a:buNone/>
            </a:pPr>
            <a:r>
              <a:rPr lang="en-US" sz="1300" dirty="0">
                <a:solidFill>
                  <a:srgbClr val="475569"/>
                </a:solidFill>
              </a:rPr>
              <a:t>Weak: "a nice school"</a:t>
            </a:r>
            <a:endParaRPr lang="en-US" sz="1300" dirty="0"/>
          </a:p>
          <a:p>
            <a:pPr indent="0" marL="0">
              <a:buNone/>
            </a:pPr>
            <a:r>
              <a:rPr lang="en-US" sz="1300" dirty="0">
                <a:solidFill>
                  <a:srgbClr val="475569"/>
                </a:solidFill>
              </a:rPr>
              <a:t>Strong: "a school in rural UP with solar power, free healthy meals, AI tutors in Hindi, a cricket field that doubles as a science lab, and zero fees"</a:t>
            </a:r>
            <a:endParaRPr lang="en-US" sz="1300" dirty="0"/>
          </a:p>
        </p:txBody>
      </p:sp>
      <p:sp>
        <p:nvSpPr>
          <p:cNvPr id="10" name="Text 8"/>
          <p:cNvSpPr/>
          <p:nvPr/>
        </p:nvSpPr>
        <p:spPr>
          <a:xfrm>
            <a:off x="548640" y="3456432"/>
            <a:ext cx="8046720" cy="457200"/>
          </a:xfrm>
          <a:prstGeom prst="rect">
            <a:avLst/>
          </a:prstGeom>
          <a:noFill/>
          <a:ln/>
        </p:spPr>
        <p:txBody>
          <a:bodyPr wrap="square" lIns="0" tIns="0" rIns="0" bIns="0" rtlCol="0" anchor="ctr"/>
          <a:lstStyle/>
          <a:p>
            <a:pPr algn="ctr" indent="0" marL="0">
              <a:buNone/>
            </a:pPr>
            <a:r>
              <a:rPr lang="en-US" sz="1700" b="1" dirty="0">
                <a:solidFill>
                  <a:srgbClr val="2D3A8C"/>
                </a:solidFill>
              </a:rPr>
              <a:t>The more specific your imagination — the better the AI output.</a:t>
            </a:r>
            <a:endParaRPr lang="en-US" sz="1700" dirty="0"/>
          </a:p>
        </p:txBody>
      </p:sp>
      <p:sp>
        <p:nvSpPr>
          <p:cNvPr id="11" name="Shape 9">
            <a:hlinkClick r:id="rId1" tooltip=""/>
          </p:cNvPr>
          <p:cNvSpPr/>
          <p:nvPr/>
        </p:nvSpPr>
        <p:spPr>
          <a:xfrm>
            <a:off x="548640" y="4069080"/>
            <a:ext cx="5029200" cy="566928"/>
          </a:xfrm>
          <a:prstGeom prst="roundRect">
            <a:avLst>
              <a:gd name="adj" fmla="val 22581"/>
            </a:avLst>
          </a:prstGeom>
          <a:solidFill>
            <a:srgbClr val="2D3A8C"/>
          </a:solidFill>
          <a:ln w="12700">
            <a:solidFill>
              <a:srgbClr val="2D3A8C"/>
            </a:solidFill>
            <a:prstDash val="solid"/>
          </a:ln>
        </p:spPr>
      </p:sp>
      <p:sp>
        <p:nvSpPr>
          <p:cNvPr id="12" name="Text 10">
            <a:hlinkClick r:id="rId2" tooltip=""/>
          </p:cNvPr>
          <p:cNvSpPr/>
          <p:nvPr/>
        </p:nvSpPr>
        <p:spPr>
          <a:xfrm>
            <a:off x="548640" y="4069080"/>
            <a:ext cx="5029200" cy="566928"/>
          </a:xfrm>
          <a:prstGeom prst="rect">
            <a:avLst/>
          </a:prstGeom>
          <a:noFill/>
          <a:ln/>
        </p:spPr>
        <p:txBody>
          <a:bodyPr wrap="square" lIns="0" tIns="0" rIns="0" bIns="0" rtlCol="0" anchor="ctr"/>
          <a:lstStyle/>
          <a:p>
            <a:pPr algn="ctr" indent="0" marL="0">
              <a:buNone/>
            </a:pPr>
            <a:r>
              <a:rPr lang="en-US" sz="16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Add the twist to Claude</a:t>
            </a:r>
            <a:endParaRPr lang="en-US" sz="1600" dirty="0"/>
          </a:p>
        </p:txBody>
      </p:sp>
      <p:sp>
        <p:nvSpPr>
          <p:cNvPr id="13" name="Text 11"/>
          <p:cNvSpPr/>
          <p:nvPr/>
        </p:nvSpPr>
        <p:spPr>
          <a:xfrm>
            <a:off x="5760720" y="4069080"/>
            <a:ext cx="3200400" cy="566928"/>
          </a:xfrm>
          <a:prstGeom prst="rect">
            <a:avLst/>
          </a:prstGeom>
          <a:noFill/>
          <a:ln/>
        </p:spPr>
        <p:txBody>
          <a:bodyPr wrap="square" lIns="0" tIns="0" rIns="0" bIns="0" rtlCol="0" anchor="ctr"/>
          <a:lstStyle/>
          <a:p>
            <a:pPr indent="0" marL="0">
              <a:buNone/>
            </a:pPr>
            <a:r>
              <a:rPr lang="en-US" sz="1300" b="1" i="1" dirty="0">
                <a:solidFill>
                  <a:srgbClr val="94A3B8"/>
                </a:solidFill>
              </a:rPr>
              <a:t>Your prompt = your imagination.  AI = the paintbrush.</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7772400" y="-457200"/>
            <a:ext cx="4114800" cy="4114800"/>
          </a:xfrm>
          <a:prstGeom prst="ellipse">
            <a:avLst/>
          </a:prstGeom>
          <a:solidFill>
            <a:srgbClr val="1E2761"/>
          </a:solidFill>
          <a:ln w="12700">
            <a:solidFill>
              <a:srgbClr val="1E2761"/>
            </a:solidFill>
            <a:prstDash val="solid"/>
          </a:ln>
        </p:spPr>
      </p:sp>
      <p:sp>
        <p:nvSpPr>
          <p:cNvPr id="3" name="Shape 1"/>
          <p:cNvSpPr/>
          <p:nvPr/>
        </p:nvSpPr>
        <p:spPr>
          <a:xfrm>
            <a:off x="-457200" y="4114800"/>
            <a:ext cx="2286000" cy="2286000"/>
          </a:xfrm>
          <a:prstGeom prst="ellipse">
            <a:avLst/>
          </a:prstGeom>
          <a:solidFill>
            <a:srgbClr val="1E2761"/>
          </a:solidFill>
          <a:ln w="12700">
            <a:solidFill>
              <a:srgbClr val="1E2761"/>
            </a:solidFill>
            <a:prstDash val="solid"/>
          </a:ln>
        </p:spPr>
      </p:sp>
      <p:sp>
        <p:nvSpPr>
          <p:cNvPr id="4" name="Shape 2"/>
          <p:cNvSpPr/>
          <p:nvPr/>
        </p:nvSpPr>
        <p:spPr>
          <a:xfrm>
            <a:off x="8412480" y="4389120"/>
            <a:ext cx="1645920" cy="1645920"/>
          </a:xfrm>
          <a:prstGeom prst="ellipse">
            <a:avLst/>
          </a:prstGeom>
          <a:solidFill>
            <a:srgbClr val="FF6B35"/>
          </a:solidFill>
          <a:ln w="12700">
            <a:solidFill>
              <a:srgbClr val="FF6B35"/>
            </a:solidFill>
            <a:prstDash val="solid"/>
          </a:ln>
        </p:spPr>
      </p:sp>
      <p:sp>
        <p:nvSpPr>
          <p:cNvPr id="5" name="Shape 3"/>
          <p:cNvSpPr/>
          <p:nvPr/>
        </p:nvSpPr>
        <p:spPr>
          <a:xfrm>
            <a:off x="548640" y="274320"/>
            <a:ext cx="1828800" cy="347472"/>
          </a:xfrm>
          <a:prstGeom prst="roundRect">
            <a:avLst>
              <a:gd name="adj" fmla="val 47368"/>
            </a:avLst>
          </a:prstGeom>
          <a:solidFill>
            <a:srgbClr val="FF6B35"/>
          </a:solidFill>
          <a:ln w="12700">
            <a:solidFill>
              <a:srgbClr val="FF6B35"/>
            </a:solidFill>
            <a:prstDash val="solid"/>
          </a:ln>
        </p:spPr>
      </p:sp>
      <p:sp>
        <p:nvSpPr>
          <p:cNvPr id="6" name="Text 4"/>
          <p:cNvSpPr/>
          <p:nvPr/>
        </p:nvSpPr>
        <p:spPr>
          <a:xfrm>
            <a:off x="548640" y="274320"/>
            <a:ext cx="1828800" cy="347472"/>
          </a:xfrm>
          <a:prstGeom prst="rect">
            <a:avLst/>
          </a:prstGeom>
          <a:noFill/>
          <a:ln/>
        </p:spPr>
        <p:txBody>
          <a:bodyPr wrap="square" lIns="0" tIns="0" rIns="0" bIns="0" rtlCol="0" anchor="ctr"/>
          <a:lstStyle/>
          <a:p>
            <a:pPr algn="ctr" indent="0" marL="0">
              <a:buNone/>
            </a:pPr>
            <a:r>
              <a:rPr lang="en-US" sz="1000" b="1" dirty="0">
                <a:solidFill>
                  <a:srgbClr val="FFFFFF"/>
                </a:solidFill>
              </a:rPr>
              <a:t>ROUND 3 · 2 MIN</a:t>
            </a:r>
            <a:endParaRPr lang="en-US" sz="1000" dirty="0"/>
          </a:p>
        </p:txBody>
      </p:sp>
      <p:sp>
        <p:nvSpPr>
          <p:cNvPr id="7" name="Text 5"/>
          <p:cNvSpPr/>
          <p:nvPr/>
        </p:nvSpPr>
        <p:spPr>
          <a:xfrm>
            <a:off x="548640" y="777240"/>
            <a:ext cx="8229600" cy="1600200"/>
          </a:xfrm>
          <a:prstGeom prst="rect">
            <a:avLst/>
          </a:prstGeom>
          <a:noFill/>
          <a:ln/>
        </p:spPr>
        <p:txBody>
          <a:bodyPr wrap="square" lIns="0" tIns="0" rIns="0" bIns="0" rtlCol="0" anchor="ctr"/>
          <a:lstStyle/>
          <a:p>
            <a:pPr algn="l" indent="0" marL="0">
              <a:buNone/>
            </a:pPr>
            <a:r>
              <a:rPr lang="en-US" sz="5600" b="1" dirty="0">
                <a:solidFill>
                  <a:srgbClr val="FFFFFF"/>
                </a:solidFill>
              </a:rPr>
              <a:t>Now see your</a:t>
            </a:r>
            <a:endParaRPr lang="en-US" sz="5600" dirty="0"/>
          </a:p>
          <a:p>
            <a:pPr algn="l" indent="0" marL="0">
              <a:buNone/>
            </a:pPr>
            <a:r>
              <a:rPr lang="en-US" sz="5600" b="1" dirty="0">
                <a:solidFill>
                  <a:srgbClr val="FFFFFF"/>
                </a:solidFill>
              </a:rPr>
              <a:t>Dream School!</a:t>
            </a:r>
            <a:endParaRPr lang="en-US" sz="5600" dirty="0"/>
          </a:p>
        </p:txBody>
      </p:sp>
      <p:sp>
        <p:nvSpPr>
          <p:cNvPr id="8" name="Text 6"/>
          <p:cNvSpPr/>
          <p:nvPr/>
        </p:nvSpPr>
        <p:spPr>
          <a:xfrm>
            <a:off x="548640" y="2468880"/>
            <a:ext cx="8229600" cy="566928"/>
          </a:xfrm>
          <a:prstGeom prst="rect">
            <a:avLst/>
          </a:prstGeom>
          <a:noFill/>
          <a:ln/>
        </p:spPr>
        <p:txBody>
          <a:bodyPr wrap="square" lIns="0" tIns="0" rIns="0" bIns="0" rtlCol="0" anchor="ctr"/>
          <a:lstStyle/>
          <a:p>
            <a:pPr algn="l" indent="0" marL="0">
              <a:buNone/>
            </a:pPr>
            <a:r>
              <a:rPr lang="en-US" sz="2200" b="1" i="1" dirty="0">
                <a:solidFill>
                  <a:srgbClr val="FFD166"/>
                </a:solidFill>
              </a:rPr>
              <a:t>Paste the description. Hit generate. Watch.</a:t>
            </a:r>
            <a:endParaRPr lang="en-US" sz="2200" dirty="0"/>
          </a:p>
        </p:txBody>
      </p:sp>
      <p:sp>
        <p:nvSpPr>
          <p:cNvPr id="9" name="Shape 7">
            <a:hlinkClick r:id="rId1" tooltip=""/>
          </p:cNvPr>
          <p:cNvSpPr/>
          <p:nvPr/>
        </p:nvSpPr>
        <p:spPr>
          <a:xfrm>
            <a:off x="548640" y="3246120"/>
            <a:ext cx="5486400" cy="822960"/>
          </a:xfrm>
          <a:prstGeom prst="roundRect">
            <a:avLst>
              <a:gd name="adj" fmla="val 15556"/>
            </a:avLst>
          </a:prstGeom>
          <a:solidFill>
            <a:srgbClr val="FF6B35"/>
          </a:solidFill>
          <a:ln w="12700">
            <a:solidFill>
              <a:srgbClr val="FF6B35"/>
            </a:solidFill>
            <a:prstDash val="solid"/>
          </a:ln>
        </p:spPr>
      </p:sp>
      <p:sp>
        <p:nvSpPr>
          <p:cNvPr id="10" name="Text 8">
            <a:hlinkClick r:id="rId2" tooltip=""/>
          </p:cNvPr>
          <p:cNvSpPr/>
          <p:nvPr/>
        </p:nvSpPr>
        <p:spPr>
          <a:xfrm>
            <a:off x="548640" y="3246120"/>
            <a:ext cx="5486400" cy="822960"/>
          </a:xfrm>
          <a:prstGeom prst="rect">
            <a:avLst/>
          </a:prstGeom>
          <a:noFill/>
          <a:ln/>
        </p:spPr>
        <p:txBody>
          <a:bodyPr wrap="square" lIns="0" tIns="0" rIns="0" bIns="0" rtlCol="0" anchor="ctr"/>
          <a:lstStyle/>
          <a:p>
            <a:pPr algn="ctr" indent="0" marL="0">
              <a:buNone/>
            </a:pPr>
            <a:r>
              <a:rPr lang="en-US" sz="22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Open Bing Image Creator</a:t>
            </a:r>
            <a:endParaRPr lang="en-US" sz="2200" dirty="0"/>
          </a:p>
        </p:txBody>
      </p:sp>
      <p:sp>
        <p:nvSpPr>
          <p:cNvPr id="11" name="Shape 9"/>
          <p:cNvSpPr/>
          <p:nvPr/>
        </p:nvSpPr>
        <p:spPr>
          <a:xfrm>
            <a:off x="548640" y="4251960"/>
            <a:ext cx="8046720" cy="685800"/>
          </a:xfrm>
          <a:prstGeom prst="rect">
            <a:avLst/>
          </a:prstGeom>
          <a:solidFill>
            <a:srgbClr val="1E2761"/>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2" name="Shape 10"/>
          <p:cNvSpPr/>
          <p:nvPr/>
        </p:nvSpPr>
        <p:spPr>
          <a:xfrm>
            <a:off x="548640" y="4251960"/>
            <a:ext cx="91440" cy="685800"/>
          </a:xfrm>
          <a:prstGeom prst="rect">
            <a:avLst/>
          </a:prstGeom>
          <a:solidFill>
            <a:srgbClr val="FFD166"/>
          </a:solidFill>
          <a:ln w="12700">
            <a:solidFill>
              <a:srgbClr val="FFD166"/>
            </a:solidFill>
            <a:prstDash val="solid"/>
          </a:ln>
        </p:spPr>
      </p:sp>
      <p:sp>
        <p:nvSpPr>
          <p:cNvPr id="13" name="Text 11"/>
          <p:cNvSpPr/>
          <p:nvPr/>
        </p:nvSpPr>
        <p:spPr>
          <a:xfrm>
            <a:off x="749808" y="4251960"/>
            <a:ext cx="7680960" cy="685800"/>
          </a:xfrm>
          <a:prstGeom prst="rect">
            <a:avLst/>
          </a:prstGeom>
          <a:noFill/>
          <a:ln/>
        </p:spPr>
        <p:txBody>
          <a:bodyPr wrap="square" lIns="0" tIns="0" rIns="0" bIns="0" rtlCol="0" anchor="ctr"/>
          <a:lstStyle/>
          <a:p>
            <a:pPr indent="0" marL="0">
              <a:buNone/>
            </a:pPr>
            <a:r>
              <a:rPr lang="en-US" sz="1300" b="1" dirty="0">
                <a:solidFill>
                  <a:srgbClr val="FFFFFF"/>
                </a:solidFill>
              </a:rPr>
              <a:t>The whole room built this together. Every idea on screen came from someone in this room.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F5E"/>
        </a:solidFill>
      </p:bgPr>
    </p:bg>
    <p:spTree>
      <p:nvGrpSpPr>
        <p:cNvPr id="1" name=""/>
        <p:cNvGrpSpPr/>
        <p:nvPr/>
      </p:nvGrpSpPr>
      <p:grpSpPr>
        <a:xfrm>
          <a:off x="0" y="0"/>
          <a:ext cx="0" cy="0"/>
          <a:chOff x="0" y="0"/>
          <a:chExt cx="0" cy="0"/>
        </a:xfrm>
      </p:grpSpPr>
      <p:sp>
        <p:nvSpPr>
          <p:cNvPr id="2" name="Shape 0"/>
          <p:cNvSpPr/>
          <p:nvPr/>
        </p:nvSpPr>
        <p:spPr>
          <a:xfrm>
            <a:off x="6858000" y="-914400"/>
            <a:ext cx="5029200" cy="5029200"/>
          </a:xfrm>
          <a:prstGeom prst="ellipse">
            <a:avLst/>
          </a:prstGeom>
          <a:solidFill>
            <a:srgbClr val="2D3A8C"/>
          </a:solidFill>
          <a:ln w="12700">
            <a:solidFill>
              <a:srgbClr val="2D3A8C"/>
            </a:solidFill>
            <a:prstDash val="solid"/>
          </a:ln>
        </p:spPr>
      </p:sp>
      <p:sp>
        <p:nvSpPr>
          <p:cNvPr id="3" name="Shape 1"/>
          <p:cNvSpPr/>
          <p:nvPr/>
        </p:nvSpPr>
        <p:spPr>
          <a:xfrm>
            <a:off x="-914400" y="3657600"/>
            <a:ext cx="3657600" cy="3657600"/>
          </a:xfrm>
          <a:prstGeom prst="ellipse">
            <a:avLst/>
          </a:prstGeom>
          <a:solidFill>
            <a:srgbClr val="2D3A8C"/>
          </a:solidFill>
          <a:ln w="12700">
            <a:solidFill>
              <a:srgbClr val="2D3A8C"/>
            </a:solidFill>
            <a:prstDash val="solid"/>
          </a:ln>
        </p:spPr>
      </p:sp>
      <p:sp>
        <p:nvSpPr>
          <p:cNvPr id="4" name="Shape 2"/>
          <p:cNvSpPr/>
          <p:nvPr/>
        </p:nvSpPr>
        <p:spPr>
          <a:xfrm>
            <a:off x="8412480" y="4114800"/>
            <a:ext cx="2286000" cy="2286000"/>
          </a:xfrm>
          <a:prstGeom prst="ellipse">
            <a:avLst/>
          </a:prstGeom>
          <a:solidFill>
            <a:srgbClr val="FF6B35"/>
          </a:solidFill>
          <a:ln w="12700">
            <a:solidFill>
              <a:srgbClr val="FF6B35"/>
            </a:solidFill>
            <a:prstDash val="solid"/>
          </a:ln>
        </p:spPr>
      </p:sp>
      <p:sp>
        <p:nvSpPr>
          <p:cNvPr id="5" name="Shape 3"/>
          <p:cNvSpPr/>
          <p:nvPr/>
        </p:nvSpPr>
        <p:spPr>
          <a:xfrm>
            <a:off x="457200" y="365760"/>
            <a:ext cx="548640" cy="548640"/>
          </a:xfrm>
          <a:prstGeom prst="ellipse">
            <a:avLst/>
          </a:prstGeom>
          <a:solidFill>
            <a:srgbClr val="06D6A0"/>
          </a:solidFill>
          <a:ln w="12700">
            <a:solidFill>
              <a:srgbClr val="06D6A0"/>
            </a:solidFill>
            <a:prstDash val="solid"/>
          </a:ln>
        </p:spPr>
      </p:sp>
      <p:sp>
        <p:nvSpPr>
          <p:cNvPr id="6" name="Shape 4"/>
          <p:cNvSpPr/>
          <p:nvPr/>
        </p:nvSpPr>
        <p:spPr>
          <a:xfrm>
            <a:off x="1645920" y="1371600"/>
            <a:ext cx="164592" cy="164592"/>
          </a:xfrm>
          <a:prstGeom prst="ellipse">
            <a:avLst/>
          </a:prstGeom>
          <a:solidFill>
            <a:srgbClr val="FFD166"/>
          </a:solidFill>
          <a:ln w="12700">
            <a:solidFill>
              <a:srgbClr val="FFD166"/>
            </a:solidFill>
            <a:prstDash val="solid"/>
          </a:ln>
        </p:spPr>
      </p:sp>
      <p:sp>
        <p:nvSpPr>
          <p:cNvPr id="7" name="Shape 5"/>
          <p:cNvSpPr/>
          <p:nvPr/>
        </p:nvSpPr>
        <p:spPr>
          <a:xfrm>
            <a:off x="640080" y="320040"/>
            <a:ext cx="7863840" cy="2423160"/>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8" name="Shape 6"/>
          <p:cNvSpPr/>
          <p:nvPr/>
        </p:nvSpPr>
        <p:spPr>
          <a:xfrm>
            <a:off x="640080" y="320040"/>
            <a:ext cx="7863840" cy="109728"/>
          </a:xfrm>
          <a:prstGeom prst="rect">
            <a:avLst/>
          </a:prstGeom>
          <a:solidFill>
            <a:srgbClr val="06D6A0"/>
          </a:solidFill>
          <a:ln w="12700">
            <a:solidFill>
              <a:srgbClr val="06D6A0"/>
            </a:solidFill>
            <a:prstDash val="solid"/>
          </a:ln>
        </p:spPr>
      </p:sp>
      <p:sp>
        <p:nvSpPr>
          <p:cNvPr id="9" name="Text 7"/>
          <p:cNvSpPr/>
          <p:nvPr/>
        </p:nvSpPr>
        <p:spPr>
          <a:xfrm>
            <a:off x="822960" y="502920"/>
            <a:ext cx="7315200" cy="502920"/>
          </a:xfrm>
          <a:prstGeom prst="rect">
            <a:avLst/>
          </a:prstGeom>
          <a:noFill/>
          <a:ln/>
        </p:spPr>
        <p:txBody>
          <a:bodyPr wrap="square" lIns="0" tIns="0" rIns="0" bIns="0" rtlCol="0" anchor="ctr"/>
          <a:lstStyle/>
          <a:p>
            <a:pPr indent="0" marL="0">
              <a:buNone/>
            </a:pPr>
            <a:r>
              <a:rPr lang="en-US" sz="2000" b="1" i="1" dirty="0">
                <a:solidFill>
                  <a:srgbClr val="06D6A0"/>
                </a:solidFill>
              </a:rPr>
              <a:t>"This image on screen?</a:t>
            </a:r>
            <a:endParaRPr lang="en-US" sz="2000" dirty="0"/>
          </a:p>
        </p:txBody>
      </p:sp>
      <p:sp>
        <p:nvSpPr>
          <p:cNvPr id="10" name="Text 8"/>
          <p:cNvSpPr/>
          <p:nvPr/>
        </p:nvSpPr>
        <p:spPr>
          <a:xfrm>
            <a:off x="822960" y="1024128"/>
            <a:ext cx="7315200" cy="457200"/>
          </a:xfrm>
          <a:prstGeom prst="rect">
            <a:avLst/>
          </a:prstGeom>
          <a:noFill/>
          <a:ln/>
        </p:spPr>
        <p:txBody>
          <a:bodyPr wrap="square" lIns="0" tIns="0" rIns="0" bIns="0" rtlCol="0" anchor="ctr"/>
          <a:lstStyle/>
          <a:p>
            <a:pPr indent="0" marL="0">
              <a:buNone/>
            </a:pPr>
            <a:r>
              <a:rPr lang="en-US" sz="2200" b="1" dirty="0">
                <a:solidFill>
                  <a:srgbClr val="FFFFFF"/>
                </a:solidFill>
              </a:rPr>
              <a:t>You all created it.</a:t>
            </a:r>
            <a:endParaRPr lang="en-US" sz="2200" dirty="0"/>
          </a:p>
        </p:txBody>
      </p:sp>
      <p:sp>
        <p:nvSpPr>
          <p:cNvPr id="11" name="Text 9"/>
          <p:cNvSpPr/>
          <p:nvPr/>
        </p:nvSpPr>
        <p:spPr>
          <a:xfrm>
            <a:off x="822960" y="1481328"/>
            <a:ext cx="7315200" cy="384048"/>
          </a:xfrm>
          <a:prstGeom prst="rect">
            <a:avLst/>
          </a:prstGeom>
          <a:noFill/>
          <a:ln/>
        </p:spPr>
        <p:txBody>
          <a:bodyPr wrap="square" lIns="0" tIns="0" rIns="0" bIns="0" rtlCol="0" anchor="ctr"/>
          <a:lstStyle/>
          <a:p>
            <a:pPr indent="0" marL="0">
              <a:buNone/>
            </a:pPr>
            <a:r>
              <a:rPr lang="en-US" sz="1600" dirty="0">
                <a:solidFill>
                  <a:srgbClr val="B0C4F4"/>
                </a:solidFill>
              </a:rPr>
              <a:t>Not one of you — ALL of you. AI was just the paintbrush.</a:t>
            </a:r>
            <a:endParaRPr lang="en-US" sz="1600" dirty="0"/>
          </a:p>
        </p:txBody>
      </p:sp>
      <p:sp>
        <p:nvSpPr>
          <p:cNvPr id="12" name="Text 10"/>
          <p:cNvSpPr/>
          <p:nvPr/>
        </p:nvSpPr>
        <p:spPr>
          <a:xfrm>
            <a:off x="822960" y="1920240"/>
            <a:ext cx="7315200" cy="384048"/>
          </a:xfrm>
          <a:prstGeom prst="rect">
            <a:avLst/>
          </a:prstGeom>
          <a:noFill/>
          <a:ln/>
        </p:spPr>
        <p:txBody>
          <a:bodyPr wrap="square" lIns="0" tIns="0" rIns="0" bIns="0" rtlCol="0" anchor="ctr"/>
          <a:lstStyle/>
          <a:p>
            <a:pPr indent="0" marL="0">
              <a:buNone/>
            </a:pPr>
            <a:r>
              <a:rPr lang="en-US" sz="1600" dirty="0">
                <a:solidFill>
                  <a:srgbClr val="B0C4F4"/>
                </a:solidFill>
              </a:rPr>
              <a:t>The ideas were yours.</a:t>
            </a:r>
            <a:endParaRPr lang="en-US" sz="1600" dirty="0"/>
          </a:p>
        </p:txBody>
      </p:sp>
      <p:sp>
        <p:nvSpPr>
          <p:cNvPr id="13" name="Text 11"/>
          <p:cNvSpPr/>
          <p:nvPr/>
        </p:nvSpPr>
        <p:spPr>
          <a:xfrm>
            <a:off x="640080" y="2944368"/>
            <a:ext cx="4114800" cy="868680"/>
          </a:xfrm>
          <a:prstGeom prst="rect">
            <a:avLst/>
          </a:prstGeom>
          <a:noFill/>
          <a:ln/>
        </p:spPr>
        <p:txBody>
          <a:bodyPr wrap="square" lIns="0" tIns="0" rIns="0" bIns="0" rtlCol="0" anchor="ctr"/>
          <a:lstStyle/>
          <a:p>
            <a:pPr indent="0" marL="0">
              <a:buNone/>
            </a:pPr>
            <a:r>
              <a:rPr lang="en-US" sz="4000" b="1" dirty="0">
                <a:solidFill>
                  <a:srgbClr val="FF6B35"/>
                </a:solidFill>
              </a:rPr>
              <a:t>AI is a tool.</a:t>
            </a:r>
            <a:endParaRPr lang="en-US" sz="4000" dirty="0"/>
          </a:p>
        </p:txBody>
      </p:sp>
      <p:sp>
        <p:nvSpPr>
          <p:cNvPr id="14" name="Text 12"/>
          <p:cNvSpPr/>
          <p:nvPr/>
        </p:nvSpPr>
        <p:spPr>
          <a:xfrm>
            <a:off x="4754880" y="2852928"/>
            <a:ext cx="4114800" cy="1097280"/>
          </a:xfrm>
          <a:prstGeom prst="rect">
            <a:avLst/>
          </a:prstGeom>
          <a:noFill/>
          <a:ln/>
        </p:spPr>
        <p:txBody>
          <a:bodyPr wrap="square" lIns="0" tIns="0" rIns="0" bIns="0" rtlCol="0" anchor="ctr"/>
          <a:lstStyle/>
          <a:p>
            <a:pPr indent="0" marL="0">
              <a:buNone/>
            </a:pPr>
            <a:r>
              <a:rPr lang="en-US" sz="3400" b="1" dirty="0">
                <a:solidFill>
                  <a:srgbClr val="FFD166"/>
                </a:solidFill>
              </a:rPr>
              <a:t>The superpower</a:t>
            </a:r>
            <a:endParaRPr lang="en-US" sz="3400" dirty="0"/>
          </a:p>
          <a:p>
            <a:pPr indent="0" marL="0">
              <a:buNone/>
            </a:pPr>
            <a:r>
              <a:rPr lang="en-US" sz="3400" b="1" dirty="0">
                <a:solidFill>
                  <a:srgbClr val="FFD166"/>
                </a:solidFill>
              </a:rPr>
              <a:t>is YOU.</a:t>
            </a:r>
            <a:endParaRPr lang="en-US" sz="3400" dirty="0"/>
          </a:p>
        </p:txBody>
      </p:sp>
      <p:sp>
        <p:nvSpPr>
          <p:cNvPr id="15" name="Shape 13"/>
          <p:cNvSpPr/>
          <p:nvPr/>
        </p:nvSpPr>
        <p:spPr>
          <a:xfrm>
            <a:off x="0" y="4663440"/>
            <a:ext cx="9144000" cy="480060"/>
          </a:xfrm>
          <a:prstGeom prst="rect">
            <a:avLst/>
          </a:prstGeom>
          <a:solidFill>
            <a:srgbClr val="FF6B35"/>
          </a:solidFill>
          <a:ln w="12700">
            <a:solidFill>
              <a:srgbClr val="FF6B35"/>
            </a:solidFill>
            <a:prstDash val="solid"/>
          </a:ln>
        </p:spPr>
      </p:sp>
      <p:sp>
        <p:nvSpPr>
          <p:cNvPr id="16" name="Text 14"/>
          <p:cNvSpPr/>
          <p:nvPr/>
        </p:nvSpPr>
        <p:spPr>
          <a:xfrm>
            <a:off x="274320" y="4663440"/>
            <a:ext cx="8686800" cy="480060"/>
          </a:xfrm>
          <a:prstGeom prst="rect">
            <a:avLst/>
          </a:prstGeom>
          <a:noFill/>
          <a:ln/>
        </p:spPr>
        <p:txBody>
          <a:bodyPr wrap="square" lIns="0" tIns="0" rIns="0" bIns="0" rtlCol="0" anchor="ctr"/>
          <a:lstStyle/>
          <a:p>
            <a:pPr algn="ctr" indent="0" marL="0">
              <a:buNone/>
            </a:pPr>
            <a:r>
              <a:rPr lang="en-US" sz="1400" b="1" dirty="0">
                <a:solidFill>
                  <a:srgbClr val="FFFFFF"/>
                </a:solidFill>
              </a:rPr>
              <a:t>Thank you for an electric 3 hours. Superpower: ACTIVATED. ⚡</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7772400" y="-457200"/>
            <a:ext cx="4114800" cy="4114800"/>
          </a:xfrm>
          <a:prstGeom prst="ellipse">
            <a:avLst/>
          </a:prstGeom>
          <a:solidFill>
            <a:srgbClr val="1E2761"/>
          </a:solidFill>
          <a:ln w="12700">
            <a:solidFill>
              <a:srgbClr val="1E2761"/>
            </a:solidFill>
            <a:prstDash val="solid"/>
          </a:ln>
        </p:spPr>
      </p:sp>
      <p:sp>
        <p:nvSpPr>
          <p:cNvPr id="3" name="Shape 1"/>
          <p:cNvSpPr/>
          <p:nvPr/>
        </p:nvSpPr>
        <p:spPr>
          <a:xfrm>
            <a:off x="-457200" y="4114800"/>
            <a:ext cx="2286000" cy="2286000"/>
          </a:xfrm>
          <a:prstGeom prst="ellipse">
            <a:avLst/>
          </a:prstGeom>
          <a:solidFill>
            <a:srgbClr val="1E2761"/>
          </a:solidFill>
          <a:ln w="12700">
            <a:solidFill>
              <a:srgbClr val="1E2761"/>
            </a:solidFill>
            <a:prstDash val="solid"/>
          </a:ln>
        </p:spPr>
      </p:sp>
      <p:sp>
        <p:nvSpPr>
          <p:cNvPr id="4" name="Shape 2"/>
          <p:cNvSpPr/>
          <p:nvPr/>
        </p:nvSpPr>
        <p:spPr>
          <a:xfrm>
            <a:off x="548640" y="274320"/>
            <a:ext cx="2743200" cy="347472"/>
          </a:xfrm>
          <a:prstGeom prst="roundRect">
            <a:avLst>
              <a:gd name="adj" fmla="val 47368"/>
            </a:avLst>
          </a:prstGeom>
          <a:solidFill>
            <a:srgbClr val="7B2FBE"/>
          </a:solidFill>
          <a:ln w="12700">
            <a:solidFill>
              <a:srgbClr val="7B2FBE"/>
            </a:solidFill>
            <a:prstDash val="solid"/>
          </a:ln>
        </p:spPr>
      </p:sp>
      <p:sp>
        <p:nvSpPr>
          <p:cNvPr id="5" name="Text 3"/>
          <p:cNvSpPr/>
          <p:nvPr/>
        </p:nvSpPr>
        <p:spPr>
          <a:xfrm>
            <a:off x="548640" y="274320"/>
            <a:ext cx="2743200" cy="347472"/>
          </a:xfrm>
          <a:prstGeom prst="rect">
            <a:avLst/>
          </a:prstGeom>
          <a:noFill/>
          <a:ln/>
        </p:spPr>
        <p:txBody>
          <a:bodyPr wrap="square" lIns="0" tIns="0" rIns="0" bIns="0" rtlCol="0" anchor="ctr"/>
          <a:lstStyle/>
          <a:p>
            <a:pPr algn="ctr" indent="0" marL="0">
              <a:buNone/>
            </a:pPr>
            <a:r>
              <a:rPr lang="en-US" sz="1100" b="1" dirty="0">
                <a:solidFill>
                  <a:srgbClr val="FFFFFF"/>
                </a:solidFill>
              </a:rPr>
              <a:t>🎯 YOUR 7-DAY MISSION</a:t>
            </a:r>
            <a:endParaRPr lang="en-US" sz="1100" dirty="0"/>
          </a:p>
        </p:txBody>
      </p:sp>
      <p:sp>
        <p:nvSpPr>
          <p:cNvPr id="6" name="Text 4"/>
          <p:cNvSpPr/>
          <p:nvPr/>
        </p:nvSpPr>
        <p:spPr>
          <a:xfrm>
            <a:off x="548640" y="749808"/>
            <a:ext cx="8229600" cy="1463040"/>
          </a:xfrm>
          <a:prstGeom prst="rect">
            <a:avLst/>
          </a:prstGeom>
          <a:noFill/>
          <a:ln/>
        </p:spPr>
        <p:txBody>
          <a:bodyPr wrap="square" lIns="0" tIns="0" rIns="0" bIns="0" rtlCol="0" anchor="ctr"/>
          <a:lstStyle/>
          <a:p>
            <a:pPr algn="l" indent="0" marL="0">
              <a:buNone/>
            </a:pPr>
            <a:r>
              <a:rPr lang="en-US" sz="4800" b="1" dirty="0">
                <a:solidFill>
                  <a:srgbClr val="FFFFFF"/>
                </a:solidFill>
              </a:rPr>
              <a:t>The AI Detective</a:t>
            </a:r>
            <a:endParaRPr lang="en-US" sz="4800" dirty="0"/>
          </a:p>
          <a:p>
            <a:pPr algn="l" indent="0" marL="0">
              <a:buNone/>
            </a:pPr>
            <a:r>
              <a:rPr lang="en-US" sz="4800" b="1" dirty="0">
                <a:solidFill>
                  <a:srgbClr val="FFFFFF"/>
                </a:solidFill>
              </a:rPr>
              <a:t>Challenge</a:t>
            </a:r>
            <a:endParaRPr lang="en-US" sz="4800" dirty="0"/>
          </a:p>
        </p:txBody>
      </p:sp>
      <p:sp>
        <p:nvSpPr>
          <p:cNvPr id="7" name="Shape 5"/>
          <p:cNvSpPr/>
          <p:nvPr/>
        </p:nvSpPr>
        <p:spPr>
          <a:xfrm>
            <a:off x="548640" y="2423160"/>
            <a:ext cx="8046720" cy="713232"/>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8" name="Shape 6"/>
          <p:cNvSpPr/>
          <p:nvPr/>
        </p:nvSpPr>
        <p:spPr>
          <a:xfrm>
            <a:off x="548640" y="2423160"/>
            <a:ext cx="91440" cy="713232"/>
          </a:xfrm>
          <a:prstGeom prst="rect">
            <a:avLst/>
          </a:prstGeom>
          <a:solidFill>
            <a:srgbClr val="06D6A0"/>
          </a:solidFill>
          <a:ln w="12700">
            <a:solidFill>
              <a:srgbClr val="06D6A0"/>
            </a:solidFill>
            <a:prstDash val="solid"/>
          </a:ln>
        </p:spPr>
      </p:sp>
      <p:sp>
        <p:nvSpPr>
          <p:cNvPr id="9" name="Shape 7"/>
          <p:cNvSpPr/>
          <p:nvPr/>
        </p:nvSpPr>
        <p:spPr>
          <a:xfrm>
            <a:off x="731520" y="2624328"/>
            <a:ext cx="457200" cy="320040"/>
          </a:xfrm>
          <a:prstGeom prst="roundRect">
            <a:avLst>
              <a:gd name="adj" fmla="val 51429"/>
            </a:avLst>
          </a:prstGeom>
          <a:solidFill>
            <a:srgbClr val="06D6A0"/>
          </a:solidFill>
          <a:ln w="12700">
            <a:solidFill>
              <a:srgbClr val="06D6A0"/>
            </a:solidFill>
            <a:prstDash val="solid"/>
          </a:ln>
        </p:spPr>
      </p:sp>
      <p:sp>
        <p:nvSpPr>
          <p:cNvPr id="10" name="Text 8"/>
          <p:cNvSpPr/>
          <p:nvPr/>
        </p:nvSpPr>
        <p:spPr>
          <a:xfrm>
            <a:off x="731520" y="2624328"/>
            <a:ext cx="457200" cy="320040"/>
          </a:xfrm>
          <a:prstGeom prst="rect">
            <a:avLst/>
          </a:prstGeom>
          <a:noFill/>
          <a:ln/>
        </p:spPr>
        <p:txBody>
          <a:bodyPr wrap="square" lIns="0" tIns="0" rIns="0" bIns="0" rtlCol="0" anchor="ctr"/>
          <a:lstStyle/>
          <a:p>
            <a:pPr algn="ctr" indent="0" marL="0">
              <a:buNone/>
            </a:pPr>
            <a:r>
              <a:rPr lang="en-US" sz="1000" b="1" dirty="0">
                <a:solidFill>
                  <a:srgbClr val="FFFFFF"/>
                </a:solidFill>
              </a:rPr>
              <a:t>01</a:t>
            </a:r>
            <a:endParaRPr lang="en-US" sz="1000" dirty="0"/>
          </a:p>
        </p:txBody>
      </p:sp>
      <p:sp>
        <p:nvSpPr>
          <p:cNvPr id="11" name="Text 9"/>
          <p:cNvSpPr/>
          <p:nvPr/>
        </p:nvSpPr>
        <p:spPr>
          <a:xfrm>
            <a:off x="1325880" y="2468880"/>
            <a:ext cx="3200400" cy="347472"/>
          </a:xfrm>
          <a:prstGeom prst="rect">
            <a:avLst/>
          </a:prstGeom>
          <a:noFill/>
          <a:ln/>
        </p:spPr>
        <p:txBody>
          <a:bodyPr wrap="square" lIns="0" tIns="0" rIns="0" bIns="0" rtlCol="0" anchor="ctr"/>
          <a:lstStyle/>
          <a:p>
            <a:pPr indent="0" marL="0">
              <a:buNone/>
            </a:pPr>
            <a:r>
              <a:rPr lang="en-US" sz="1300" b="1" dirty="0">
                <a:solidFill>
                  <a:srgbClr val="06D6A0"/>
                </a:solidFill>
              </a:rPr>
              <a:t>🔍  AI Sighting Log —</a:t>
            </a:r>
            <a:endParaRPr lang="en-US" sz="1300" dirty="0"/>
          </a:p>
        </p:txBody>
      </p:sp>
      <p:sp>
        <p:nvSpPr>
          <p:cNvPr id="12" name="Text 10"/>
          <p:cNvSpPr/>
          <p:nvPr/>
        </p:nvSpPr>
        <p:spPr>
          <a:xfrm>
            <a:off x="1325880" y="2788920"/>
            <a:ext cx="6858000" cy="320040"/>
          </a:xfrm>
          <a:prstGeom prst="rect">
            <a:avLst/>
          </a:prstGeom>
          <a:noFill/>
          <a:ln/>
        </p:spPr>
        <p:txBody>
          <a:bodyPr wrap="square" lIns="0" tIns="0" rIns="0" bIns="0" rtlCol="0" anchor="ctr"/>
          <a:lstStyle/>
          <a:p>
            <a:pPr indent="0" marL="0">
              <a:buNone/>
            </a:pPr>
            <a:r>
              <a:rPr lang="en-US" sz="1100" dirty="0">
                <a:solidFill>
                  <a:srgbClr val="B0C4F4"/>
                </a:solidFill>
              </a:rPr>
              <a:t>Every day — spot ONE AI thing around you. Write: What was it? Where? What did it do? (10 sightings in 7 days)</a:t>
            </a:r>
            <a:endParaRPr lang="en-US" sz="1100" dirty="0"/>
          </a:p>
        </p:txBody>
      </p:sp>
      <p:sp>
        <p:nvSpPr>
          <p:cNvPr id="13" name="Shape 11"/>
          <p:cNvSpPr/>
          <p:nvPr/>
        </p:nvSpPr>
        <p:spPr>
          <a:xfrm>
            <a:off x="548640" y="3227832"/>
            <a:ext cx="8046720" cy="713232"/>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4" name="Shape 12"/>
          <p:cNvSpPr/>
          <p:nvPr/>
        </p:nvSpPr>
        <p:spPr>
          <a:xfrm>
            <a:off x="548640" y="3227832"/>
            <a:ext cx="91440" cy="713232"/>
          </a:xfrm>
          <a:prstGeom prst="rect">
            <a:avLst/>
          </a:prstGeom>
          <a:solidFill>
            <a:srgbClr val="FF6B35"/>
          </a:solidFill>
          <a:ln w="12700">
            <a:solidFill>
              <a:srgbClr val="FF6B35"/>
            </a:solidFill>
            <a:prstDash val="solid"/>
          </a:ln>
        </p:spPr>
      </p:sp>
      <p:sp>
        <p:nvSpPr>
          <p:cNvPr id="15" name="Shape 13"/>
          <p:cNvSpPr/>
          <p:nvPr/>
        </p:nvSpPr>
        <p:spPr>
          <a:xfrm>
            <a:off x="731520" y="3429000"/>
            <a:ext cx="457200" cy="320040"/>
          </a:xfrm>
          <a:prstGeom prst="roundRect">
            <a:avLst>
              <a:gd name="adj" fmla="val 51429"/>
            </a:avLst>
          </a:prstGeom>
          <a:solidFill>
            <a:srgbClr val="FF6B35"/>
          </a:solidFill>
          <a:ln w="12700">
            <a:solidFill>
              <a:srgbClr val="FF6B35"/>
            </a:solidFill>
            <a:prstDash val="solid"/>
          </a:ln>
        </p:spPr>
      </p:sp>
      <p:sp>
        <p:nvSpPr>
          <p:cNvPr id="16" name="Text 14"/>
          <p:cNvSpPr/>
          <p:nvPr/>
        </p:nvSpPr>
        <p:spPr>
          <a:xfrm>
            <a:off x="731520" y="3429000"/>
            <a:ext cx="457200" cy="320040"/>
          </a:xfrm>
          <a:prstGeom prst="rect">
            <a:avLst/>
          </a:prstGeom>
          <a:noFill/>
          <a:ln/>
        </p:spPr>
        <p:txBody>
          <a:bodyPr wrap="square" lIns="0" tIns="0" rIns="0" bIns="0" rtlCol="0" anchor="ctr"/>
          <a:lstStyle/>
          <a:p>
            <a:pPr algn="ctr" indent="0" marL="0">
              <a:buNone/>
            </a:pPr>
            <a:r>
              <a:rPr lang="en-US" sz="1000" b="1" dirty="0">
                <a:solidFill>
                  <a:srgbClr val="FFFFFF"/>
                </a:solidFill>
              </a:rPr>
              <a:t>02</a:t>
            </a:r>
            <a:endParaRPr lang="en-US" sz="1000" dirty="0"/>
          </a:p>
        </p:txBody>
      </p:sp>
      <p:sp>
        <p:nvSpPr>
          <p:cNvPr id="17" name="Text 15"/>
          <p:cNvSpPr/>
          <p:nvPr/>
        </p:nvSpPr>
        <p:spPr>
          <a:xfrm>
            <a:off x="1325880" y="3273552"/>
            <a:ext cx="3200400" cy="347472"/>
          </a:xfrm>
          <a:prstGeom prst="rect">
            <a:avLst/>
          </a:prstGeom>
          <a:noFill/>
          <a:ln/>
        </p:spPr>
        <p:txBody>
          <a:bodyPr wrap="square" lIns="0" tIns="0" rIns="0" bIns="0" rtlCol="0" anchor="ctr"/>
          <a:lstStyle/>
          <a:p>
            <a:pPr indent="0" marL="0">
              <a:buNone/>
            </a:pPr>
            <a:r>
              <a:rPr lang="en-US" sz="1300" b="1" dirty="0">
                <a:solidFill>
                  <a:srgbClr val="FF6B35"/>
                </a:solidFill>
              </a:rPr>
              <a:t>🤖  Human Algorithm —</a:t>
            </a:r>
            <a:endParaRPr lang="en-US" sz="1300" dirty="0"/>
          </a:p>
        </p:txBody>
      </p:sp>
      <p:sp>
        <p:nvSpPr>
          <p:cNvPr id="18" name="Text 16"/>
          <p:cNvSpPr/>
          <p:nvPr/>
        </p:nvSpPr>
        <p:spPr>
          <a:xfrm>
            <a:off x="1325880" y="3593592"/>
            <a:ext cx="6858000" cy="320040"/>
          </a:xfrm>
          <a:prstGeom prst="rect">
            <a:avLst/>
          </a:prstGeom>
          <a:noFill/>
          <a:ln/>
        </p:spPr>
        <p:txBody>
          <a:bodyPr wrap="square" lIns="0" tIns="0" rIns="0" bIns="0" rtlCol="0" anchor="ctr"/>
          <a:lstStyle/>
          <a:p>
            <a:pPr indent="0" marL="0">
              <a:buNone/>
            </a:pPr>
            <a:r>
              <a:rPr lang="en-US" sz="1100" dirty="0">
                <a:solidFill>
                  <a:srgbClr val="B0C4F4"/>
                </a:solidFill>
              </a:rPr>
              <a:t>Write instructions to make your favourite food — so precise that a robot with NO common sense could follow them.</a:t>
            </a:r>
            <a:endParaRPr lang="en-US" sz="1100" dirty="0"/>
          </a:p>
        </p:txBody>
      </p:sp>
      <p:sp>
        <p:nvSpPr>
          <p:cNvPr id="19" name="Shape 17"/>
          <p:cNvSpPr/>
          <p:nvPr/>
        </p:nvSpPr>
        <p:spPr>
          <a:xfrm>
            <a:off x="548640" y="4032504"/>
            <a:ext cx="8046720" cy="713232"/>
          </a:xfrm>
          <a:prstGeom prst="rect">
            <a:avLst/>
          </a:prstGeom>
          <a:solidFill>
            <a:srgbClr val="1E3070"/>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0" name="Shape 18"/>
          <p:cNvSpPr/>
          <p:nvPr/>
        </p:nvSpPr>
        <p:spPr>
          <a:xfrm>
            <a:off x="548640" y="4032504"/>
            <a:ext cx="91440" cy="713232"/>
          </a:xfrm>
          <a:prstGeom prst="rect">
            <a:avLst/>
          </a:prstGeom>
          <a:solidFill>
            <a:srgbClr val="FFD166"/>
          </a:solidFill>
          <a:ln w="12700">
            <a:solidFill>
              <a:srgbClr val="FFD166"/>
            </a:solidFill>
            <a:prstDash val="solid"/>
          </a:ln>
        </p:spPr>
      </p:sp>
      <p:sp>
        <p:nvSpPr>
          <p:cNvPr id="21" name="Shape 19"/>
          <p:cNvSpPr/>
          <p:nvPr/>
        </p:nvSpPr>
        <p:spPr>
          <a:xfrm>
            <a:off x="731520" y="4233672"/>
            <a:ext cx="457200" cy="320040"/>
          </a:xfrm>
          <a:prstGeom prst="roundRect">
            <a:avLst>
              <a:gd name="adj" fmla="val 51429"/>
            </a:avLst>
          </a:prstGeom>
          <a:solidFill>
            <a:srgbClr val="FFD166"/>
          </a:solidFill>
          <a:ln w="12700">
            <a:solidFill>
              <a:srgbClr val="FFD166"/>
            </a:solidFill>
            <a:prstDash val="solid"/>
          </a:ln>
        </p:spPr>
      </p:sp>
      <p:sp>
        <p:nvSpPr>
          <p:cNvPr id="22" name="Text 20"/>
          <p:cNvSpPr/>
          <p:nvPr/>
        </p:nvSpPr>
        <p:spPr>
          <a:xfrm>
            <a:off x="731520" y="4233672"/>
            <a:ext cx="457200" cy="320040"/>
          </a:xfrm>
          <a:prstGeom prst="rect">
            <a:avLst/>
          </a:prstGeom>
          <a:noFill/>
          <a:ln/>
        </p:spPr>
        <p:txBody>
          <a:bodyPr wrap="square" lIns="0" tIns="0" rIns="0" bIns="0" rtlCol="0" anchor="ctr"/>
          <a:lstStyle/>
          <a:p>
            <a:pPr algn="ctr" indent="0" marL="0">
              <a:buNone/>
            </a:pPr>
            <a:r>
              <a:rPr lang="en-US" sz="1000" b="1" dirty="0">
                <a:solidFill>
                  <a:srgbClr val="FFFFFF"/>
                </a:solidFill>
              </a:rPr>
              <a:t>03</a:t>
            </a:r>
            <a:endParaRPr lang="en-US" sz="1000" dirty="0"/>
          </a:p>
        </p:txBody>
      </p:sp>
      <p:sp>
        <p:nvSpPr>
          <p:cNvPr id="23" name="Text 21"/>
          <p:cNvSpPr/>
          <p:nvPr/>
        </p:nvSpPr>
        <p:spPr>
          <a:xfrm>
            <a:off x="1325880" y="4078224"/>
            <a:ext cx="3200400" cy="347472"/>
          </a:xfrm>
          <a:prstGeom prst="rect">
            <a:avLst/>
          </a:prstGeom>
          <a:noFill/>
          <a:ln/>
        </p:spPr>
        <p:txBody>
          <a:bodyPr wrap="square" lIns="0" tIns="0" rIns="0" bIns="0" rtlCol="0" anchor="ctr"/>
          <a:lstStyle/>
          <a:p>
            <a:pPr indent="0" marL="0">
              <a:buNone/>
            </a:pPr>
            <a:r>
              <a:rPr lang="en-US" sz="1300" b="1" dirty="0">
                <a:solidFill>
                  <a:srgbClr val="FFD166"/>
                </a:solidFill>
              </a:rPr>
              <a:t>✏️  Dream Machine —</a:t>
            </a:r>
            <a:endParaRPr lang="en-US" sz="1300" dirty="0"/>
          </a:p>
        </p:txBody>
      </p:sp>
      <p:sp>
        <p:nvSpPr>
          <p:cNvPr id="24" name="Text 22"/>
          <p:cNvSpPr/>
          <p:nvPr/>
        </p:nvSpPr>
        <p:spPr>
          <a:xfrm>
            <a:off x="1325880" y="4398264"/>
            <a:ext cx="6858000" cy="320040"/>
          </a:xfrm>
          <a:prstGeom prst="rect">
            <a:avLst/>
          </a:prstGeom>
          <a:noFill/>
          <a:ln/>
        </p:spPr>
        <p:txBody>
          <a:bodyPr wrap="square" lIns="0" tIns="0" rIns="0" bIns="0" rtlCol="0" anchor="ctr"/>
          <a:lstStyle/>
          <a:p>
            <a:pPr indent="0" marL="0">
              <a:buNone/>
            </a:pPr>
            <a:r>
              <a:rPr lang="en-US" sz="1100" dirty="0">
                <a:solidFill>
                  <a:srgbClr val="B0C4F4"/>
                </a:solidFill>
              </a:rPr>
              <a:t>Draw (by hand) one AI gadget that solves a real problem in your school, home, or town. Name it. 3 sentences on how it learns.</a:t>
            </a:r>
            <a:endParaRPr lang="en-US" sz="1100" dirty="0"/>
          </a:p>
        </p:txBody>
      </p:sp>
      <p:sp>
        <p:nvSpPr>
          <p:cNvPr id="25" name="Text 23"/>
          <p:cNvSpPr/>
          <p:nvPr/>
        </p:nvSpPr>
        <p:spPr>
          <a:xfrm>
            <a:off x="548640" y="4828032"/>
            <a:ext cx="8046720" cy="320040"/>
          </a:xfrm>
          <a:prstGeom prst="rect">
            <a:avLst/>
          </a:prstGeom>
          <a:noFill/>
          <a:ln/>
        </p:spPr>
        <p:txBody>
          <a:bodyPr wrap="square" lIns="0" tIns="0" rIns="0" bIns="0" rtlCol="0" anchor="ctr"/>
          <a:lstStyle/>
          <a:p>
            <a:pPr algn="ctr" indent="0" marL="0">
              <a:buNone/>
            </a:pPr>
            <a:r>
              <a:rPr lang="en-US" sz="1300" b="1" dirty="0">
                <a:solidFill>
                  <a:srgbClr val="FFD166"/>
                </a:solidFill>
              </a:rPr>
              <a:t>Best Dream Machine gets shared with the whole school! ⭐</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1F5E"/>
          </a:solidFill>
          <a:ln w="12700">
            <a:solidFill>
              <a:srgbClr val="1A1F5E"/>
            </a:solidFill>
            <a:prstDash val="solid"/>
          </a:ln>
        </p:spPr>
      </p:sp>
      <p:sp>
        <p:nvSpPr>
          <p:cNvPr id="3"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2800" b="1" dirty="0">
                <a:solidFill>
                  <a:srgbClr val="1A1F5E"/>
                </a:solidFill>
              </a:rPr>
              <a:t>🔗  All Demo Links — Quick Jump</a:t>
            </a:r>
            <a:endParaRPr lang="en-US" sz="2800" dirty="0"/>
          </a:p>
        </p:txBody>
      </p:sp>
      <p:sp>
        <p:nvSpPr>
          <p:cNvPr id="4" name="Shape 2"/>
          <p:cNvSpPr/>
          <p:nvPr/>
        </p:nvSpPr>
        <p:spPr>
          <a:xfrm>
            <a:off x="457200" y="960120"/>
            <a:ext cx="8229600" cy="713232"/>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5" name="Shape 3"/>
          <p:cNvSpPr/>
          <p:nvPr/>
        </p:nvSpPr>
        <p:spPr>
          <a:xfrm>
            <a:off x="457200" y="960120"/>
            <a:ext cx="91440" cy="713232"/>
          </a:xfrm>
          <a:prstGeom prst="rect">
            <a:avLst/>
          </a:prstGeom>
          <a:solidFill>
            <a:srgbClr val="FF6B35"/>
          </a:solidFill>
          <a:ln w="12700">
            <a:solidFill>
              <a:srgbClr val="FF6B35"/>
            </a:solidFill>
            <a:prstDash val="solid"/>
          </a:ln>
        </p:spPr>
      </p:sp>
      <p:sp>
        <p:nvSpPr>
          <p:cNvPr id="6" name="Shape 4">
            <a:hlinkClick r:id="rId1" tooltip=""/>
          </p:cNvPr>
          <p:cNvSpPr/>
          <p:nvPr/>
        </p:nvSpPr>
        <p:spPr>
          <a:xfrm>
            <a:off x="685800" y="1088136"/>
            <a:ext cx="3474720" cy="457200"/>
          </a:xfrm>
          <a:prstGeom prst="roundRect">
            <a:avLst>
              <a:gd name="adj" fmla="val 20000"/>
            </a:avLst>
          </a:prstGeom>
          <a:solidFill>
            <a:srgbClr val="FF6B35"/>
          </a:solidFill>
          <a:ln w="12700">
            <a:solidFill>
              <a:srgbClr val="FF6B35"/>
            </a:solidFill>
            <a:prstDash val="solid"/>
          </a:ln>
        </p:spPr>
      </p:sp>
      <p:sp>
        <p:nvSpPr>
          <p:cNvPr id="7" name="Text 5">
            <a:hlinkClick r:id="rId2" tooltip=""/>
          </p:cNvPr>
          <p:cNvSpPr/>
          <p:nvPr/>
        </p:nvSpPr>
        <p:spPr>
          <a:xfrm>
            <a:off x="685800" y="1088136"/>
            <a:ext cx="3474720" cy="45720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Bing Image Creator</a:t>
            </a:r>
            <a:endParaRPr lang="en-US" sz="1200" dirty="0"/>
          </a:p>
        </p:txBody>
      </p:sp>
      <p:sp>
        <p:nvSpPr>
          <p:cNvPr id="8" name="Text 6"/>
          <p:cNvSpPr/>
          <p:nvPr/>
        </p:nvSpPr>
        <p:spPr>
          <a:xfrm>
            <a:off x="4389120" y="960120"/>
            <a:ext cx="4114800" cy="713232"/>
          </a:xfrm>
          <a:prstGeom prst="rect">
            <a:avLst/>
          </a:prstGeom>
          <a:noFill/>
          <a:ln/>
        </p:spPr>
        <p:txBody>
          <a:bodyPr wrap="square" lIns="0" tIns="0" rIns="0" bIns="0" rtlCol="0" anchor="ctr"/>
          <a:lstStyle/>
          <a:p>
            <a:pPr indent="0" marL="0">
              <a:buNone/>
            </a:pPr>
            <a:r>
              <a:rPr lang="en-US" sz="1300" dirty="0">
                <a:solidFill>
                  <a:srgbClr val="1A1F5E"/>
                </a:solidFill>
              </a:rPr>
              <a:t>Hook Demo 1  ·  Finale Round 3  (image generation)</a:t>
            </a:r>
            <a:endParaRPr lang="en-US" sz="1300" dirty="0"/>
          </a:p>
        </p:txBody>
      </p:sp>
      <p:sp>
        <p:nvSpPr>
          <p:cNvPr id="9" name="Shape 7"/>
          <p:cNvSpPr/>
          <p:nvPr/>
        </p:nvSpPr>
        <p:spPr>
          <a:xfrm>
            <a:off x="457200" y="1764792"/>
            <a:ext cx="8229600" cy="713232"/>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0" name="Shape 8"/>
          <p:cNvSpPr/>
          <p:nvPr/>
        </p:nvSpPr>
        <p:spPr>
          <a:xfrm>
            <a:off x="457200" y="1764792"/>
            <a:ext cx="91440" cy="713232"/>
          </a:xfrm>
          <a:prstGeom prst="rect">
            <a:avLst/>
          </a:prstGeom>
          <a:solidFill>
            <a:srgbClr val="06D6A0"/>
          </a:solidFill>
          <a:ln w="12700">
            <a:solidFill>
              <a:srgbClr val="06D6A0"/>
            </a:solidFill>
            <a:prstDash val="solid"/>
          </a:ln>
        </p:spPr>
      </p:sp>
      <p:sp>
        <p:nvSpPr>
          <p:cNvPr id="11" name="Shape 9">
            <a:hlinkClick r:id="rId3" tooltip=""/>
          </p:cNvPr>
          <p:cNvSpPr/>
          <p:nvPr/>
        </p:nvSpPr>
        <p:spPr>
          <a:xfrm>
            <a:off x="685800" y="1892808"/>
            <a:ext cx="3474720" cy="457200"/>
          </a:xfrm>
          <a:prstGeom prst="roundRect">
            <a:avLst>
              <a:gd name="adj" fmla="val 20000"/>
            </a:avLst>
          </a:prstGeom>
          <a:solidFill>
            <a:srgbClr val="06D6A0"/>
          </a:solidFill>
          <a:ln w="12700">
            <a:solidFill>
              <a:srgbClr val="06D6A0"/>
            </a:solidFill>
            <a:prstDash val="solid"/>
          </a:ln>
        </p:spPr>
      </p:sp>
      <p:sp>
        <p:nvSpPr>
          <p:cNvPr id="12" name="Text 10">
            <a:hlinkClick r:id="rId4" tooltip=""/>
          </p:cNvPr>
          <p:cNvSpPr/>
          <p:nvPr/>
        </p:nvSpPr>
        <p:spPr>
          <a:xfrm>
            <a:off x="685800" y="1892808"/>
            <a:ext cx="3474720" cy="45720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4" invalidUrl="" action="" tgtFrame="" tooltip="" history="1" highlightClick="0" endSnd="0">
                  <a:extLst>
                    <a:ext uri="{A12FA001-AC4F-418D-AE19-62706E023703}">
                      <ahyp:hlinkClr xmlns:ahyp="http://schemas.microsoft.com/office/drawing/2018/hyperlinkcolor" val="tx"/>
                    </a:ext>
                  </a:extLst>
                </a:hlinkClick>
              </a:rPr>
              <a:t>🔗  ElevenLabs Voice Clone</a:t>
            </a:r>
            <a:endParaRPr lang="en-US" sz="1200" dirty="0"/>
          </a:p>
        </p:txBody>
      </p:sp>
      <p:sp>
        <p:nvSpPr>
          <p:cNvPr id="13" name="Text 11"/>
          <p:cNvSpPr/>
          <p:nvPr/>
        </p:nvSpPr>
        <p:spPr>
          <a:xfrm>
            <a:off x="4389120" y="1764792"/>
            <a:ext cx="4114800" cy="713232"/>
          </a:xfrm>
          <a:prstGeom prst="rect">
            <a:avLst/>
          </a:prstGeom>
          <a:noFill/>
          <a:ln/>
        </p:spPr>
        <p:txBody>
          <a:bodyPr wrap="square" lIns="0" tIns="0" rIns="0" bIns="0" rtlCol="0" anchor="ctr"/>
          <a:lstStyle/>
          <a:p>
            <a:pPr indent="0" marL="0">
              <a:buNone/>
            </a:pPr>
            <a:r>
              <a:rPr lang="en-US" sz="1300" dirty="0">
                <a:solidFill>
                  <a:srgbClr val="1A1F5E"/>
                </a:solidFill>
              </a:rPr>
              <a:t>Hook Demo 2  ·  pre-record voice MP3 before class</a:t>
            </a:r>
            <a:endParaRPr lang="en-US" sz="1300" dirty="0"/>
          </a:p>
        </p:txBody>
      </p:sp>
      <p:sp>
        <p:nvSpPr>
          <p:cNvPr id="14" name="Shape 12"/>
          <p:cNvSpPr/>
          <p:nvPr/>
        </p:nvSpPr>
        <p:spPr>
          <a:xfrm>
            <a:off x="457200" y="2569464"/>
            <a:ext cx="8229600" cy="713232"/>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15" name="Shape 13"/>
          <p:cNvSpPr/>
          <p:nvPr/>
        </p:nvSpPr>
        <p:spPr>
          <a:xfrm>
            <a:off x="457200" y="2569464"/>
            <a:ext cx="91440" cy="713232"/>
          </a:xfrm>
          <a:prstGeom prst="rect">
            <a:avLst/>
          </a:prstGeom>
          <a:solidFill>
            <a:srgbClr val="2D3A8C"/>
          </a:solidFill>
          <a:ln w="12700">
            <a:solidFill>
              <a:srgbClr val="2D3A8C"/>
            </a:solidFill>
            <a:prstDash val="solid"/>
          </a:ln>
        </p:spPr>
      </p:sp>
      <p:sp>
        <p:nvSpPr>
          <p:cNvPr id="16" name="Shape 14">
            <a:hlinkClick r:id="rId5" tooltip=""/>
          </p:cNvPr>
          <p:cNvSpPr/>
          <p:nvPr/>
        </p:nvSpPr>
        <p:spPr>
          <a:xfrm>
            <a:off x="685800" y="2697480"/>
            <a:ext cx="3474720" cy="457200"/>
          </a:xfrm>
          <a:prstGeom prst="roundRect">
            <a:avLst>
              <a:gd name="adj" fmla="val 20000"/>
            </a:avLst>
          </a:prstGeom>
          <a:solidFill>
            <a:srgbClr val="2D3A8C"/>
          </a:solidFill>
          <a:ln w="12700">
            <a:solidFill>
              <a:srgbClr val="2D3A8C"/>
            </a:solidFill>
            <a:prstDash val="solid"/>
          </a:ln>
        </p:spPr>
      </p:sp>
      <p:sp>
        <p:nvSpPr>
          <p:cNvPr id="17" name="Text 15">
            <a:hlinkClick r:id="rId6" tooltip=""/>
          </p:cNvPr>
          <p:cNvSpPr/>
          <p:nvPr/>
        </p:nvSpPr>
        <p:spPr>
          <a:xfrm>
            <a:off x="685800" y="2697480"/>
            <a:ext cx="3474720" cy="45720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6" invalidUrl="" action="" tgtFrame="" tooltip="" history="1" highlightClick="0" endSnd="0">
                  <a:extLst>
                    <a:ext uri="{A12FA001-AC4F-418D-AE19-62706E023703}">
                      <ahyp:hlinkClr xmlns:ahyp="http://schemas.microsoft.com/office/drawing/2018/hyperlinkcolor" val="tx"/>
                    </a:ext>
                  </a:extLst>
                </a:hlinkClick>
              </a:rPr>
              <a:t>🔗  Google Teachable Machine</a:t>
            </a:r>
            <a:endParaRPr lang="en-US" sz="1200" dirty="0"/>
          </a:p>
        </p:txBody>
      </p:sp>
      <p:sp>
        <p:nvSpPr>
          <p:cNvPr id="18" name="Text 16"/>
          <p:cNvSpPr/>
          <p:nvPr/>
        </p:nvSpPr>
        <p:spPr>
          <a:xfrm>
            <a:off x="4389120" y="2569464"/>
            <a:ext cx="4114800" cy="713232"/>
          </a:xfrm>
          <a:prstGeom prst="rect">
            <a:avLst/>
          </a:prstGeom>
          <a:noFill/>
          <a:ln/>
        </p:spPr>
        <p:txBody>
          <a:bodyPr wrap="square" lIns="0" tIns="0" rIns="0" bIns="0" rtlCol="0" anchor="ctr"/>
          <a:lstStyle/>
          <a:p>
            <a:pPr indent="0" marL="0">
              <a:buNone/>
            </a:pPr>
            <a:r>
              <a:rPr lang="en-US" sz="1300" dirty="0">
                <a:solidFill>
                  <a:srgbClr val="1A1F5E"/>
                </a:solidFill>
              </a:rPr>
              <a:t>Module 1  ·  Live gesture classifier in 30 seconds</a:t>
            </a:r>
            <a:endParaRPr lang="en-US" sz="1300" dirty="0"/>
          </a:p>
        </p:txBody>
      </p:sp>
      <p:sp>
        <p:nvSpPr>
          <p:cNvPr id="19" name="Shape 17"/>
          <p:cNvSpPr/>
          <p:nvPr/>
        </p:nvSpPr>
        <p:spPr>
          <a:xfrm>
            <a:off x="457200" y="3374136"/>
            <a:ext cx="8229600" cy="713232"/>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0" name="Shape 18"/>
          <p:cNvSpPr/>
          <p:nvPr/>
        </p:nvSpPr>
        <p:spPr>
          <a:xfrm>
            <a:off x="457200" y="3374136"/>
            <a:ext cx="91440" cy="713232"/>
          </a:xfrm>
          <a:prstGeom prst="rect">
            <a:avLst/>
          </a:prstGeom>
          <a:solidFill>
            <a:srgbClr val="7B2FBE"/>
          </a:solidFill>
          <a:ln w="12700">
            <a:solidFill>
              <a:srgbClr val="7B2FBE"/>
            </a:solidFill>
            <a:prstDash val="solid"/>
          </a:ln>
        </p:spPr>
      </p:sp>
      <p:sp>
        <p:nvSpPr>
          <p:cNvPr id="21" name="Shape 19">
            <a:hlinkClick r:id="rId7" tooltip=""/>
          </p:cNvPr>
          <p:cNvSpPr/>
          <p:nvPr/>
        </p:nvSpPr>
        <p:spPr>
          <a:xfrm>
            <a:off x="685800" y="3502152"/>
            <a:ext cx="3474720" cy="457200"/>
          </a:xfrm>
          <a:prstGeom prst="roundRect">
            <a:avLst>
              <a:gd name="adj" fmla="val 20000"/>
            </a:avLst>
          </a:prstGeom>
          <a:solidFill>
            <a:srgbClr val="7B2FBE"/>
          </a:solidFill>
          <a:ln w="12700">
            <a:solidFill>
              <a:srgbClr val="7B2FBE"/>
            </a:solidFill>
            <a:prstDash val="solid"/>
          </a:ln>
        </p:spPr>
      </p:sp>
      <p:sp>
        <p:nvSpPr>
          <p:cNvPr id="22" name="Text 20">
            <a:hlinkClick r:id="rId8" tooltip=""/>
          </p:cNvPr>
          <p:cNvSpPr/>
          <p:nvPr/>
        </p:nvSpPr>
        <p:spPr>
          <a:xfrm>
            <a:off x="685800" y="3502152"/>
            <a:ext cx="3474720" cy="45720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8" invalidUrl="" action="" tgtFrame="" tooltip="" history="1" highlightClick="0" endSnd="0">
                  <a:extLst>
                    <a:ext uri="{A12FA001-AC4F-418D-AE19-62706E023703}">
                      <ahyp:hlinkClr xmlns:ahyp="http://schemas.microsoft.com/office/drawing/2018/hyperlinkcolor" val="tx"/>
                    </a:ext>
                  </a:extLst>
                </a:hlinkClick>
              </a:rPr>
              <a:t>🔗  Google Quick, Draw!</a:t>
            </a:r>
            <a:endParaRPr lang="en-US" sz="1200" dirty="0"/>
          </a:p>
        </p:txBody>
      </p:sp>
      <p:sp>
        <p:nvSpPr>
          <p:cNvPr id="23" name="Text 21"/>
          <p:cNvSpPr/>
          <p:nvPr/>
        </p:nvSpPr>
        <p:spPr>
          <a:xfrm>
            <a:off x="4389120" y="3374136"/>
            <a:ext cx="4114800" cy="713232"/>
          </a:xfrm>
          <a:prstGeom prst="rect">
            <a:avLst/>
          </a:prstGeom>
          <a:noFill/>
          <a:ln/>
        </p:spPr>
        <p:txBody>
          <a:bodyPr wrap="square" lIns="0" tIns="0" rIns="0" bIns="0" rtlCol="0" anchor="ctr"/>
          <a:lstStyle/>
          <a:p>
            <a:pPr indent="0" marL="0">
              <a:buNone/>
            </a:pPr>
            <a:r>
              <a:rPr lang="en-US" sz="1300" dirty="0">
                <a:solidFill>
                  <a:srgbClr val="1A1F5E"/>
                </a:solidFill>
              </a:rPr>
              <a:t>Module 1 Bonus  ·  AI guesses your drawings live</a:t>
            </a:r>
            <a:endParaRPr lang="en-US" sz="1300" dirty="0"/>
          </a:p>
        </p:txBody>
      </p:sp>
      <p:sp>
        <p:nvSpPr>
          <p:cNvPr id="24" name="Shape 22"/>
          <p:cNvSpPr/>
          <p:nvPr/>
        </p:nvSpPr>
        <p:spPr>
          <a:xfrm>
            <a:off x="457200" y="4178808"/>
            <a:ext cx="8229600" cy="713232"/>
          </a:xfrm>
          <a:prstGeom prst="rect">
            <a:avLst/>
          </a:prstGeom>
          <a:solidFill>
            <a:srgbClr val="FFFFFF"/>
          </a:solidFill>
          <a:ln w="12700">
            <a:solidFill>
              <a:srgbClr val="E2E8FF"/>
            </a:solidFill>
            <a:prstDash val="solid"/>
          </a:ln>
          <a:effectLst>
            <a:outerShdw sx="100000" sy="100000" kx="0" ky="0" algn="bl" rotWithShape="0" blurRad="127000" dist="50800" dir="8100000">
              <a:srgbClr val="000000">
                <a:alpha val="14000"/>
              </a:srgbClr>
            </a:outerShdw>
          </a:effectLst>
        </p:spPr>
      </p:sp>
      <p:sp>
        <p:nvSpPr>
          <p:cNvPr id="25" name="Shape 23"/>
          <p:cNvSpPr/>
          <p:nvPr/>
        </p:nvSpPr>
        <p:spPr>
          <a:xfrm>
            <a:off x="457200" y="4178808"/>
            <a:ext cx="91440" cy="713232"/>
          </a:xfrm>
          <a:prstGeom prst="rect">
            <a:avLst/>
          </a:prstGeom>
          <a:solidFill>
            <a:srgbClr val="EF4444"/>
          </a:solidFill>
          <a:ln w="12700">
            <a:solidFill>
              <a:srgbClr val="EF4444"/>
            </a:solidFill>
            <a:prstDash val="solid"/>
          </a:ln>
        </p:spPr>
      </p:sp>
      <p:sp>
        <p:nvSpPr>
          <p:cNvPr id="26" name="Shape 24">
            <a:hlinkClick r:id="rId9" tooltip=""/>
          </p:cNvPr>
          <p:cNvSpPr/>
          <p:nvPr/>
        </p:nvSpPr>
        <p:spPr>
          <a:xfrm>
            <a:off x="685800" y="4306824"/>
            <a:ext cx="3474720" cy="457200"/>
          </a:xfrm>
          <a:prstGeom prst="roundRect">
            <a:avLst>
              <a:gd name="adj" fmla="val 20000"/>
            </a:avLst>
          </a:prstGeom>
          <a:solidFill>
            <a:srgbClr val="EF4444"/>
          </a:solidFill>
          <a:ln w="12700">
            <a:solidFill>
              <a:srgbClr val="EF4444"/>
            </a:solidFill>
            <a:prstDash val="solid"/>
          </a:ln>
        </p:spPr>
      </p:sp>
      <p:sp>
        <p:nvSpPr>
          <p:cNvPr id="27" name="Text 25">
            <a:hlinkClick r:id="rId10" tooltip=""/>
          </p:cNvPr>
          <p:cNvSpPr/>
          <p:nvPr/>
        </p:nvSpPr>
        <p:spPr>
          <a:xfrm>
            <a:off x="685800" y="4306824"/>
            <a:ext cx="3474720" cy="45720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0" invalidUrl="" action="" tgtFrame="" tooltip="" history="1" highlightClick="0" endSnd="0">
                  <a:extLst>
                    <a:ext uri="{A12FA001-AC4F-418D-AE19-62706E023703}">
                      <ahyp:hlinkClr xmlns:ahyp="http://schemas.microsoft.com/office/drawing/2018/hyperlinkcolor" val="tx"/>
                    </a:ext>
                  </a:extLst>
                </a:hlinkClick>
              </a:rPr>
              <a:t>🔗  Claude.ai</a:t>
            </a:r>
            <a:endParaRPr lang="en-US" sz="1200" dirty="0"/>
          </a:p>
        </p:txBody>
      </p:sp>
      <p:sp>
        <p:nvSpPr>
          <p:cNvPr id="28" name="Text 26"/>
          <p:cNvSpPr/>
          <p:nvPr/>
        </p:nvSpPr>
        <p:spPr>
          <a:xfrm>
            <a:off x="4389120" y="4178808"/>
            <a:ext cx="4114800" cy="713232"/>
          </a:xfrm>
          <a:prstGeom prst="rect">
            <a:avLst/>
          </a:prstGeom>
          <a:noFill/>
          <a:ln/>
        </p:spPr>
        <p:txBody>
          <a:bodyPr wrap="square" lIns="0" tIns="0" rIns="0" bIns="0" rtlCol="0" anchor="ctr"/>
          <a:lstStyle/>
          <a:p>
            <a:pPr indent="0" marL="0">
              <a:buNone/>
            </a:pPr>
            <a:r>
              <a:rPr lang="en-US" sz="1300" dirty="0">
                <a:solidFill>
                  <a:srgbClr val="1A1F5E"/>
                </a:solidFill>
              </a:rPr>
              <a:t>Finale Rounds 1 &amp; 2  ·  Dream School text prompt</a:t>
            </a:r>
            <a:endParaRPr lang="en-US" sz="1300" dirty="0"/>
          </a:p>
        </p:txBody>
      </p:sp>
      <p:sp>
        <p:nvSpPr>
          <p:cNvPr id="29" name="Text 27"/>
          <p:cNvSpPr/>
          <p:nvPr/>
        </p:nvSpPr>
        <p:spPr>
          <a:xfrm>
            <a:off x="457200" y="4956048"/>
            <a:ext cx="8229600" cy="347472"/>
          </a:xfrm>
          <a:prstGeom prst="rect">
            <a:avLst/>
          </a:prstGeom>
          <a:noFill/>
          <a:ln/>
        </p:spPr>
        <p:txBody>
          <a:bodyPr wrap="square" lIns="0" tIns="0" rIns="0" bIns="0" rtlCol="0" anchor="ctr"/>
          <a:lstStyle/>
          <a:p>
            <a:pPr algn="ctr" indent="0" marL="0">
              <a:buNone/>
            </a:pPr>
            <a:r>
              <a:rPr lang="en-US" sz="1100" i="1" dirty="0">
                <a:solidFill>
                  <a:srgbClr val="94A3B8"/>
                </a:solidFill>
              </a:rPr>
              <a:t>All links open in browser from presentation mode. Pre-login to each before class starts.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Your New Superpower</dc:title>
  <dc:subject>PptxGenJS Presentation</dc:subject>
  <dc:creator>PptxGenJS</dc:creator>
  <cp:lastModifiedBy>PptxGenJS</cp:lastModifiedBy>
  <cp:revision>1</cp:revision>
  <dcterms:created xsi:type="dcterms:W3CDTF">2026-04-12T08:41:25Z</dcterms:created>
  <dcterms:modified xsi:type="dcterms:W3CDTF">2026-04-12T08:41:25Z</dcterms:modified>
</cp:coreProperties>
</file>